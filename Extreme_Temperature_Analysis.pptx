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4"/>
  </p:notesMasterIdLst>
  <p:sldIdLst>
    <p:sldId id="256" r:id="rId5"/>
    <p:sldId id="257" r:id="rId6"/>
    <p:sldId id="258" r:id="rId7"/>
    <p:sldId id="259" r:id="rId8"/>
    <p:sldId id="260" r:id="rId9"/>
    <p:sldId id="261" r:id="rId10"/>
    <p:sldId id="272" r:id="rId11"/>
    <p:sldId id="262" r:id="rId12"/>
    <p:sldId id="263" r:id="rId13"/>
    <p:sldId id="265" r:id="rId14"/>
    <p:sldId id="264" r:id="rId15"/>
    <p:sldId id="266" r:id="rId16"/>
    <p:sldId id="267" r:id="rId17"/>
    <p:sldId id="274" r:id="rId18"/>
    <p:sldId id="268" r:id="rId19"/>
    <p:sldId id="269" r:id="rId20"/>
    <p:sldId id="270" r:id="rId21"/>
    <p:sldId id="271" r:id="rId22"/>
    <p:sldId id="273" r:id="rId23"/>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33E012-D778-4E82-8C1A-4F2D7CF453D1}" v="507" dt="2026-10-19T08:52:16.390"/>
    <p1510:client id="{E79AE6C4-2ACA-44F4-94C7-C81FBAD768CE}" v="1242" dt="2026-10-19T09:00:36.7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284"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idiebere Nnadiegbulam" userId="7a99a6c1-c8da-441a-9389-8007676fbed1" providerId="ADAL" clId="{8EAC27E3-300B-4FD6-B57A-EA8DFED95A69}"/>
    <pc:docChg chg="modSld sldOrd">
      <pc:chgData name="Chidiebere Nnadiegbulam" userId="7a99a6c1-c8da-441a-9389-8007676fbed1" providerId="ADAL" clId="{8EAC27E3-300B-4FD6-B57A-EA8DFED95A69}" dt="2026-10-19T08:42:12.678" v="129"/>
      <pc:docMkLst>
        <pc:docMk/>
      </pc:docMkLst>
      <pc:sldChg chg="addSp modSp">
        <pc:chgData name="Chidiebere Nnadiegbulam" userId="7a99a6c1-c8da-441a-9389-8007676fbed1" providerId="ADAL" clId="{8EAC27E3-300B-4FD6-B57A-EA8DFED95A69}" dt="2026-10-19T06:29:18.020" v="98" actId="14430"/>
        <pc:sldMkLst>
          <pc:docMk/>
          <pc:sldMk cId="3249152679" sldId="256"/>
        </pc:sldMkLst>
        <pc:spChg chg="mod">
          <ac:chgData name="Chidiebere Nnadiegbulam" userId="7a99a6c1-c8da-441a-9389-8007676fbed1" providerId="ADAL" clId="{8EAC27E3-300B-4FD6-B57A-EA8DFED95A69}" dt="2026-10-19T06:29:16.763" v="97" actId="14429"/>
          <ac:spMkLst>
            <pc:docMk/>
            <pc:sldMk cId="3249152679" sldId="256"/>
            <ac:spMk id="3" creationId="{1B02C02E-912D-64DC-FCCC-127A2392D850}"/>
          </ac:spMkLst>
        </pc:spChg>
        <pc:picChg chg="add">
          <ac:chgData name="Chidiebere Nnadiegbulam" userId="7a99a6c1-c8da-441a-9389-8007676fbed1" providerId="ADAL" clId="{8EAC27E3-300B-4FD6-B57A-EA8DFED95A69}" dt="2026-10-19T06:28:25.850" v="95"/>
          <ac:picMkLst>
            <pc:docMk/>
            <pc:sldMk cId="3249152679" sldId="256"/>
            <ac:picMk id="4" creationId="{7D9E6A7F-9CC3-9FFC-EA42-2780D1F641F2}"/>
          </ac:picMkLst>
        </pc:picChg>
        <pc:cxnChg chg="mod">
          <ac:chgData name="Chidiebere Nnadiegbulam" userId="7a99a6c1-c8da-441a-9389-8007676fbed1" providerId="ADAL" clId="{8EAC27E3-300B-4FD6-B57A-EA8DFED95A69}" dt="2026-10-19T06:29:18.020" v="98" actId="14430"/>
          <ac:cxnSpMkLst>
            <pc:docMk/>
            <pc:sldMk cId="3249152679" sldId="256"/>
            <ac:cxnSpMk id="11" creationId="{522632D6-DED9-FDEC-FD9F-09FF0A4544CC}"/>
          </ac:cxnSpMkLst>
        </pc:cxnChg>
      </pc:sldChg>
      <pc:sldChg chg="addSp modSp">
        <pc:chgData name="Chidiebere Nnadiegbulam" userId="7a99a6c1-c8da-441a-9389-8007676fbed1" providerId="ADAL" clId="{8EAC27E3-300B-4FD6-B57A-EA8DFED95A69}" dt="2026-10-19T06:25:51.951" v="94" actId="164"/>
        <pc:sldMkLst>
          <pc:docMk/>
          <pc:sldMk cId="4008672947" sldId="257"/>
        </pc:sldMkLst>
        <pc:grpChg chg="add mod">
          <ac:chgData name="Chidiebere Nnadiegbulam" userId="7a99a6c1-c8da-441a-9389-8007676fbed1" providerId="ADAL" clId="{8EAC27E3-300B-4FD6-B57A-EA8DFED95A69}" dt="2026-10-19T06:25:51.951" v="94" actId="164"/>
          <ac:grpSpMkLst>
            <pc:docMk/>
            <pc:sldMk cId="4008672947" sldId="257"/>
            <ac:grpSpMk id="8" creationId="{4A7F9F61-4AFC-124D-592D-4DD3A27A4FA7}"/>
          </ac:grpSpMkLst>
        </pc:grpChg>
        <pc:picChg chg="add mod">
          <ac:chgData name="Chidiebere Nnadiegbulam" userId="7a99a6c1-c8da-441a-9389-8007676fbed1" providerId="ADAL" clId="{8EAC27E3-300B-4FD6-B57A-EA8DFED95A69}" dt="2026-10-19T06:25:51.951" v="94" actId="164"/>
          <ac:picMkLst>
            <pc:docMk/>
            <pc:sldMk cId="4008672947" sldId="257"/>
            <ac:picMk id="5" creationId="{D54FFFA2-2CC5-3AA3-7E02-BD400969F068}"/>
          </ac:picMkLst>
        </pc:picChg>
        <pc:picChg chg="add mod">
          <ac:chgData name="Chidiebere Nnadiegbulam" userId="7a99a6c1-c8da-441a-9389-8007676fbed1" providerId="ADAL" clId="{8EAC27E3-300B-4FD6-B57A-EA8DFED95A69}" dt="2026-10-19T06:25:51.951" v="94" actId="164"/>
          <ac:picMkLst>
            <pc:docMk/>
            <pc:sldMk cId="4008672947" sldId="257"/>
            <ac:picMk id="7" creationId="{F31807C8-9C90-E8A7-E77B-9856D37D2CBB}"/>
          </ac:picMkLst>
        </pc:picChg>
      </pc:sldChg>
      <pc:sldChg chg="modSp">
        <pc:chgData name="Chidiebere Nnadiegbulam" userId="7a99a6c1-c8da-441a-9389-8007676fbed1" providerId="ADAL" clId="{8EAC27E3-300B-4FD6-B57A-EA8DFED95A69}" dt="2026-10-19T06:43:29.477" v="99"/>
        <pc:sldMkLst>
          <pc:docMk/>
          <pc:sldMk cId="3467524763" sldId="259"/>
        </pc:sldMkLst>
      </pc:sldChg>
      <pc:sldChg chg="addSp delSp modSp">
        <pc:chgData name="Chidiebere Nnadiegbulam" userId="7a99a6c1-c8da-441a-9389-8007676fbed1" providerId="ADAL" clId="{8EAC27E3-300B-4FD6-B57A-EA8DFED95A69}" dt="2026-10-19T06:46:39.933" v="103"/>
        <pc:sldMkLst>
          <pc:docMk/>
          <pc:sldMk cId="2653743400" sldId="260"/>
        </pc:sldMkLst>
        <pc:spChg chg="add del mod">
          <ac:chgData name="Chidiebere Nnadiegbulam" userId="7a99a6c1-c8da-441a-9389-8007676fbed1" providerId="ADAL" clId="{8EAC27E3-300B-4FD6-B57A-EA8DFED95A69}" dt="2026-10-19T06:46:36.876" v="101"/>
          <ac:spMkLst>
            <pc:docMk/>
            <pc:sldMk cId="2653743400" sldId="260"/>
            <ac:spMk id="11" creationId="{AA0B56D1-F7C1-55FB-1C5C-EFE7DA09B253}"/>
          </ac:spMkLst>
        </pc:spChg>
        <pc:spChg chg="add mod">
          <ac:chgData name="Chidiebere Nnadiegbulam" userId="7a99a6c1-c8da-441a-9389-8007676fbed1" providerId="ADAL" clId="{8EAC27E3-300B-4FD6-B57A-EA8DFED95A69}" dt="2026-10-19T06:46:39.933" v="103"/>
          <ac:spMkLst>
            <pc:docMk/>
            <pc:sldMk cId="2653743400" sldId="260"/>
            <ac:spMk id="12" creationId="{1D49DF80-F4A3-5B49-F4AA-99CD0852CBEE}"/>
          </ac:spMkLst>
        </pc:spChg>
      </pc:sldChg>
      <pc:sldChg chg="addSp delSp modSp">
        <pc:chgData name="Chidiebere Nnadiegbulam" userId="7a99a6c1-c8da-441a-9389-8007676fbed1" providerId="ADAL" clId="{8EAC27E3-300B-4FD6-B57A-EA8DFED95A69}" dt="2026-10-19T08:42:12.678" v="129"/>
        <pc:sldMkLst>
          <pc:docMk/>
          <pc:sldMk cId="3175973316" sldId="261"/>
        </pc:sldMkLst>
        <pc:spChg chg="add del mod">
          <ac:chgData name="Chidiebere Nnadiegbulam" userId="7a99a6c1-c8da-441a-9389-8007676fbed1" providerId="ADAL" clId="{8EAC27E3-300B-4FD6-B57A-EA8DFED95A69}" dt="2026-10-19T08:42:12.678" v="129"/>
          <ac:spMkLst>
            <pc:docMk/>
            <pc:sldMk cId="3175973316" sldId="261"/>
            <ac:spMk id="7" creationId="{6B195920-05EF-76B9-8CF8-5D76B78BFB2C}"/>
          </ac:spMkLst>
        </pc:spChg>
      </pc:sldChg>
      <pc:sldChg chg="modSp">
        <pc:chgData name="Chidiebere Nnadiegbulam" userId="7a99a6c1-c8da-441a-9389-8007676fbed1" providerId="ADAL" clId="{8EAC27E3-300B-4FD6-B57A-EA8DFED95A69}" dt="2026-10-18T23:37:02.697" v="43"/>
        <pc:sldMkLst>
          <pc:docMk/>
          <pc:sldMk cId="2878672272" sldId="262"/>
        </pc:sldMkLst>
        <pc:spChg chg="mod">
          <ac:chgData name="Chidiebere Nnadiegbulam" userId="7a99a6c1-c8da-441a-9389-8007676fbed1" providerId="ADAL" clId="{8EAC27E3-300B-4FD6-B57A-EA8DFED95A69}" dt="2026-10-18T23:37:02.697" v="43"/>
          <ac:spMkLst>
            <pc:docMk/>
            <pc:sldMk cId="2878672272" sldId="262"/>
            <ac:spMk id="8" creationId="{BE62F183-FD5F-E710-A6CB-44828AA0914B}"/>
          </ac:spMkLst>
        </pc:spChg>
        <pc:graphicFrameChg chg="mod">
          <ac:chgData name="Chidiebere Nnadiegbulam" userId="7a99a6c1-c8da-441a-9389-8007676fbed1" providerId="ADAL" clId="{8EAC27E3-300B-4FD6-B57A-EA8DFED95A69}" dt="2026-10-18T23:34:35.641" v="37"/>
          <ac:graphicFrameMkLst>
            <pc:docMk/>
            <pc:sldMk cId="2878672272" sldId="262"/>
            <ac:graphicFrameMk id="7" creationId="{08E34CEB-73F9-4CC1-9293-9542729BABAC}"/>
          </ac:graphicFrameMkLst>
        </pc:graphicFrameChg>
      </pc:sldChg>
      <pc:sldChg chg="modSp">
        <pc:chgData name="Chidiebere Nnadiegbulam" userId="7a99a6c1-c8da-441a-9389-8007676fbed1" providerId="ADAL" clId="{8EAC27E3-300B-4FD6-B57A-EA8DFED95A69}" dt="2026-10-18T22:45:54.298" v="9"/>
        <pc:sldMkLst>
          <pc:docMk/>
          <pc:sldMk cId="995134135" sldId="263"/>
        </pc:sldMkLst>
        <pc:spChg chg="mod">
          <ac:chgData name="Chidiebere Nnadiegbulam" userId="7a99a6c1-c8da-441a-9389-8007676fbed1" providerId="ADAL" clId="{8EAC27E3-300B-4FD6-B57A-EA8DFED95A69}" dt="2026-10-18T22:45:44.731" v="7"/>
          <ac:spMkLst>
            <pc:docMk/>
            <pc:sldMk cId="995134135" sldId="263"/>
            <ac:spMk id="6" creationId="{4732D29F-06B6-4FFB-CCA9-EFD82F69D1AD}"/>
          </ac:spMkLst>
        </pc:spChg>
        <pc:graphicFrameChg chg="mod">
          <ac:chgData name="Chidiebere Nnadiegbulam" userId="7a99a6c1-c8da-441a-9389-8007676fbed1" providerId="ADAL" clId="{8EAC27E3-300B-4FD6-B57A-EA8DFED95A69}" dt="2026-10-18T22:45:54.298" v="9"/>
          <ac:graphicFrameMkLst>
            <pc:docMk/>
            <pc:sldMk cId="995134135" sldId="263"/>
            <ac:graphicFrameMk id="8" creationId="{25E96EC6-EA41-88CE-0D9D-6C336D67EE97}"/>
          </ac:graphicFrameMkLst>
        </pc:graphicFrameChg>
      </pc:sldChg>
      <pc:sldChg chg="addSp modSp ord">
        <pc:chgData name="Chidiebere Nnadiegbulam" userId="7a99a6c1-c8da-441a-9389-8007676fbed1" providerId="ADAL" clId="{8EAC27E3-300B-4FD6-B57A-EA8DFED95A69}" dt="2026-10-18T23:25:30.524" v="30"/>
        <pc:sldMkLst>
          <pc:docMk/>
          <pc:sldMk cId="3817731362" sldId="264"/>
        </pc:sldMkLst>
        <pc:spChg chg="add mod">
          <ac:chgData name="Chidiebere Nnadiegbulam" userId="7a99a6c1-c8da-441a-9389-8007676fbed1" providerId="ADAL" clId="{8EAC27E3-300B-4FD6-B57A-EA8DFED95A69}" dt="2026-10-18T23:07:36.943" v="11"/>
          <ac:spMkLst>
            <pc:docMk/>
            <pc:sldMk cId="3817731362" sldId="264"/>
            <ac:spMk id="2" creationId="{A49C4206-D686-CF86-265D-1BB74206D7CF}"/>
          </ac:spMkLst>
        </pc:spChg>
        <pc:spChg chg="mod">
          <ac:chgData name="Chidiebere Nnadiegbulam" userId="7a99a6c1-c8da-441a-9389-8007676fbed1" providerId="ADAL" clId="{8EAC27E3-300B-4FD6-B57A-EA8DFED95A69}" dt="2026-10-18T23:21:01.438" v="15"/>
          <ac:spMkLst>
            <pc:docMk/>
            <pc:sldMk cId="3817731362" sldId="264"/>
            <ac:spMk id="4" creationId="{FD848752-58A8-2BA8-6575-4947F581ADB6}"/>
          </ac:spMkLst>
        </pc:spChg>
        <pc:spChg chg="mod">
          <ac:chgData name="Chidiebere Nnadiegbulam" userId="7a99a6c1-c8da-441a-9389-8007676fbed1" providerId="ADAL" clId="{8EAC27E3-300B-4FD6-B57A-EA8DFED95A69}" dt="2026-10-18T23:25:06.337" v="26"/>
          <ac:spMkLst>
            <pc:docMk/>
            <pc:sldMk cId="3817731362" sldId="264"/>
            <ac:spMk id="15" creationId="{A1D92454-FC10-83DB-2E77-4EA9DB3F2232}"/>
          </ac:spMkLst>
        </pc:spChg>
        <pc:graphicFrameChg chg="mod">
          <ac:chgData name="Chidiebere Nnadiegbulam" userId="7a99a6c1-c8da-441a-9389-8007676fbed1" providerId="ADAL" clId="{8EAC27E3-300B-4FD6-B57A-EA8DFED95A69}" dt="2026-10-18T23:25:30.524" v="30"/>
          <ac:graphicFrameMkLst>
            <pc:docMk/>
            <pc:sldMk cId="3817731362" sldId="264"/>
            <ac:graphicFrameMk id="11" creationId="{4E383817-BC9E-D99D-7F2D-72A97F584555}"/>
          </ac:graphicFrameMkLst>
        </pc:graphicFrameChg>
      </pc:sldChg>
      <pc:sldChg chg="addSp modSp ord">
        <pc:chgData name="Chidiebere Nnadiegbulam" userId="7a99a6c1-c8da-441a-9389-8007676fbed1" providerId="ADAL" clId="{8EAC27E3-300B-4FD6-B57A-EA8DFED95A69}" dt="2026-10-19T07:25:45.744" v="116"/>
        <pc:sldMkLst>
          <pc:docMk/>
          <pc:sldMk cId="3479544102" sldId="265"/>
        </pc:sldMkLst>
        <pc:spChg chg="mod">
          <ac:chgData name="Chidiebere Nnadiegbulam" userId="7a99a6c1-c8da-441a-9389-8007676fbed1" providerId="ADAL" clId="{8EAC27E3-300B-4FD6-B57A-EA8DFED95A69}" dt="2026-10-18T23:12:08.919" v="12"/>
          <ac:spMkLst>
            <pc:docMk/>
            <pc:sldMk cId="3479544102" sldId="265"/>
            <ac:spMk id="4" creationId="{2C298669-8786-3BD8-8DCE-9ABA77EEA2B0}"/>
          </ac:spMkLst>
        </pc:spChg>
        <pc:spChg chg="mod">
          <ac:chgData name="Chidiebere Nnadiegbulam" userId="7a99a6c1-c8da-441a-9389-8007676fbed1" providerId="ADAL" clId="{8EAC27E3-300B-4FD6-B57A-EA8DFED95A69}" dt="2026-10-19T07:23:45.915" v="110"/>
          <ac:spMkLst>
            <pc:docMk/>
            <pc:sldMk cId="3479544102" sldId="265"/>
            <ac:spMk id="8" creationId="{142690A0-9EAB-0163-F828-1384947B9F6A}"/>
          </ac:spMkLst>
        </pc:spChg>
        <pc:spChg chg="add mod">
          <ac:chgData name="Chidiebere Nnadiegbulam" userId="7a99a6c1-c8da-441a-9389-8007676fbed1" providerId="ADAL" clId="{8EAC27E3-300B-4FD6-B57A-EA8DFED95A69}" dt="2026-10-19T07:21:47.356" v="108" actId="767"/>
          <ac:spMkLst>
            <pc:docMk/>
            <pc:sldMk cId="3479544102" sldId="265"/>
            <ac:spMk id="12" creationId="{F1524587-FFBF-AEB9-4E19-E3F6AE567D18}"/>
          </ac:spMkLst>
        </pc:spChg>
        <pc:graphicFrameChg chg="mod">
          <ac:chgData name="Chidiebere Nnadiegbulam" userId="7a99a6c1-c8da-441a-9389-8007676fbed1" providerId="ADAL" clId="{8EAC27E3-300B-4FD6-B57A-EA8DFED95A69}" dt="2026-10-19T07:25:45.744" v="116"/>
          <ac:graphicFrameMkLst>
            <pc:docMk/>
            <pc:sldMk cId="3479544102" sldId="265"/>
            <ac:graphicFrameMk id="13" creationId="{C79DD68A-C632-8D14-8A94-D37F3DFF095A}"/>
          </ac:graphicFrameMkLst>
        </pc:graphicFrameChg>
        <pc:cxnChg chg="add mod">
          <ac:chgData name="Chidiebere Nnadiegbulam" userId="7a99a6c1-c8da-441a-9389-8007676fbed1" providerId="ADAL" clId="{8EAC27E3-300B-4FD6-B57A-EA8DFED95A69}" dt="2026-10-19T07:19:57.027" v="107"/>
          <ac:cxnSpMkLst>
            <pc:docMk/>
            <pc:sldMk cId="3479544102" sldId="265"/>
            <ac:cxnSpMk id="11" creationId="{572193FC-D064-F65C-9555-4FE24D2EF416}"/>
          </ac:cxnSpMkLst>
        </pc:cxnChg>
      </pc:sldChg>
      <pc:sldChg chg="modSp">
        <pc:chgData name="Chidiebere Nnadiegbulam" userId="7a99a6c1-c8da-441a-9389-8007676fbed1" providerId="ADAL" clId="{8EAC27E3-300B-4FD6-B57A-EA8DFED95A69}" dt="2026-10-18T23:20:51.829" v="14"/>
        <pc:sldMkLst>
          <pc:docMk/>
          <pc:sldMk cId="3860047205" sldId="266"/>
        </pc:sldMkLst>
        <pc:spChg chg="mod">
          <ac:chgData name="Chidiebere Nnadiegbulam" userId="7a99a6c1-c8da-441a-9389-8007676fbed1" providerId="ADAL" clId="{8EAC27E3-300B-4FD6-B57A-EA8DFED95A69}" dt="2026-10-18T23:20:51.829" v="14"/>
          <ac:spMkLst>
            <pc:docMk/>
            <pc:sldMk cId="3860047205" sldId="266"/>
            <ac:spMk id="4" creationId="{B8E477B1-C47E-471D-9B83-24545F36A6B3}"/>
          </ac:spMkLst>
        </pc:spChg>
      </pc:sldChg>
      <pc:sldChg chg="addSp modSp">
        <pc:chgData name="Chidiebere Nnadiegbulam" userId="7a99a6c1-c8da-441a-9389-8007676fbed1" providerId="ADAL" clId="{8EAC27E3-300B-4FD6-B57A-EA8DFED95A69}" dt="2026-10-18T23:30:43.467" v="32"/>
        <pc:sldMkLst>
          <pc:docMk/>
          <pc:sldMk cId="1111712950" sldId="267"/>
        </pc:sldMkLst>
        <pc:spChg chg="add mod">
          <ac:chgData name="Chidiebere Nnadiegbulam" userId="7a99a6c1-c8da-441a-9389-8007676fbed1" providerId="ADAL" clId="{8EAC27E3-300B-4FD6-B57A-EA8DFED95A69}" dt="2026-10-18T23:30:43.467" v="32"/>
          <ac:spMkLst>
            <pc:docMk/>
            <pc:sldMk cId="1111712950" sldId="267"/>
            <ac:spMk id="2" creationId="{EA5C2E33-E1B8-F8CC-B877-44396FC2D7B2}"/>
          </ac:spMkLst>
        </pc:spChg>
      </pc:sldChg>
      <pc:sldChg chg="addSp delSp modSp">
        <pc:chgData name="Chidiebere Nnadiegbulam" userId="7a99a6c1-c8da-441a-9389-8007676fbed1" providerId="ADAL" clId="{8EAC27E3-300B-4FD6-B57A-EA8DFED95A69}" dt="2026-10-18T23:43:20.982" v="50"/>
        <pc:sldMkLst>
          <pc:docMk/>
          <pc:sldMk cId="3760626297" sldId="268"/>
        </pc:sldMkLst>
        <pc:spChg chg="add del mod">
          <ac:chgData name="Chidiebere Nnadiegbulam" userId="7a99a6c1-c8da-441a-9389-8007676fbed1" providerId="ADAL" clId="{8EAC27E3-300B-4FD6-B57A-EA8DFED95A69}" dt="2026-10-18T23:39:02.017" v="45"/>
          <ac:spMkLst>
            <pc:docMk/>
            <pc:sldMk cId="3760626297" sldId="268"/>
            <ac:spMk id="4" creationId="{8BDC7CFE-3509-BC69-054F-37D86D74B454}"/>
          </ac:spMkLst>
        </pc:spChg>
        <pc:spChg chg="add mod">
          <ac:chgData name="Chidiebere Nnadiegbulam" userId="7a99a6c1-c8da-441a-9389-8007676fbed1" providerId="ADAL" clId="{8EAC27E3-300B-4FD6-B57A-EA8DFED95A69}" dt="2026-10-18T23:39:11.795" v="46"/>
          <ac:spMkLst>
            <pc:docMk/>
            <pc:sldMk cId="3760626297" sldId="268"/>
            <ac:spMk id="5" creationId="{2C810728-FDB3-0F9D-5C41-F29EC206A1D9}"/>
          </ac:spMkLst>
        </pc:spChg>
        <pc:graphicFrameChg chg="mod">
          <ac:chgData name="Chidiebere Nnadiegbulam" userId="7a99a6c1-c8da-441a-9389-8007676fbed1" providerId="ADAL" clId="{8EAC27E3-300B-4FD6-B57A-EA8DFED95A69}" dt="2026-10-18T23:43:20.982" v="50"/>
          <ac:graphicFrameMkLst>
            <pc:docMk/>
            <pc:sldMk cId="3760626297" sldId="268"/>
            <ac:graphicFrameMk id="9" creationId="{5715F901-C9FF-593A-464D-4CBFE5FAEDC8}"/>
          </ac:graphicFrameMkLst>
        </pc:graphicFrameChg>
      </pc:sldChg>
      <pc:sldChg chg="modSp">
        <pc:chgData name="Chidiebere Nnadiegbulam" userId="7a99a6c1-c8da-441a-9389-8007676fbed1" providerId="ADAL" clId="{8EAC27E3-300B-4FD6-B57A-EA8DFED95A69}" dt="2026-10-19T04:59:31.335" v="57"/>
        <pc:sldMkLst>
          <pc:docMk/>
          <pc:sldMk cId="444587814" sldId="269"/>
        </pc:sldMkLst>
        <pc:spChg chg="mod">
          <ac:chgData name="Chidiebere Nnadiegbulam" userId="7a99a6c1-c8da-441a-9389-8007676fbed1" providerId="ADAL" clId="{8EAC27E3-300B-4FD6-B57A-EA8DFED95A69}" dt="2026-10-19T04:59:31.335" v="57"/>
          <ac:spMkLst>
            <pc:docMk/>
            <pc:sldMk cId="444587814" sldId="269"/>
            <ac:spMk id="5" creationId="{B1319E34-81A2-AC17-F65E-802ACF04EEE1}"/>
          </ac:spMkLst>
        </pc:spChg>
        <pc:graphicFrameChg chg="mod">
          <ac:chgData name="Chidiebere Nnadiegbulam" userId="7a99a6c1-c8da-441a-9389-8007676fbed1" providerId="ADAL" clId="{8EAC27E3-300B-4FD6-B57A-EA8DFED95A69}" dt="2026-10-18T23:49:07.122" v="55"/>
          <ac:graphicFrameMkLst>
            <pc:docMk/>
            <pc:sldMk cId="444587814" sldId="269"/>
            <ac:graphicFrameMk id="9" creationId="{5B5225AF-ECDC-B849-1B93-83BDF93DC40D}"/>
          </ac:graphicFrameMkLst>
        </pc:graphicFrameChg>
      </pc:sldChg>
      <pc:sldChg chg="addSp modSp">
        <pc:chgData name="Chidiebere Nnadiegbulam" userId="7a99a6c1-c8da-441a-9389-8007676fbed1" providerId="ADAL" clId="{8EAC27E3-300B-4FD6-B57A-EA8DFED95A69}" dt="2026-10-19T05:07:00.868" v="82" actId="767"/>
        <pc:sldMkLst>
          <pc:docMk/>
          <pc:sldMk cId="1487504246" sldId="270"/>
        </pc:sldMkLst>
        <pc:spChg chg="add mod">
          <ac:chgData name="Chidiebere Nnadiegbulam" userId="7a99a6c1-c8da-441a-9389-8007676fbed1" providerId="ADAL" clId="{8EAC27E3-300B-4FD6-B57A-EA8DFED95A69}" dt="2026-10-19T04:59:35.600" v="58"/>
          <ac:spMkLst>
            <pc:docMk/>
            <pc:sldMk cId="1487504246" sldId="270"/>
            <ac:spMk id="6" creationId="{03C957CC-1487-626A-E376-A45E3AD6392E}"/>
          </ac:spMkLst>
        </pc:spChg>
        <pc:spChg chg="add mod">
          <ac:chgData name="Chidiebere Nnadiegbulam" userId="7a99a6c1-c8da-441a-9389-8007676fbed1" providerId="ADAL" clId="{8EAC27E3-300B-4FD6-B57A-EA8DFED95A69}" dt="2026-10-19T05:07:00.868" v="82" actId="767"/>
          <ac:spMkLst>
            <pc:docMk/>
            <pc:sldMk cId="1487504246" sldId="270"/>
            <ac:spMk id="9" creationId="{2720592B-9CF3-5625-DFB1-95B8E460E712}"/>
          </ac:spMkLst>
        </pc:spChg>
        <pc:graphicFrameChg chg="mod">
          <ac:chgData name="Chidiebere Nnadiegbulam" userId="7a99a6c1-c8da-441a-9389-8007676fbed1" providerId="ADAL" clId="{8EAC27E3-300B-4FD6-B57A-EA8DFED95A69}" dt="2026-10-19T05:05:38.145" v="81"/>
          <ac:graphicFrameMkLst>
            <pc:docMk/>
            <pc:sldMk cId="1487504246" sldId="270"/>
            <ac:graphicFrameMk id="8" creationId="{93AD3126-0F50-5B57-631F-94E9770C5652}"/>
          </ac:graphicFrameMkLst>
        </pc:graphicFrameChg>
      </pc:sldChg>
      <pc:sldChg chg="addSp modSp ord">
        <pc:chgData name="Chidiebere Nnadiegbulam" userId="7a99a6c1-c8da-441a-9389-8007676fbed1" providerId="ADAL" clId="{8EAC27E3-300B-4FD6-B57A-EA8DFED95A69}" dt="2026-10-19T08:05:42.959" v="123"/>
        <pc:sldMkLst>
          <pc:docMk/>
          <pc:sldMk cId="2735012109" sldId="271"/>
        </pc:sldMkLst>
        <pc:spChg chg="add mod">
          <ac:chgData name="Chidiebere Nnadiegbulam" userId="7a99a6c1-c8da-441a-9389-8007676fbed1" providerId="ADAL" clId="{8EAC27E3-300B-4FD6-B57A-EA8DFED95A69}" dt="2026-10-19T08:04:41.391" v="122" actId="767"/>
          <ac:spMkLst>
            <pc:docMk/>
            <pc:sldMk cId="2735012109" sldId="271"/>
            <ac:spMk id="4" creationId="{F6181A3F-3D6A-D2AC-8408-9F5F54827117}"/>
          </ac:spMkLst>
        </pc:spChg>
      </pc:sldChg>
      <pc:sldChg chg="addSp modSp">
        <pc:chgData name="Chidiebere Nnadiegbulam" userId="7a99a6c1-c8da-441a-9389-8007676fbed1" providerId="ADAL" clId="{8EAC27E3-300B-4FD6-B57A-EA8DFED95A69}" dt="2026-10-19T06:53:42.520" v="105"/>
        <pc:sldMkLst>
          <pc:docMk/>
          <pc:sldMk cId="3340705385" sldId="272"/>
        </pc:sldMkLst>
        <pc:spChg chg="add mod">
          <ac:chgData name="Chidiebere Nnadiegbulam" userId="7a99a6c1-c8da-441a-9389-8007676fbed1" providerId="ADAL" clId="{8EAC27E3-300B-4FD6-B57A-EA8DFED95A69}" dt="2026-10-19T06:53:42.520" v="105"/>
          <ac:spMkLst>
            <pc:docMk/>
            <pc:sldMk cId="3340705385" sldId="272"/>
            <ac:spMk id="9" creationId="{02C7FCDF-13BA-B5B6-E454-4CFF5B4AB3D8}"/>
          </ac:spMkLst>
        </pc:spChg>
        <pc:graphicFrameChg chg="mod">
          <ac:chgData name="Chidiebere Nnadiegbulam" userId="7a99a6c1-c8da-441a-9389-8007676fbed1" providerId="ADAL" clId="{8EAC27E3-300B-4FD6-B57A-EA8DFED95A69}" dt="2026-10-19T06:18:02.879" v="91"/>
          <ac:graphicFrameMkLst>
            <pc:docMk/>
            <pc:sldMk cId="3340705385" sldId="272"/>
            <ac:graphicFrameMk id="8" creationId="{333A2387-7287-E2AE-86C3-34F2A1EC7AC6}"/>
          </ac:graphicFrameMkLst>
        </pc:graphicFrameChg>
      </pc:sldChg>
      <pc:sldChg chg="addSp modSp">
        <pc:chgData name="Chidiebere Nnadiegbulam" userId="7a99a6c1-c8da-441a-9389-8007676fbed1" providerId="ADAL" clId="{8EAC27E3-300B-4FD6-B57A-EA8DFED95A69}" dt="2026-10-19T08:24:11.498" v="127"/>
        <pc:sldMkLst>
          <pc:docMk/>
          <pc:sldMk cId="2236953150" sldId="273"/>
        </pc:sldMkLst>
        <pc:spChg chg="add mod">
          <ac:chgData name="Chidiebere Nnadiegbulam" userId="7a99a6c1-c8da-441a-9389-8007676fbed1" providerId="ADAL" clId="{8EAC27E3-300B-4FD6-B57A-EA8DFED95A69}" dt="2026-10-19T07:41:28.453" v="117"/>
          <ac:spMkLst>
            <pc:docMk/>
            <pc:sldMk cId="2236953150" sldId="273"/>
            <ac:spMk id="4" creationId="{0D9A65A0-8C15-F88A-AD11-1D1D01617507}"/>
          </ac:spMkLst>
        </pc:spChg>
      </pc:sldChg>
      <pc:sldChg chg="modSp">
        <pc:chgData name="Chidiebere Nnadiegbulam" userId="7a99a6c1-c8da-441a-9389-8007676fbed1" providerId="ADAL" clId="{8EAC27E3-300B-4FD6-B57A-EA8DFED95A69}" dt="2026-10-19T07:53:54.520" v="121"/>
        <pc:sldMkLst>
          <pc:docMk/>
          <pc:sldMk cId="3542859138" sldId="274"/>
        </pc:sldMkLst>
        <pc:graphicFrameChg chg="mod">
          <ac:chgData name="Chidiebere Nnadiegbulam" userId="7a99a6c1-c8da-441a-9389-8007676fbed1" providerId="ADAL" clId="{8EAC27E3-300B-4FD6-B57A-EA8DFED95A69}" dt="2026-10-19T07:52:48.927" v="120"/>
          <ac:graphicFrameMkLst>
            <pc:docMk/>
            <pc:sldMk cId="3542859138" sldId="274"/>
            <ac:graphicFrameMk id="5" creationId="{8934A6A1-59CA-2BCF-81B2-F489E150C1C1}"/>
          </ac:graphicFrameMkLst>
        </pc:graphicFrameChg>
      </pc:sldChg>
    </pc:docChg>
  </pc:docChgLst>
  <pc:docChgLst>
    <pc:chgData name="Zainab Shokunbi" userId="4b95713c-a648-4c28-8e6b-1e3944ebf4e2" providerId="ADAL" clId="{D1CF8D8A-FC08-499E-ACBD-46DD8FD1564A}"/>
    <pc:docChg chg="undo custSel modSld">
      <pc:chgData name="Zainab Shokunbi" userId="4b95713c-a648-4c28-8e6b-1e3944ebf4e2" providerId="ADAL" clId="{D1CF8D8A-FC08-499E-ACBD-46DD8FD1564A}" dt="2026-10-19T08:52:16.390" v="507" actId="20577"/>
      <pc:docMkLst>
        <pc:docMk/>
      </pc:docMkLst>
      <pc:sldChg chg="addSp modSp mod">
        <pc:chgData name="Zainab Shokunbi" userId="4b95713c-a648-4c28-8e6b-1e3944ebf4e2" providerId="ADAL" clId="{D1CF8D8A-FC08-499E-ACBD-46DD8FD1564A}" dt="2026-10-19T08:31:54.189" v="503" actId="20577"/>
        <pc:sldMkLst>
          <pc:docMk/>
          <pc:sldMk cId="3467524763" sldId="259"/>
        </pc:sldMkLst>
        <pc:spChg chg="add mod">
          <ac:chgData name="Zainab Shokunbi" userId="4b95713c-a648-4c28-8e6b-1e3944ebf4e2" providerId="ADAL" clId="{D1CF8D8A-FC08-499E-ACBD-46DD8FD1564A}" dt="2026-10-19T08:31:54.189" v="503" actId="20577"/>
          <ac:spMkLst>
            <pc:docMk/>
            <pc:sldMk cId="3467524763" sldId="259"/>
            <ac:spMk id="4" creationId="{1DBB68AC-A2D5-4225-09A3-7E77BBE84106}"/>
          </ac:spMkLst>
        </pc:spChg>
        <pc:spChg chg="mod">
          <ac:chgData name="Zainab Shokunbi" userId="4b95713c-a648-4c28-8e6b-1e3944ebf4e2" providerId="ADAL" clId="{D1CF8D8A-FC08-499E-ACBD-46DD8FD1564A}" dt="2026-10-19T06:44:54.880" v="3" actId="5793"/>
          <ac:spMkLst>
            <pc:docMk/>
            <pc:sldMk cId="3467524763" sldId="259"/>
            <ac:spMk id="5" creationId="{EDB08E86-3F80-AE6B-D6AB-1E7D61869240}"/>
          </ac:spMkLst>
        </pc:spChg>
        <pc:spChg chg="add mod">
          <ac:chgData name="Zainab Shokunbi" userId="4b95713c-a648-4c28-8e6b-1e3944ebf4e2" providerId="ADAL" clId="{D1CF8D8A-FC08-499E-ACBD-46DD8FD1564A}" dt="2026-10-19T07:17:33.854" v="272" actId="20577"/>
          <ac:spMkLst>
            <pc:docMk/>
            <pc:sldMk cId="3467524763" sldId="259"/>
            <ac:spMk id="8" creationId="{3FE0CA59-57E4-8017-7CD1-19880CF8CCEA}"/>
          </ac:spMkLst>
        </pc:spChg>
      </pc:sldChg>
      <pc:sldChg chg="modSp mod">
        <pc:chgData name="Zainab Shokunbi" userId="4b95713c-a648-4c28-8e6b-1e3944ebf4e2" providerId="ADAL" clId="{D1CF8D8A-FC08-499E-ACBD-46DD8FD1564A}" dt="2026-10-19T08:44:51.364" v="505" actId="14100"/>
        <pc:sldMkLst>
          <pc:docMk/>
          <pc:sldMk cId="3175973316" sldId="261"/>
        </pc:sldMkLst>
        <pc:picChg chg="mod">
          <ac:chgData name="Zainab Shokunbi" userId="4b95713c-a648-4c28-8e6b-1e3944ebf4e2" providerId="ADAL" clId="{D1CF8D8A-FC08-499E-ACBD-46DD8FD1564A}" dt="2026-10-19T08:44:51.364" v="505" actId="14100"/>
          <ac:picMkLst>
            <pc:docMk/>
            <pc:sldMk cId="3175973316" sldId="261"/>
            <ac:picMk id="5" creationId="{45426E90-657B-B425-E04A-72A5C1ABBE68}"/>
          </ac:picMkLst>
        </pc:picChg>
      </pc:sldChg>
      <pc:sldChg chg="modSp mod">
        <pc:chgData name="Zainab Shokunbi" userId="4b95713c-a648-4c28-8e6b-1e3944ebf4e2" providerId="ADAL" clId="{D1CF8D8A-FC08-499E-ACBD-46DD8FD1564A}" dt="2026-10-19T07:45:35.279" v="273" actId="20577"/>
        <pc:sldMkLst>
          <pc:docMk/>
          <pc:sldMk cId="2878672272" sldId="262"/>
        </pc:sldMkLst>
        <pc:spChg chg="mod">
          <ac:chgData name="Zainab Shokunbi" userId="4b95713c-a648-4c28-8e6b-1e3944ebf4e2" providerId="ADAL" clId="{D1CF8D8A-FC08-499E-ACBD-46DD8FD1564A}" dt="2026-10-19T07:45:35.279" v="273" actId="20577"/>
          <ac:spMkLst>
            <pc:docMk/>
            <pc:sldMk cId="2878672272" sldId="262"/>
            <ac:spMk id="8" creationId="{BE62F183-FD5F-E710-A6CB-44828AA0914B}"/>
          </ac:spMkLst>
        </pc:spChg>
      </pc:sldChg>
      <pc:sldChg chg="addSp modSp mod">
        <pc:chgData name="Zainab Shokunbi" userId="4b95713c-a648-4c28-8e6b-1e3944ebf4e2" providerId="ADAL" clId="{D1CF8D8A-FC08-499E-ACBD-46DD8FD1564A}" dt="2026-10-19T07:55:10.619" v="405" actId="20577"/>
        <pc:sldMkLst>
          <pc:docMk/>
          <pc:sldMk cId="995134135" sldId="263"/>
        </pc:sldMkLst>
        <pc:spChg chg="add mod">
          <ac:chgData name="Zainab Shokunbi" userId="4b95713c-a648-4c28-8e6b-1e3944ebf4e2" providerId="ADAL" clId="{D1CF8D8A-FC08-499E-ACBD-46DD8FD1564A}" dt="2026-10-19T07:54:27.108" v="381" actId="20577"/>
          <ac:spMkLst>
            <pc:docMk/>
            <pc:sldMk cId="995134135" sldId="263"/>
            <ac:spMk id="3" creationId="{C263A53D-2453-1DBC-4C8B-BCB2A696B769}"/>
          </ac:spMkLst>
        </pc:spChg>
        <pc:graphicFrameChg chg="modGraphic">
          <ac:chgData name="Zainab Shokunbi" userId="4b95713c-a648-4c28-8e6b-1e3944ebf4e2" providerId="ADAL" clId="{D1CF8D8A-FC08-499E-ACBD-46DD8FD1564A}" dt="2026-10-19T07:55:10.619" v="405" actId="20577"/>
          <ac:graphicFrameMkLst>
            <pc:docMk/>
            <pc:sldMk cId="995134135" sldId="263"/>
            <ac:graphicFrameMk id="8" creationId="{25E96EC6-EA41-88CE-0D9D-6C336D67EE97}"/>
          </ac:graphicFrameMkLst>
        </pc:graphicFrameChg>
      </pc:sldChg>
      <pc:sldChg chg="modSp mod">
        <pc:chgData name="Zainab Shokunbi" userId="4b95713c-a648-4c28-8e6b-1e3944ebf4e2" providerId="ADAL" clId="{D1CF8D8A-FC08-499E-ACBD-46DD8FD1564A}" dt="2026-10-19T08:52:16.390" v="507" actId="20577"/>
        <pc:sldMkLst>
          <pc:docMk/>
          <pc:sldMk cId="3479544102" sldId="265"/>
        </pc:sldMkLst>
        <pc:graphicFrameChg chg="modGraphic">
          <ac:chgData name="Zainab Shokunbi" userId="4b95713c-a648-4c28-8e6b-1e3944ebf4e2" providerId="ADAL" clId="{D1CF8D8A-FC08-499E-ACBD-46DD8FD1564A}" dt="2026-10-19T08:52:16.390" v="507" actId="20577"/>
          <ac:graphicFrameMkLst>
            <pc:docMk/>
            <pc:sldMk cId="3479544102" sldId="265"/>
            <ac:graphicFrameMk id="13" creationId="{C79DD68A-C632-8D14-8A94-D37F3DFF095A}"/>
          </ac:graphicFrameMkLst>
        </pc:graphicFrameChg>
      </pc:sldChg>
      <pc:sldChg chg="addSp modSp mod">
        <pc:chgData name="Zainab Shokunbi" userId="4b95713c-a648-4c28-8e6b-1e3944ebf4e2" providerId="ADAL" clId="{D1CF8D8A-FC08-499E-ACBD-46DD8FD1564A}" dt="2026-10-19T08:18:31.267" v="502" actId="20577"/>
        <pc:sldMkLst>
          <pc:docMk/>
          <pc:sldMk cId="1111712950" sldId="267"/>
        </pc:sldMkLst>
        <pc:spChg chg="add mod">
          <ac:chgData name="Zainab Shokunbi" userId="4b95713c-a648-4c28-8e6b-1e3944ebf4e2" providerId="ADAL" clId="{D1CF8D8A-FC08-499E-ACBD-46DD8FD1564A}" dt="2026-10-19T08:18:31.267" v="502" actId="20577"/>
          <ac:spMkLst>
            <pc:docMk/>
            <pc:sldMk cId="1111712950" sldId="267"/>
            <ac:spMk id="4" creationId="{03B81ADA-3A25-7F40-8A9B-B97EDA05F5D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1150C0-C7D9-4477-AAB0-AB5D32234BF3}" type="datetimeFigureOut">
              <a:rPr lang="LID4096" smtClean="0"/>
              <a:t>10/20/2026</a:t>
            </a:fld>
            <a:endParaRPr lang="LID4096"/>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CA7A5F-4404-4915-99ED-40487D09A163}" type="slidenum">
              <a:rPr lang="LID4096" smtClean="0"/>
              <a:t>‹#›</a:t>
            </a:fld>
            <a:endParaRPr lang="LID4096"/>
          </a:p>
        </p:txBody>
      </p:sp>
    </p:spTree>
    <p:extLst>
      <p:ext uri="{BB962C8B-B14F-4D97-AF65-F5344CB8AC3E}">
        <p14:creationId xmlns:p14="http://schemas.microsoft.com/office/powerpoint/2010/main" val="40162644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 sz="1200" b="1" i="0" kern="1200">
                <a:solidFill>
                  <a:schemeClr val="tx1"/>
                </a:solidFill>
                <a:effectLst/>
                <a:latin typeface="+mn-lt"/>
                <a:ea typeface="+mn-ea"/>
                <a:cs typeface="+mn-cs"/>
              </a:rPr>
              <a:t>What the graph shows</a:t>
            </a:r>
            <a:endParaRPr lang="" sz="1200" b="0" i="0" kern="1200">
              <a:solidFill>
                <a:schemeClr val="tx1"/>
              </a:solidFill>
              <a:effectLst/>
              <a:latin typeface="+mn-lt"/>
              <a:ea typeface="+mn-ea"/>
              <a:cs typeface="+mn-cs"/>
            </a:endParaRPr>
          </a:p>
          <a:p>
            <a:pPr lvl="0" fontAlgn="t"/>
            <a:r>
              <a:rPr lang="" sz="1200" b="0" i="0" kern="1200">
                <a:solidFill>
                  <a:schemeClr val="tx1"/>
                </a:solidFill>
                <a:effectLst/>
                <a:latin typeface="+mn-lt"/>
                <a:ea typeface="+mn-ea"/>
                <a:cs typeface="+mn-cs"/>
              </a:rPr>
              <a:t>This graph displays the daily average temperature in Paris from 1995 to 2019.</a:t>
            </a:r>
          </a:p>
          <a:p>
            <a:pPr lvl="0" fontAlgn="t"/>
            <a:r>
              <a:rPr lang="" sz="1200" b="0" i="0" kern="1200">
                <a:solidFill>
                  <a:schemeClr val="tx1"/>
                </a:solidFill>
                <a:effectLst/>
                <a:latin typeface="+mn-lt"/>
                <a:ea typeface="+mn-ea"/>
                <a:cs typeface="+mn-cs"/>
              </a:rPr>
              <a:t>Each point represents one day.</a:t>
            </a:r>
          </a:p>
          <a:p>
            <a:pPr fontAlgn="t"/>
            <a:r>
              <a:rPr lang="" sz="1200" b="1" i="0" kern="1200">
                <a:solidFill>
                  <a:schemeClr val="tx1"/>
                </a:solidFill>
                <a:effectLst/>
                <a:latin typeface="+mn-lt"/>
                <a:ea typeface="+mn-ea"/>
                <a:cs typeface="+mn-cs"/>
              </a:rPr>
              <a:t>What we observe</a:t>
            </a:r>
            <a:endParaRPr lang="" sz="1200" b="0" i="0" kern="1200">
              <a:solidFill>
                <a:schemeClr val="tx1"/>
              </a:solidFill>
              <a:effectLst/>
              <a:latin typeface="+mn-lt"/>
              <a:ea typeface="+mn-ea"/>
              <a:cs typeface="+mn-cs"/>
            </a:endParaRPr>
          </a:p>
          <a:p>
            <a:pPr lvl="0" fontAlgn="t"/>
            <a:r>
              <a:rPr lang="" sz="1200" b="0" i="0" kern="1200">
                <a:solidFill>
                  <a:schemeClr val="tx1"/>
                </a:solidFill>
                <a:effectLst/>
                <a:latin typeface="+mn-lt"/>
                <a:ea typeface="+mn-ea"/>
                <a:cs typeface="+mn-cs"/>
              </a:rPr>
              <a:t>Temperatures rise and fall in a regular cycle every year.</a:t>
            </a:r>
          </a:p>
          <a:p>
            <a:pPr lvl="0" fontAlgn="t"/>
            <a:r>
              <a:rPr lang="" sz="1200" b="0" i="0" kern="1200">
                <a:solidFill>
                  <a:schemeClr val="tx1"/>
                </a:solidFill>
                <a:effectLst/>
                <a:latin typeface="+mn-lt"/>
                <a:ea typeface="+mn-ea"/>
                <a:cs typeface="+mn-cs"/>
              </a:rPr>
              <a:t>Warm temperatures occur in summer.</a:t>
            </a:r>
          </a:p>
          <a:p>
            <a:pPr lvl="0" fontAlgn="t"/>
            <a:r>
              <a:rPr lang="" sz="1200" b="0" i="0" kern="1200">
                <a:solidFill>
                  <a:schemeClr val="tx1"/>
                </a:solidFill>
                <a:effectLst/>
                <a:latin typeface="+mn-lt"/>
                <a:ea typeface="+mn-ea"/>
                <a:cs typeface="+mn-cs"/>
              </a:rPr>
              <a:t>Cold temperatures occur in winter.</a:t>
            </a:r>
          </a:p>
          <a:p>
            <a:pPr lvl="0" fontAlgn="t"/>
            <a:r>
              <a:rPr lang="" sz="1200" b="0" i="0" kern="1200">
                <a:solidFill>
                  <a:schemeClr val="tx1"/>
                </a:solidFill>
                <a:effectLst/>
                <a:latin typeface="+mn-lt"/>
                <a:ea typeface="+mn-ea"/>
                <a:cs typeface="+mn-cs"/>
              </a:rPr>
              <a:t>There is no obvious missing period in the data.</a:t>
            </a:r>
          </a:p>
          <a:p>
            <a:pPr fontAlgn="t"/>
            <a:r>
              <a:rPr lang="" sz="1200" b="1" i="0" kern="1200">
                <a:solidFill>
                  <a:schemeClr val="tx1"/>
                </a:solidFill>
                <a:effectLst/>
                <a:latin typeface="+mn-lt"/>
                <a:ea typeface="+mn-ea"/>
                <a:cs typeface="+mn-cs"/>
              </a:rPr>
              <a:t>What this tells us</a:t>
            </a:r>
            <a:endParaRPr lang="" sz="1200" b="0" i="0" kern="1200">
              <a:solidFill>
                <a:schemeClr val="tx1"/>
              </a:solidFill>
              <a:effectLst/>
              <a:latin typeface="+mn-lt"/>
              <a:ea typeface="+mn-ea"/>
              <a:cs typeface="+mn-cs"/>
            </a:endParaRPr>
          </a:p>
          <a:p>
            <a:pPr lvl="0" fontAlgn="t"/>
            <a:r>
              <a:rPr lang="" sz="1200" b="0" i="0" kern="1200">
                <a:solidFill>
                  <a:schemeClr val="tx1"/>
                </a:solidFill>
                <a:effectLst/>
                <a:latin typeface="+mn-lt"/>
                <a:ea typeface="+mn-ea"/>
                <a:cs typeface="+mn-cs"/>
              </a:rPr>
              <a:t>The data has a strong seasonal pattern.</a:t>
            </a:r>
          </a:p>
          <a:p>
            <a:pPr lvl="0" fontAlgn="t"/>
            <a:r>
              <a:rPr lang="" sz="1200" b="0" i="0" kern="1200">
                <a:solidFill>
                  <a:schemeClr val="tx1"/>
                </a:solidFill>
                <a:effectLst/>
                <a:latin typeface="+mn-lt"/>
                <a:ea typeface="+mn-ea"/>
                <a:cs typeface="+mn-cs"/>
              </a:rPr>
              <a:t>Temperature is not random throughout the year.</a:t>
            </a:r>
          </a:p>
          <a:p>
            <a:pPr lvl="0" fontAlgn="t"/>
            <a:r>
              <a:rPr lang="" sz="1200" b="0" i="0" kern="1200">
                <a:solidFill>
                  <a:schemeClr val="tx1"/>
                </a:solidFill>
                <a:effectLst/>
                <a:latin typeface="+mn-lt"/>
                <a:ea typeface="+mn-ea"/>
                <a:cs typeface="+mn-cs"/>
              </a:rPr>
              <a:t>We must take this seasonality into account before studying extremes.</a:t>
            </a:r>
          </a:p>
          <a:p>
            <a:endParaRPr lang="es-ES"/>
          </a:p>
          <a:p>
            <a:pPr fontAlgn="t"/>
            <a:r>
              <a:rPr lang="" sz="1200" b="1" i="0" kern="1200">
                <a:solidFill>
                  <a:schemeClr val="tx1"/>
                </a:solidFill>
                <a:effectLst/>
                <a:latin typeface="+mn-lt"/>
                <a:ea typeface="+mn-ea"/>
                <a:cs typeface="+mn-cs"/>
              </a:rPr>
              <a:t>What the graph shows</a:t>
            </a:r>
            <a:endParaRPr lang="" sz="1200" b="0" i="0" kern="1200">
              <a:solidFill>
                <a:schemeClr val="tx1"/>
              </a:solidFill>
              <a:effectLst/>
              <a:latin typeface="+mn-lt"/>
              <a:ea typeface="+mn-ea"/>
              <a:cs typeface="+mn-cs"/>
            </a:endParaRPr>
          </a:p>
          <a:p>
            <a:pPr lvl="0" fontAlgn="t"/>
            <a:r>
              <a:rPr lang="" sz="1200" b="0" i="0" kern="1200">
                <a:solidFill>
                  <a:schemeClr val="tx1"/>
                </a:solidFill>
                <a:effectLst/>
                <a:latin typeface="+mn-lt"/>
                <a:ea typeface="+mn-ea"/>
                <a:cs typeface="+mn-cs"/>
              </a:rPr>
              <a:t>This graph gives the average temperature for each month across the whole period.</a:t>
            </a:r>
          </a:p>
          <a:p>
            <a:pPr fontAlgn="t"/>
            <a:r>
              <a:rPr lang="" sz="1200" b="1" i="0" kern="1200">
                <a:solidFill>
                  <a:schemeClr val="tx1"/>
                </a:solidFill>
                <a:effectLst/>
                <a:latin typeface="+mn-lt"/>
                <a:ea typeface="+mn-ea"/>
                <a:cs typeface="+mn-cs"/>
              </a:rPr>
              <a:t>What we observe</a:t>
            </a:r>
            <a:endParaRPr lang="" sz="1200" b="0" i="0" kern="1200">
              <a:solidFill>
                <a:schemeClr val="tx1"/>
              </a:solidFill>
              <a:effectLst/>
              <a:latin typeface="+mn-lt"/>
              <a:ea typeface="+mn-ea"/>
              <a:cs typeface="+mn-cs"/>
            </a:endParaRPr>
          </a:p>
          <a:p>
            <a:pPr lvl="0" fontAlgn="t"/>
            <a:r>
              <a:rPr lang="" sz="1200" b="0" i="0" kern="1200">
                <a:solidFill>
                  <a:schemeClr val="tx1"/>
                </a:solidFill>
                <a:effectLst/>
                <a:latin typeface="+mn-lt"/>
                <a:ea typeface="+mn-ea"/>
                <a:cs typeface="+mn-cs"/>
              </a:rPr>
              <a:t>January and December are the coldest months.</a:t>
            </a:r>
          </a:p>
          <a:p>
            <a:pPr lvl="0" fontAlgn="t"/>
            <a:r>
              <a:rPr lang="" sz="1200" b="0" i="0" kern="1200">
                <a:solidFill>
                  <a:schemeClr val="tx1"/>
                </a:solidFill>
                <a:effectLst/>
                <a:latin typeface="+mn-lt"/>
                <a:ea typeface="+mn-ea"/>
                <a:cs typeface="+mn-cs"/>
              </a:rPr>
              <a:t>Temperatures increase gradually from spring into summer.</a:t>
            </a:r>
          </a:p>
          <a:p>
            <a:pPr lvl="0" fontAlgn="t"/>
            <a:r>
              <a:rPr lang="" sz="1200" b="0" i="0" kern="1200">
                <a:solidFill>
                  <a:schemeClr val="tx1"/>
                </a:solidFill>
                <a:effectLst/>
                <a:latin typeface="+mn-lt"/>
                <a:ea typeface="+mn-ea"/>
                <a:cs typeface="+mn-cs"/>
              </a:rPr>
              <a:t>July and August are the warmest months.</a:t>
            </a:r>
          </a:p>
          <a:p>
            <a:pPr lvl="0" fontAlgn="t"/>
            <a:r>
              <a:rPr lang="" sz="1200" b="0" i="0" kern="1200">
                <a:solidFill>
                  <a:schemeClr val="tx1"/>
                </a:solidFill>
                <a:effectLst/>
                <a:latin typeface="+mn-lt"/>
                <a:ea typeface="+mn-ea"/>
                <a:cs typeface="+mn-cs"/>
              </a:rPr>
              <a:t>Temperatures then decrease again during autumn.</a:t>
            </a:r>
          </a:p>
          <a:p>
            <a:pPr fontAlgn="t"/>
            <a:r>
              <a:rPr lang="" sz="1200" b="1" i="0" kern="1200">
                <a:solidFill>
                  <a:schemeClr val="tx1"/>
                </a:solidFill>
                <a:effectLst/>
                <a:latin typeface="+mn-lt"/>
                <a:ea typeface="+mn-ea"/>
                <a:cs typeface="+mn-cs"/>
              </a:rPr>
              <a:t>What this tells us</a:t>
            </a:r>
            <a:endParaRPr lang="" sz="1200" b="0" i="0" kern="1200">
              <a:solidFill>
                <a:schemeClr val="tx1"/>
              </a:solidFill>
              <a:effectLst/>
              <a:latin typeface="+mn-lt"/>
              <a:ea typeface="+mn-ea"/>
              <a:cs typeface="+mn-cs"/>
            </a:endParaRPr>
          </a:p>
          <a:p>
            <a:pPr lvl="0" fontAlgn="t"/>
            <a:r>
              <a:rPr lang="" sz="1200" b="0" i="0" kern="1200">
                <a:solidFill>
                  <a:schemeClr val="tx1"/>
                </a:solidFill>
                <a:effectLst/>
                <a:latin typeface="+mn-lt"/>
                <a:ea typeface="+mn-ea"/>
                <a:cs typeface="+mn-cs"/>
              </a:rPr>
              <a:t>Paris has a clear yearly temperature cycle.</a:t>
            </a:r>
          </a:p>
          <a:p>
            <a:pPr lvl="0" fontAlgn="t"/>
            <a:r>
              <a:rPr lang="" sz="1200" b="0" i="0" kern="1200">
                <a:solidFill>
                  <a:schemeClr val="tx1"/>
                </a:solidFill>
                <a:effectLst/>
                <a:latin typeface="+mn-lt"/>
                <a:ea typeface="+mn-ea"/>
                <a:cs typeface="+mn-cs"/>
              </a:rPr>
              <a:t>The pattern is exactly what we expect from a temperate climate.</a:t>
            </a:r>
          </a:p>
          <a:p>
            <a:pPr lvl="0" fontAlgn="t"/>
            <a:r>
              <a:rPr lang="" sz="1200" b="0" i="0" kern="1200">
                <a:solidFill>
                  <a:schemeClr val="tx1"/>
                </a:solidFill>
                <a:effectLst/>
                <a:latin typeface="+mn-lt"/>
                <a:ea typeface="+mn-ea"/>
                <a:cs typeface="+mn-cs"/>
              </a:rPr>
              <a:t>This confirms the seasonality that we saw in the time series plot.</a:t>
            </a:r>
          </a:p>
          <a:p>
            <a:endParaRPr lang="es-ES"/>
          </a:p>
          <a:p>
            <a:endParaRPr lang="es-ES"/>
          </a:p>
          <a:p>
            <a:pPr fontAlgn="t"/>
            <a:r>
              <a:rPr lang="" sz="1200" b="1" i="0" kern="1200">
                <a:solidFill>
                  <a:schemeClr val="tx1"/>
                </a:solidFill>
                <a:effectLst/>
                <a:latin typeface="+mn-lt"/>
                <a:ea typeface="+mn-ea"/>
                <a:cs typeface="+mn-cs"/>
              </a:rPr>
              <a:t>3. Autocorrelation Function (bottom left)</a:t>
            </a:r>
          </a:p>
          <a:p>
            <a:pPr fontAlgn="t"/>
            <a:r>
              <a:rPr lang="" sz="1200" b="0" i="0" kern="1200">
                <a:solidFill>
                  <a:schemeClr val="tx1"/>
                </a:solidFill>
                <a:effectLst/>
                <a:latin typeface="+mn-lt"/>
                <a:ea typeface="+mn-ea"/>
                <a:cs typeface="+mn-cs"/>
              </a:rPr>
              <a:t>This is probably the slide your teacher will ask about.</a:t>
            </a:r>
          </a:p>
          <a:p>
            <a:pPr fontAlgn="t"/>
            <a:r>
              <a:rPr lang="" sz="1200" b="1" i="0" kern="1200">
                <a:solidFill>
                  <a:schemeClr val="tx1"/>
                </a:solidFill>
                <a:effectLst/>
                <a:latin typeface="+mn-lt"/>
                <a:ea typeface="+mn-ea"/>
                <a:cs typeface="+mn-cs"/>
              </a:rPr>
              <a:t>Simple explanation</a:t>
            </a:r>
            <a:endParaRPr lang="" sz="1200" b="0" i="0" kern="1200">
              <a:solidFill>
                <a:schemeClr val="tx1"/>
              </a:solidFill>
              <a:effectLst/>
              <a:latin typeface="+mn-lt"/>
              <a:ea typeface="+mn-ea"/>
              <a:cs typeface="+mn-cs"/>
            </a:endParaRPr>
          </a:p>
          <a:p>
            <a:pPr lvl="0" fontAlgn="t"/>
            <a:r>
              <a:rPr lang="" sz="1200" b="0" i="0" kern="1200">
                <a:solidFill>
                  <a:schemeClr val="tx1"/>
                </a:solidFill>
                <a:effectLst/>
                <a:latin typeface="+mn-lt"/>
                <a:ea typeface="+mn-ea"/>
                <a:cs typeface="+mn-cs"/>
              </a:rPr>
              <a:t>Autocorrelation measures whether today's temperature is related to temperatures from previous days.</a:t>
            </a:r>
          </a:p>
          <a:p>
            <a:pPr fontAlgn="t"/>
            <a:r>
              <a:rPr lang="" sz="1200" b="1" i="0" kern="1200">
                <a:solidFill>
                  <a:schemeClr val="tx1"/>
                </a:solidFill>
                <a:effectLst/>
                <a:latin typeface="+mn-lt"/>
                <a:ea typeface="+mn-ea"/>
                <a:cs typeface="+mn-cs"/>
              </a:rPr>
              <a:t>What we observe</a:t>
            </a:r>
            <a:endParaRPr lang="" sz="1200" b="0" i="0" kern="1200">
              <a:solidFill>
                <a:schemeClr val="tx1"/>
              </a:solidFill>
              <a:effectLst/>
              <a:latin typeface="+mn-lt"/>
              <a:ea typeface="+mn-ea"/>
              <a:cs typeface="+mn-cs"/>
            </a:endParaRPr>
          </a:p>
          <a:p>
            <a:pPr lvl="0" fontAlgn="t"/>
            <a:r>
              <a:rPr lang="" sz="1200" b="0" i="0" kern="1200">
                <a:solidFill>
                  <a:schemeClr val="tx1"/>
                </a:solidFill>
                <a:effectLst/>
                <a:latin typeface="+mn-lt"/>
                <a:ea typeface="+mn-ea"/>
                <a:cs typeface="+mn-cs"/>
              </a:rPr>
              <a:t>The bars are very high at the beginning.</a:t>
            </a:r>
          </a:p>
          <a:p>
            <a:pPr lvl="0" fontAlgn="t"/>
            <a:r>
              <a:rPr lang="" sz="1200" b="0" i="0" kern="1200">
                <a:solidFill>
                  <a:schemeClr val="tx1"/>
                </a:solidFill>
                <a:effectLst/>
                <a:latin typeface="+mn-lt"/>
                <a:ea typeface="+mn-ea"/>
                <a:cs typeface="+mn-cs"/>
              </a:rPr>
              <a:t>They decrease slowly as the lag increases.</a:t>
            </a:r>
          </a:p>
          <a:p>
            <a:pPr fontAlgn="t"/>
            <a:r>
              <a:rPr lang="" sz="1200" b="1" i="0" kern="1200">
                <a:solidFill>
                  <a:schemeClr val="tx1"/>
                </a:solidFill>
                <a:effectLst/>
                <a:latin typeface="+mn-lt"/>
                <a:ea typeface="+mn-ea"/>
                <a:cs typeface="+mn-cs"/>
              </a:rPr>
              <a:t>What this means</a:t>
            </a:r>
            <a:endParaRPr lang="" sz="1200" b="0" i="0" kern="1200">
              <a:solidFill>
                <a:schemeClr val="tx1"/>
              </a:solidFill>
              <a:effectLst/>
              <a:latin typeface="+mn-lt"/>
              <a:ea typeface="+mn-ea"/>
              <a:cs typeface="+mn-cs"/>
            </a:endParaRPr>
          </a:p>
          <a:p>
            <a:pPr lvl="0" fontAlgn="t"/>
            <a:r>
              <a:rPr lang="" sz="1200" b="0" i="0" kern="1200">
                <a:solidFill>
                  <a:schemeClr val="tx1"/>
                </a:solidFill>
                <a:effectLst/>
                <a:latin typeface="+mn-lt"/>
                <a:ea typeface="+mn-ea"/>
                <a:cs typeface="+mn-cs"/>
              </a:rPr>
              <a:t>If today is warm, tomorrow is likely to be warm too.</a:t>
            </a:r>
          </a:p>
          <a:p>
            <a:pPr lvl="0" fontAlgn="t"/>
            <a:r>
              <a:rPr lang="" sz="1200" b="0" i="0" kern="1200">
                <a:solidFill>
                  <a:schemeClr val="tx1"/>
                </a:solidFill>
                <a:effectLst/>
                <a:latin typeface="+mn-lt"/>
                <a:ea typeface="+mn-ea"/>
                <a:cs typeface="+mn-cs"/>
              </a:rPr>
              <a:t>If today is cold, tomorrow is likely to be cold too.</a:t>
            </a:r>
          </a:p>
          <a:p>
            <a:pPr lvl="0" fontAlgn="t"/>
            <a:r>
              <a:rPr lang="" sz="1200" b="0" i="0" kern="1200">
                <a:solidFill>
                  <a:schemeClr val="tx1"/>
                </a:solidFill>
                <a:effectLst/>
                <a:latin typeface="+mn-lt"/>
                <a:ea typeface="+mn-ea"/>
                <a:cs typeface="+mn-cs"/>
              </a:rPr>
              <a:t>Temperatures occur in runs rather than changing completely every day.</a:t>
            </a:r>
          </a:p>
          <a:p>
            <a:endParaRPr lang="es-ES"/>
          </a:p>
          <a:p>
            <a:endParaRPr lang="es-ES"/>
          </a:p>
          <a:p>
            <a:pPr fontAlgn="t"/>
            <a:r>
              <a:rPr lang="" sz="1200" b="1" i="0" kern="1200">
                <a:solidFill>
                  <a:schemeClr val="tx1"/>
                </a:solidFill>
                <a:effectLst/>
                <a:latin typeface="+mn-lt"/>
                <a:ea typeface="+mn-ea"/>
                <a:cs typeface="+mn-cs"/>
              </a:rPr>
              <a:t>4. Boxplot (bottom right)</a:t>
            </a:r>
          </a:p>
          <a:p>
            <a:pPr fontAlgn="t"/>
            <a:r>
              <a:rPr lang="" sz="1200" b="1" i="0" kern="1200">
                <a:solidFill>
                  <a:schemeClr val="tx1"/>
                </a:solidFill>
                <a:effectLst/>
                <a:latin typeface="+mn-lt"/>
                <a:ea typeface="+mn-ea"/>
                <a:cs typeface="+mn-cs"/>
              </a:rPr>
              <a:t>What the graph shows</a:t>
            </a:r>
            <a:endParaRPr lang="" sz="1200" b="0" i="0" kern="1200">
              <a:solidFill>
                <a:schemeClr val="tx1"/>
              </a:solidFill>
              <a:effectLst/>
              <a:latin typeface="+mn-lt"/>
              <a:ea typeface="+mn-ea"/>
              <a:cs typeface="+mn-cs"/>
            </a:endParaRPr>
          </a:p>
          <a:p>
            <a:pPr lvl="0" fontAlgn="t"/>
            <a:r>
              <a:rPr lang="" sz="1200" b="0" i="0" kern="1200">
                <a:solidFill>
                  <a:schemeClr val="tx1"/>
                </a:solidFill>
                <a:effectLst/>
                <a:latin typeface="+mn-lt"/>
                <a:ea typeface="+mn-ea"/>
                <a:cs typeface="+mn-cs"/>
              </a:rPr>
              <a:t>The overall distribution of daily temperatures.</a:t>
            </a:r>
          </a:p>
          <a:p>
            <a:pPr fontAlgn="t"/>
            <a:r>
              <a:rPr lang="" sz="1200" b="1" i="0" kern="1200">
                <a:solidFill>
                  <a:schemeClr val="tx1"/>
                </a:solidFill>
                <a:effectLst/>
                <a:latin typeface="+mn-lt"/>
                <a:ea typeface="+mn-ea"/>
                <a:cs typeface="+mn-cs"/>
              </a:rPr>
              <a:t>What we observe</a:t>
            </a:r>
            <a:endParaRPr lang="" sz="1200" b="0" i="0" kern="1200">
              <a:solidFill>
                <a:schemeClr val="tx1"/>
              </a:solidFill>
              <a:effectLst/>
              <a:latin typeface="+mn-lt"/>
              <a:ea typeface="+mn-ea"/>
              <a:cs typeface="+mn-cs"/>
            </a:endParaRPr>
          </a:p>
          <a:p>
            <a:pPr lvl="0" fontAlgn="t"/>
            <a:r>
              <a:rPr lang="" sz="1200" b="0" i="0" kern="1200">
                <a:solidFill>
                  <a:schemeClr val="tx1"/>
                </a:solidFill>
                <a:effectLst/>
                <a:latin typeface="+mn-lt"/>
                <a:ea typeface="+mn-ea"/>
                <a:cs typeface="+mn-cs"/>
              </a:rPr>
              <a:t>Most temperatures lie in the middle range.</a:t>
            </a:r>
          </a:p>
          <a:p>
            <a:pPr lvl="0" fontAlgn="t"/>
            <a:r>
              <a:rPr lang="" sz="1200" b="0" i="0" kern="1200">
                <a:solidFill>
                  <a:schemeClr val="tx1"/>
                </a:solidFill>
                <a:effectLst/>
                <a:latin typeface="+mn-lt"/>
                <a:ea typeface="+mn-ea"/>
                <a:cs typeface="+mn-cs"/>
              </a:rPr>
              <a:t>A few observations are unusually high or unusually low.</a:t>
            </a:r>
          </a:p>
          <a:p>
            <a:pPr lvl="0" fontAlgn="t"/>
            <a:r>
              <a:rPr lang="" sz="1200" b="0" i="0" kern="1200">
                <a:solidFill>
                  <a:schemeClr val="tx1"/>
                </a:solidFill>
                <a:effectLst/>
                <a:latin typeface="+mn-lt"/>
                <a:ea typeface="+mn-ea"/>
                <a:cs typeface="+mn-cs"/>
              </a:rPr>
              <a:t>These appear as points outside the whiskers.</a:t>
            </a:r>
          </a:p>
          <a:p>
            <a:endParaRPr lang="LID4096"/>
          </a:p>
        </p:txBody>
      </p:sp>
      <p:sp>
        <p:nvSpPr>
          <p:cNvPr id="4" name="Slide Number Placeholder 3"/>
          <p:cNvSpPr>
            <a:spLocks noGrp="1"/>
          </p:cNvSpPr>
          <p:nvPr>
            <p:ph type="sldNum" sz="quarter" idx="5"/>
          </p:nvPr>
        </p:nvSpPr>
        <p:spPr/>
        <p:txBody>
          <a:bodyPr/>
          <a:lstStyle/>
          <a:p>
            <a:fld id="{9ECA7A5F-4404-4915-99ED-40487D09A163}" type="slidenum">
              <a:rPr lang="LID4096" smtClean="0"/>
              <a:t>3</a:t>
            </a:fld>
            <a:endParaRPr lang="LID4096"/>
          </a:p>
        </p:txBody>
      </p:sp>
    </p:spTree>
    <p:extLst>
      <p:ext uri="{BB962C8B-B14F-4D97-AF65-F5344CB8AC3E}">
        <p14:creationId xmlns:p14="http://schemas.microsoft.com/office/powerpoint/2010/main" val="12138424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 sz="1200" b="1" i="0" kern="1200">
                <a:solidFill>
                  <a:schemeClr val="tx1"/>
                </a:solidFill>
                <a:effectLst/>
                <a:latin typeface="+mn-lt"/>
                <a:ea typeface="+mn-ea"/>
                <a:cs typeface="+mn-cs"/>
              </a:rPr>
              <a:t>What we observe</a:t>
            </a:r>
            <a:endParaRPr lang="" sz="1200" b="0" i="0" kern="1200">
              <a:solidFill>
                <a:schemeClr val="tx1"/>
              </a:solidFill>
              <a:effectLst/>
              <a:latin typeface="+mn-lt"/>
              <a:ea typeface="+mn-ea"/>
              <a:cs typeface="+mn-cs"/>
            </a:endParaRPr>
          </a:p>
          <a:p>
            <a:pPr lvl="0" fontAlgn="t"/>
            <a:r>
              <a:rPr lang="" sz="1200" b="0" i="0" kern="1200">
                <a:solidFill>
                  <a:schemeClr val="tx1"/>
                </a:solidFill>
                <a:effectLst/>
                <a:latin typeface="+mn-lt"/>
                <a:ea typeface="+mn-ea"/>
                <a:cs typeface="+mn-cs"/>
              </a:rPr>
              <a:t>Annual maximum temperatures vary from year to year.</a:t>
            </a:r>
          </a:p>
          <a:p>
            <a:pPr lvl="0" fontAlgn="t"/>
            <a:r>
              <a:rPr lang="" sz="1200" b="0" i="0" kern="1200">
                <a:solidFill>
                  <a:schemeClr val="tx1"/>
                </a:solidFill>
                <a:effectLst/>
                <a:latin typeface="+mn-lt"/>
                <a:ea typeface="+mn-ea"/>
                <a:cs typeface="+mn-cs"/>
              </a:rPr>
              <a:t>Some years are hotter than others.</a:t>
            </a:r>
          </a:p>
          <a:p>
            <a:pPr lvl="0" fontAlgn="t"/>
            <a:r>
              <a:rPr lang="" sz="1200" b="0" i="0" kern="1200">
                <a:solidFill>
                  <a:schemeClr val="tx1"/>
                </a:solidFill>
                <a:effectLst/>
                <a:latin typeface="+mn-lt"/>
                <a:ea typeface="+mn-ea"/>
                <a:cs typeface="+mn-cs"/>
              </a:rPr>
              <a:t>The values generally fall between about 25°C and 33°C.</a:t>
            </a:r>
          </a:p>
          <a:p>
            <a:pPr fontAlgn="t"/>
            <a:r>
              <a:rPr lang="" sz="1200" b="1" i="0" kern="1200">
                <a:solidFill>
                  <a:schemeClr val="tx1"/>
                </a:solidFill>
                <a:effectLst/>
                <a:latin typeface="+mn-lt"/>
                <a:ea typeface="+mn-ea"/>
                <a:cs typeface="+mn-cs"/>
              </a:rPr>
              <a:t>Why we did this</a:t>
            </a:r>
            <a:endParaRPr lang="" sz="1200" b="0" i="0" kern="1200">
              <a:solidFill>
                <a:schemeClr val="tx1"/>
              </a:solidFill>
              <a:effectLst/>
              <a:latin typeface="+mn-lt"/>
              <a:ea typeface="+mn-ea"/>
              <a:cs typeface="+mn-cs"/>
            </a:endParaRPr>
          </a:p>
          <a:p>
            <a:pPr fontAlgn="t"/>
            <a:r>
              <a:rPr lang="" sz="1200" b="0" i="0" kern="1200">
                <a:solidFill>
                  <a:schemeClr val="tx1"/>
                </a:solidFill>
                <a:effectLst/>
                <a:latin typeface="+mn-lt"/>
                <a:ea typeface="+mn-ea"/>
                <a:cs typeface="+mn-cs"/>
              </a:rPr>
              <a:t>"Using annual maxima reduces the dependence that existed in the daily temperature series."</a:t>
            </a:r>
          </a:p>
          <a:p>
            <a:pPr fontAlgn="t"/>
            <a:r>
              <a:rPr lang="" sz="1200" b="0" i="0" kern="1200">
                <a:solidFill>
                  <a:schemeClr val="tx1"/>
                </a:solidFill>
                <a:effectLst/>
                <a:latin typeface="+mn-lt"/>
                <a:ea typeface="+mn-ea"/>
                <a:cs typeface="+mn-cs"/>
              </a:rPr>
              <a:t>Instead of 9000 highly dependent observations, we now have 25 yearly extreme observations.</a:t>
            </a:r>
          </a:p>
          <a:p>
            <a:endParaRPr lang="es-ES"/>
          </a:p>
          <a:p>
            <a:endParaRPr lang="es-ES"/>
          </a:p>
          <a:p>
            <a:pPr fontAlgn="t"/>
            <a:r>
              <a:rPr lang="" sz="1200" b="1" i="0" kern="1200">
                <a:solidFill>
                  <a:schemeClr val="tx1"/>
                </a:solidFill>
                <a:effectLst/>
                <a:latin typeface="+mn-lt"/>
                <a:ea typeface="+mn-ea"/>
                <a:cs typeface="+mn-cs"/>
              </a:rPr>
              <a:t>What we observe</a:t>
            </a:r>
            <a:endParaRPr lang="" sz="1200" b="0" i="0" kern="1200">
              <a:solidFill>
                <a:schemeClr val="tx1"/>
              </a:solidFill>
              <a:effectLst/>
              <a:latin typeface="+mn-lt"/>
              <a:ea typeface="+mn-ea"/>
              <a:cs typeface="+mn-cs"/>
            </a:endParaRPr>
          </a:p>
          <a:p>
            <a:pPr lvl="0" fontAlgn="t"/>
            <a:r>
              <a:rPr lang="" sz="1200" b="0" i="0" kern="1200">
                <a:solidFill>
                  <a:schemeClr val="tx1"/>
                </a:solidFill>
                <a:effectLst/>
                <a:latin typeface="+mn-lt"/>
                <a:ea typeface="+mn-ea"/>
                <a:cs typeface="+mn-cs"/>
              </a:rPr>
              <a:t>Almost all bars stay inside the blue significance limits.</a:t>
            </a:r>
          </a:p>
          <a:p>
            <a:pPr lvl="0" fontAlgn="t"/>
            <a:r>
              <a:rPr lang="" sz="1200" b="0" i="0" kern="1200">
                <a:solidFill>
                  <a:schemeClr val="tx1"/>
                </a:solidFill>
                <a:effectLst/>
                <a:latin typeface="+mn-lt"/>
                <a:ea typeface="+mn-ea"/>
                <a:cs typeface="+mn-cs"/>
              </a:rPr>
              <a:t>No strong pattern is visible.</a:t>
            </a:r>
          </a:p>
          <a:p>
            <a:pPr fontAlgn="t"/>
            <a:r>
              <a:rPr lang="" sz="1200" b="1" i="0" kern="1200">
                <a:solidFill>
                  <a:schemeClr val="tx1"/>
                </a:solidFill>
                <a:effectLst/>
                <a:latin typeface="+mn-lt"/>
                <a:ea typeface="+mn-ea"/>
                <a:cs typeface="+mn-cs"/>
              </a:rPr>
              <a:t>What this means</a:t>
            </a:r>
            <a:endParaRPr lang="" sz="1200" b="0" i="0" kern="1200">
              <a:solidFill>
                <a:schemeClr val="tx1"/>
              </a:solidFill>
              <a:effectLst/>
              <a:latin typeface="+mn-lt"/>
              <a:ea typeface="+mn-ea"/>
              <a:cs typeface="+mn-cs"/>
            </a:endParaRPr>
          </a:p>
          <a:p>
            <a:pPr lvl="0" fontAlgn="t"/>
            <a:r>
              <a:rPr lang="" sz="1200" b="0" i="0" kern="1200">
                <a:solidFill>
                  <a:schemeClr val="tx1"/>
                </a:solidFill>
                <a:effectLst/>
                <a:latin typeface="+mn-lt"/>
                <a:ea typeface="+mn-ea"/>
                <a:cs typeface="+mn-cs"/>
              </a:rPr>
              <a:t>One year's maximum temperature is not strongly related to the previous year's maximum temperature.</a:t>
            </a:r>
          </a:p>
          <a:p>
            <a:pPr lvl="0" fontAlgn="t"/>
            <a:r>
              <a:rPr lang="" sz="1200" b="0" i="0" kern="1200">
                <a:solidFill>
                  <a:schemeClr val="tx1"/>
                </a:solidFill>
                <a:effectLst/>
                <a:latin typeface="+mn-lt"/>
                <a:ea typeface="+mn-ea"/>
                <a:cs typeface="+mn-cs"/>
              </a:rPr>
              <a:t>The dependence seen in the daily data has been greatly reduced.</a:t>
            </a:r>
          </a:p>
          <a:p>
            <a:pPr fontAlgn="t"/>
            <a:r>
              <a:rPr lang="" sz="1200" b="1" i="0" kern="1200">
                <a:solidFill>
                  <a:schemeClr val="tx1"/>
                </a:solidFill>
                <a:effectLst/>
                <a:latin typeface="+mn-lt"/>
                <a:ea typeface="+mn-ea"/>
                <a:cs typeface="+mn-cs"/>
              </a:rPr>
              <a:t>Conclusion</a:t>
            </a:r>
            <a:endParaRPr lang="" sz="1200" b="0" i="0" kern="1200">
              <a:solidFill>
                <a:schemeClr val="tx1"/>
              </a:solidFill>
              <a:effectLst/>
              <a:latin typeface="+mn-lt"/>
              <a:ea typeface="+mn-ea"/>
              <a:cs typeface="+mn-cs"/>
            </a:endParaRPr>
          </a:p>
          <a:p>
            <a:pPr fontAlgn="t"/>
            <a:r>
              <a:rPr lang="" sz="1200" b="0" i="0" kern="1200">
                <a:solidFill>
                  <a:schemeClr val="tx1"/>
                </a:solidFill>
                <a:effectLst/>
                <a:latin typeface="+mn-lt"/>
                <a:ea typeface="+mn-ea"/>
                <a:cs typeface="+mn-cs"/>
              </a:rPr>
              <a:t>"After extracting annual maxima, temporal dependence becomes much weaker. Therefore the annual maxima are more suitable for Extreme Value Analysis."</a:t>
            </a:r>
          </a:p>
          <a:p>
            <a:endParaRPr lang="LID4096"/>
          </a:p>
        </p:txBody>
      </p:sp>
      <p:sp>
        <p:nvSpPr>
          <p:cNvPr id="4" name="Slide Number Placeholder 3"/>
          <p:cNvSpPr>
            <a:spLocks noGrp="1"/>
          </p:cNvSpPr>
          <p:nvPr>
            <p:ph type="sldNum" sz="quarter" idx="5"/>
          </p:nvPr>
        </p:nvSpPr>
        <p:spPr/>
        <p:txBody>
          <a:bodyPr/>
          <a:lstStyle/>
          <a:p>
            <a:fld id="{9ECA7A5F-4404-4915-99ED-40487D09A163}" type="slidenum">
              <a:rPr lang="LID4096" smtClean="0"/>
              <a:t>4</a:t>
            </a:fld>
            <a:endParaRPr lang="LID4096"/>
          </a:p>
        </p:txBody>
      </p:sp>
    </p:spTree>
    <p:extLst>
      <p:ext uri="{BB962C8B-B14F-4D97-AF65-F5344CB8AC3E}">
        <p14:creationId xmlns:p14="http://schemas.microsoft.com/office/powerpoint/2010/main" val="11841398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 sz="1200" b="1" i="0" kern="1200">
                <a:solidFill>
                  <a:schemeClr val="tx1"/>
                </a:solidFill>
                <a:effectLst/>
                <a:latin typeface="+mn-lt"/>
                <a:ea typeface="+mn-ea"/>
                <a:cs typeface="+mn-cs"/>
              </a:rPr>
              <a:t>Parameter Table</a:t>
            </a:r>
          </a:p>
          <a:p>
            <a:pPr fontAlgn="t"/>
            <a:r>
              <a:rPr lang="" sz="1200" b="0" i="0" kern="1200">
                <a:solidFill>
                  <a:schemeClr val="tx1"/>
                </a:solidFill>
                <a:effectLst/>
                <a:latin typeface="+mn-lt"/>
                <a:ea typeface="+mn-ea"/>
                <a:cs typeface="+mn-cs"/>
              </a:rPr>
              <a:t>Your teacher will likely ask what these numbers mean.</a:t>
            </a:r>
          </a:p>
          <a:p>
            <a:pPr fontAlgn="t"/>
            <a:r>
              <a:rPr lang="" sz="1200" b="1" i="0" kern="1200">
                <a:solidFill>
                  <a:schemeClr val="tx1"/>
                </a:solidFill>
                <a:effectLst/>
                <a:latin typeface="+mn-lt"/>
                <a:ea typeface="+mn-ea"/>
                <a:cs typeface="+mn-cs"/>
              </a:rPr>
              <a:t>Location parameter (μ = 27.10)</a:t>
            </a:r>
          </a:p>
          <a:p>
            <a:pPr fontAlgn="t"/>
            <a:r>
              <a:rPr lang="" sz="1200" b="0" i="0" kern="1200">
                <a:solidFill>
                  <a:schemeClr val="tx1"/>
                </a:solidFill>
                <a:effectLst/>
                <a:latin typeface="+mn-lt"/>
                <a:ea typeface="+mn-ea"/>
                <a:cs typeface="+mn-cs"/>
              </a:rPr>
              <a:t>Simple explanation:</a:t>
            </a:r>
          </a:p>
          <a:p>
            <a:pPr fontAlgn="t"/>
            <a:r>
              <a:rPr lang="" sz="1200" b="0" i="0" kern="1200">
                <a:solidFill>
                  <a:schemeClr val="tx1"/>
                </a:solidFill>
                <a:effectLst/>
                <a:latin typeface="+mn-lt"/>
                <a:ea typeface="+mn-ea"/>
                <a:cs typeface="+mn-cs"/>
              </a:rPr>
              <a:t>"The location parameter represents the typical level of annual maximum temperatures."</a:t>
            </a:r>
          </a:p>
          <a:p>
            <a:pPr fontAlgn="t"/>
            <a:r>
              <a:rPr lang="" sz="1200" b="0" i="0" kern="1200">
                <a:solidFill>
                  <a:schemeClr val="tx1"/>
                </a:solidFill>
                <a:effectLst/>
                <a:latin typeface="+mn-lt"/>
                <a:ea typeface="+mn-ea"/>
                <a:cs typeface="+mn-cs"/>
              </a:rPr>
              <a:t>So:</a:t>
            </a:r>
          </a:p>
          <a:p>
            <a:pPr lvl="0" fontAlgn="t"/>
            <a:r>
              <a:rPr lang="" sz="1200" b="0" i="0" kern="1200">
                <a:solidFill>
                  <a:schemeClr val="tx1"/>
                </a:solidFill>
                <a:effectLst/>
                <a:latin typeface="+mn-lt"/>
                <a:ea typeface="+mn-ea"/>
                <a:cs typeface="+mn-cs"/>
              </a:rPr>
              <a:t>Typical annual extreme temperature is around 27°C.</a:t>
            </a:r>
          </a:p>
          <a:p>
            <a:pPr fontAlgn="t"/>
            <a:br>
              <a:rPr lang="" sz="1200" b="0" i="0" kern="1200">
                <a:solidFill>
                  <a:schemeClr val="tx1"/>
                </a:solidFill>
                <a:effectLst/>
                <a:latin typeface="+mn-lt"/>
                <a:ea typeface="+mn-ea"/>
                <a:cs typeface="+mn-cs"/>
              </a:rPr>
            </a:br>
            <a:endParaRPr lang="" sz="1200" b="0" i="0" kern="1200">
              <a:solidFill>
                <a:schemeClr val="tx1"/>
              </a:solidFill>
              <a:effectLst/>
              <a:latin typeface="+mn-lt"/>
              <a:ea typeface="+mn-ea"/>
              <a:cs typeface="+mn-cs"/>
            </a:endParaRPr>
          </a:p>
          <a:p>
            <a:pPr fontAlgn="t"/>
            <a:r>
              <a:rPr lang="" sz="1200" b="1" i="0" kern="1200">
                <a:solidFill>
                  <a:schemeClr val="tx1"/>
                </a:solidFill>
                <a:effectLst/>
                <a:latin typeface="+mn-lt"/>
                <a:ea typeface="+mn-ea"/>
                <a:cs typeface="+mn-cs"/>
              </a:rPr>
              <a:t>Scale parameter (σ = 1.59)</a:t>
            </a:r>
          </a:p>
          <a:p>
            <a:pPr fontAlgn="t"/>
            <a:r>
              <a:rPr lang="" sz="1200" b="0" i="0" kern="1200">
                <a:solidFill>
                  <a:schemeClr val="tx1"/>
                </a:solidFill>
                <a:effectLst/>
                <a:latin typeface="+mn-lt"/>
                <a:ea typeface="+mn-ea"/>
                <a:cs typeface="+mn-cs"/>
              </a:rPr>
              <a:t>Simple explanation:</a:t>
            </a:r>
          </a:p>
          <a:p>
            <a:pPr fontAlgn="t"/>
            <a:r>
              <a:rPr lang="" sz="1200" b="0" i="0" kern="1200">
                <a:solidFill>
                  <a:schemeClr val="tx1"/>
                </a:solidFill>
                <a:effectLst/>
                <a:latin typeface="+mn-lt"/>
                <a:ea typeface="+mn-ea"/>
                <a:cs typeface="+mn-cs"/>
              </a:rPr>
              <a:t>"The scale parameter measures how much annual maxima vary from year to year."</a:t>
            </a:r>
          </a:p>
          <a:p>
            <a:pPr fontAlgn="t"/>
            <a:r>
              <a:rPr lang="" sz="1200" b="0" i="0" kern="1200">
                <a:solidFill>
                  <a:schemeClr val="tx1"/>
                </a:solidFill>
                <a:effectLst/>
                <a:latin typeface="+mn-lt"/>
                <a:ea typeface="+mn-ea"/>
                <a:cs typeface="+mn-cs"/>
              </a:rPr>
              <a:t>So:</a:t>
            </a:r>
          </a:p>
          <a:p>
            <a:pPr lvl="0" fontAlgn="t"/>
            <a:r>
              <a:rPr lang="" sz="1200" b="0" i="0" kern="1200">
                <a:solidFill>
                  <a:schemeClr val="tx1"/>
                </a:solidFill>
                <a:effectLst/>
                <a:latin typeface="+mn-lt"/>
                <a:ea typeface="+mn-ea"/>
                <a:cs typeface="+mn-cs"/>
              </a:rPr>
              <a:t>Annual maxima are usually within a few degrees of the average extreme level.</a:t>
            </a:r>
          </a:p>
          <a:p>
            <a:pPr fontAlgn="t"/>
            <a:br>
              <a:rPr lang="" sz="1200" b="0" i="0" kern="1200">
                <a:solidFill>
                  <a:schemeClr val="tx1"/>
                </a:solidFill>
                <a:effectLst/>
                <a:latin typeface="+mn-lt"/>
                <a:ea typeface="+mn-ea"/>
                <a:cs typeface="+mn-cs"/>
              </a:rPr>
            </a:br>
            <a:endParaRPr lang="" sz="1200" b="0" i="0" kern="1200">
              <a:solidFill>
                <a:schemeClr val="tx1"/>
              </a:solidFill>
              <a:effectLst/>
              <a:latin typeface="+mn-lt"/>
              <a:ea typeface="+mn-ea"/>
              <a:cs typeface="+mn-cs"/>
            </a:endParaRPr>
          </a:p>
          <a:p>
            <a:pPr fontAlgn="t"/>
            <a:r>
              <a:rPr lang="" sz="1200" b="1" i="0" kern="1200">
                <a:solidFill>
                  <a:schemeClr val="tx1"/>
                </a:solidFill>
                <a:effectLst/>
                <a:latin typeface="+mn-lt"/>
                <a:ea typeface="+mn-ea"/>
                <a:cs typeface="+mn-cs"/>
              </a:rPr>
              <a:t>Shape parameter (γ ≈ -0.002)</a:t>
            </a:r>
          </a:p>
          <a:p>
            <a:pPr fontAlgn="t"/>
            <a:r>
              <a:rPr lang="" sz="1200" b="0" i="0" kern="1200">
                <a:solidFill>
                  <a:schemeClr val="tx1"/>
                </a:solidFill>
                <a:effectLst/>
                <a:latin typeface="+mn-lt"/>
                <a:ea typeface="+mn-ea"/>
                <a:cs typeface="+mn-cs"/>
              </a:rPr>
              <a:t>This is the important one.</a:t>
            </a:r>
          </a:p>
          <a:p>
            <a:pPr fontAlgn="t"/>
            <a:r>
              <a:rPr lang="" sz="1200" b="0" i="0" kern="1200">
                <a:solidFill>
                  <a:schemeClr val="tx1"/>
                </a:solidFill>
                <a:effectLst/>
                <a:latin typeface="+mn-lt"/>
                <a:ea typeface="+mn-ea"/>
                <a:cs typeface="+mn-cs"/>
              </a:rPr>
              <a:t>Simple explanation:</a:t>
            </a:r>
          </a:p>
          <a:p>
            <a:pPr fontAlgn="t"/>
            <a:r>
              <a:rPr lang="" sz="1200" b="0" i="0" kern="1200">
                <a:solidFill>
                  <a:schemeClr val="tx1"/>
                </a:solidFill>
                <a:effectLst/>
                <a:latin typeface="+mn-lt"/>
                <a:ea typeface="+mn-ea"/>
                <a:cs typeface="+mn-cs"/>
              </a:rPr>
              <a:t>"The shape parameter tells us about the behaviour of very extreme temperatures."</a:t>
            </a:r>
          </a:p>
          <a:p>
            <a:pPr fontAlgn="t"/>
            <a:r>
              <a:rPr lang="" sz="1200" b="0" i="0" kern="1200">
                <a:solidFill>
                  <a:schemeClr val="tx1"/>
                </a:solidFill>
                <a:effectLst/>
                <a:latin typeface="+mn-lt"/>
                <a:ea typeface="+mn-ea"/>
                <a:cs typeface="+mn-cs"/>
              </a:rPr>
              <a:t>What we found:</a:t>
            </a:r>
          </a:p>
          <a:p>
            <a:pPr lvl="0" fontAlgn="t"/>
            <a:r>
              <a:rPr lang="" sz="1200" b="0" i="0" kern="1200">
                <a:solidFill>
                  <a:schemeClr val="tx1"/>
                </a:solidFill>
                <a:effectLst/>
                <a:latin typeface="+mn-lt"/>
                <a:ea typeface="+mn-ea"/>
                <a:cs typeface="+mn-cs"/>
              </a:rPr>
              <a:t>γ is very close to zero.</a:t>
            </a:r>
          </a:p>
          <a:p>
            <a:pPr lvl="0" fontAlgn="t"/>
            <a:r>
              <a:rPr lang="" sz="1200" b="0" i="0" kern="1200">
                <a:solidFill>
                  <a:schemeClr val="tx1"/>
                </a:solidFill>
                <a:effectLst/>
                <a:latin typeface="+mn-lt"/>
                <a:ea typeface="+mn-ea"/>
                <a:cs typeface="+mn-cs"/>
              </a:rPr>
              <a:t>Its confidence interval contains zero.</a:t>
            </a:r>
          </a:p>
          <a:p>
            <a:pPr fontAlgn="t"/>
            <a:r>
              <a:rPr lang="" sz="1200" b="1" i="0" kern="1200">
                <a:solidFill>
                  <a:schemeClr val="tx1"/>
                </a:solidFill>
                <a:effectLst/>
                <a:latin typeface="+mn-lt"/>
                <a:ea typeface="+mn-ea"/>
                <a:cs typeface="+mn-cs"/>
              </a:rPr>
              <a:t>Interpretation</a:t>
            </a:r>
            <a:endParaRPr lang="" sz="1200" b="0" i="0" kern="1200">
              <a:solidFill>
                <a:schemeClr val="tx1"/>
              </a:solidFill>
              <a:effectLst/>
              <a:latin typeface="+mn-lt"/>
              <a:ea typeface="+mn-ea"/>
              <a:cs typeface="+mn-cs"/>
            </a:endParaRPr>
          </a:p>
          <a:p>
            <a:pPr fontAlgn="t"/>
            <a:r>
              <a:rPr lang="" sz="1200" b="0" i="0" kern="1200">
                <a:solidFill>
                  <a:schemeClr val="tx1"/>
                </a:solidFill>
                <a:effectLst/>
                <a:latin typeface="+mn-lt"/>
                <a:ea typeface="+mn-ea"/>
                <a:cs typeface="+mn-cs"/>
              </a:rPr>
              <a:t>"The data does not provide strong evidence that the shape parameter differs from zero."</a:t>
            </a:r>
          </a:p>
          <a:p>
            <a:pPr fontAlgn="t"/>
            <a:r>
              <a:rPr lang="" sz="1200" b="0" i="0" kern="1200">
                <a:solidFill>
                  <a:schemeClr val="tx1"/>
                </a:solidFill>
                <a:effectLst/>
                <a:latin typeface="+mn-lt"/>
                <a:ea typeface="+mn-ea"/>
                <a:cs typeface="+mn-cs"/>
              </a:rPr>
              <a:t>For a presentation, keep it simple:</a:t>
            </a:r>
          </a:p>
          <a:p>
            <a:pPr fontAlgn="t"/>
            <a:r>
              <a:rPr lang="" sz="1200" b="0" i="0" kern="1200">
                <a:solidFill>
                  <a:schemeClr val="tx1"/>
                </a:solidFill>
                <a:effectLst/>
                <a:latin typeface="+mn-lt"/>
                <a:ea typeface="+mn-ea"/>
                <a:cs typeface="+mn-cs"/>
              </a:rPr>
              <a:t>"The shape parameter is essentially zero, suggesting that annual temperature extremes follow a Gumbel-type behaviour."</a:t>
            </a:r>
          </a:p>
          <a:p>
            <a:endParaRPr lang="LID4096"/>
          </a:p>
        </p:txBody>
      </p:sp>
      <p:sp>
        <p:nvSpPr>
          <p:cNvPr id="4" name="Slide Number Placeholder 3"/>
          <p:cNvSpPr>
            <a:spLocks noGrp="1"/>
          </p:cNvSpPr>
          <p:nvPr>
            <p:ph type="sldNum" sz="quarter" idx="5"/>
          </p:nvPr>
        </p:nvSpPr>
        <p:spPr/>
        <p:txBody>
          <a:bodyPr/>
          <a:lstStyle/>
          <a:p>
            <a:fld id="{9ECA7A5F-4404-4915-99ED-40487D09A163}" type="slidenum">
              <a:rPr lang="LID4096" smtClean="0"/>
              <a:t>5</a:t>
            </a:fld>
            <a:endParaRPr lang="LID4096"/>
          </a:p>
        </p:txBody>
      </p:sp>
    </p:spTree>
    <p:extLst>
      <p:ext uri="{BB962C8B-B14F-4D97-AF65-F5344CB8AC3E}">
        <p14:creationId xmlns:p14="http://schemas.microsoft.com/office/powerpoint/2010/main" val="23606986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 sz="1200" b="1" i="0" kern="1200">
                <a:solidFill>
                  <a:schemeClr val="tx1"/>
                </a:solidFill>
                <a:effectLst/>
                <a:latin typeface="+mn-lt"/>
                <a:ea typeface="+mn-ea"/>
                <a:cs typeface="+mn-cs"/>
              </a:rPr>
              <a:t>1. Probability Plot (top left)</a:t>
            </a:r>
          </a:p>
          <a:p>
            <a:pPr fontAlgn="t"/>
            <a:r>
              <a:rPr lang="" sz="1200" b="1" i="0" kern="1200">
                <a:solidFill>
                  <a:schemeClr val="tx1"/>
                </a:solidFill>
                <a:effectLst/>
                <a:latin typeface="+mn-lt"/>
                <a:ea typeface="+mn-ea"/>
                <a:cs typeface="+mn-cs"/>
              </a:rPr>
              <a:t>What it shows</a:t>
            </a:r>
          </a:p>
          <a:p>
            <a:pPr fontAlgn="t"/>
            <a:r>
              <a:rPr lang="" sz="1200" b="0" i="0" kern="1200">
                <a:solidFill>
                  <a:schemeClr val="tx1"/>
                </a:solidFill>
                <a:effectLst/>
                <a:latin typeface="+mn-lt"/>
                <a:ea typeface="+mn-ea"/>
                <a:cs typeface="+mn-cs"/>
              </a:rPr>
              <a:t>It compares:</a:t>
            </a:r>
          </a:p>
          <a:p>
            <a:pPr lvl="0" fontAlgn="t"/>
            <a:r>
              <a:rPr lang="" sz="1200" b="0" i="0" kern="1200">
                <a:solidFill>
                  <a:schemeClr val="tx1"/>
                </a:solidFill>
                <a:effectLst/>
                <a:latin typeface="+mn-lt"/>
                <a:ea typeface="+mn-ea"/>
                <a:cs typeface="+mn-cs"/>
              </a:rPr>
              <a:t>observed annual maxima</a:t>
            </a:r>
          </a:p>
          <a:p>
            <a:pPr lvl="0" fontAlgn="t"/>
            <a:r>
              <a:rPr lang="" sz="1200" b="0" i="0" kern="1200">
                <a:solidFill>
                  <a:schemeClr val="tx1"/>
                </a:solidFill>
                <a:effectLst/>
                <a:latin typeface="+mn-lt"/>
                <a:ea typeface="+mn-ea"/>
                <a:cs typeface="+mn-cs"/>
              </a:rPr>
              <a:t>values expected from the fitted GEV model</a:t>
            </a:r>
          </a:p>
          <a:p>
            <a:pPr fontAlgn="t"/>
            <a:endParaRPr lang="" sz="1200" b="0" i="0" kern="1200">
              <a:solidFill>
                <a:schemeClr val="tx1"/>
              </a:solidFill>
              <a:effectLst/>
              <a:latin typeface="+mn-lt"/>
              <a:ea typeface="+mn-ea"/>
              <a:cs typeface="+mn-cs"/>
            </a:endParaRPr>
          </a:p>
          <a:p>
            <a:pPr fontAlgn="t"/>
            <a:r>
              <a:rPr lang="" sz="1200" b="1" i="0" kern="1200">
                <a:solidFill>
                  <a:schemeClr val="tx1"/>
                </a:solidFill>
                <a:effectLst/>
                <a:latin typeface="+mn-lt"/>
                <a:ea typeface="+mn-ea"/>
                <a:cs typeface="+mn-cs"/>
              </a:rPr>
              <a:t>What we observe</a:t>
            </a:r>
          </a:p>
          <a:p>
            <a:pPr fontAlgn="t"/>
            <a:r>
              <a:rPr lang="" sz="1200" b="0" i="0" kern="1200">
                <a:solidFill>
                  <a:schemeClr val="tx1"/>
                </a:solidFill>
                <a:effectLst/>
                <a:latin typeface="+mn-lt"/>
                <a:ea typeface="+mn-ea"/>
                <a:cs typeface="+mn-cs"/>
              </a:rPr>
              <a:t>Most points lie close to the diagonal line.</a:t>
            </a:r>
          </a:p>
          <a:p>
            <a:pPr fontAlgn="t"/>
            <a:endParaRPr lang="" sz="1200" b="0" i="0" kern="1200">
              <a:solidFill>
                <a:schemeClr val="tx1"/>
              </a:solidFill>
              <a:effectLst/>
              <a:latin typeface="+mn-lt"/>
              <a:ea typeface="+mn-ea"/>
              <a:cs typeface="+mn-cs"/>
            </a:endParaRPr>
          </a:p>
          <a:p>
            <a:pPr fontAlgn="t"/>
            <a:r>
              <a:rPr lang="" sz="1200" b="1" i="0" kern="1200">
                <a:solidFill>
                  <a:schemeClr val="tx1"/>
                </a:solidFill>
                <a:effectLst/>
                <a:latin typeface="+mn-lt"/>
                <a:ea typeface="+mn-ea"/>
                <a:cs typeface="+mn-cs"/>
              </a:rPr>
              <a:t>Interpretation</a:t>
            </a:r>
          </a:p>
          <a:p>
            <a:pPr fontAlgn="t"/>
            <a:r>
              <a:rPr lang="" sz="1200" b="0" i="0" kern="1200">
                <a:solidFill>
                  <a:schemeClr val="tx1"/>
                </a:solidFill>
                <a:effectLst/>
                <a:latin typeface="+mn-lt"/>
                <a:ea typeface="+mn-ea"/>
                <a:cs typeface="+mn-cs"/>
              </a:rPr>
              <a:t>"The points follow the reference line reasonably well, suggesting that the GEV model provides an acceptable fit to the annual maxima."</a:t>
            </a:r>
          </a:p>
          <a:p>
            <a:endParaRPr lang="es-ES"/>
          </a:p>
          <a:p>
            <a:endParaRPr lang="es-ES"/>
          </a:p>
          <a:p>
            <a:pPr fontAlgn="t"/>
            <a:r>
              <a:rPr lang="" sz="1200" b="1" i="0" kern="1200">
                <a:solidFill>
                  <a:schemeClr val="tx1"/>
                </a:solidFill>
                <a:effectLst/>
                <a:latin typeface="+mn-lt"/>
                <a:ea typeface="+mn-ea"/>
                <a:cs typeface="+mn-cs"/>
              </a:rPr>
              <a:t>2. Quantile Plot (top right)</a:t>
            </a:r>
          </a:p>
          <a:p>
            <a:pPr fontAlgn="t"/>
            <a:r>
              <a:rPr lang="" sz="1200" b="1" i="0" kern="1200">
                <a:solidFill>
                  <a:schemeClr val="tx1"/>
                </a:solidFill>
                <a:effectLst/>
                <a:latin typeface="+mn-lt"/>
                <a:ea typeface="+mn-ea"/>
                <a:cs typeface="+mn-cs"/>
              </a:rPr>
              <a:t>What it shows</a:t>
            </a:r>
          </a:p>
          <a:p>
            <a:pPr fontAlgn="t"/>
            <a:r>
              <a:rPr lang="" sz="1200" b="0" i="0" kern="1200">
                <a:solidFill>
                  <a:schemeClr val="tx1"/>
                </a:solidFill>
                <a:effectLst/>
                <a:latin typeface="+mn-lt"/>
                <a:ea typeface="+mn-ea"/>
                <a:cs typeface="+mn-cs"/>
              </a:rPr>
              <a:t>Another way of comparing:</a:t>
            </a:r>
          </a:p>
          <a:p>
            <a:pPr lvl="0" fontAlgn="t"/>
            <a:r>
              <a:rPr lang="" sz="1200" b="0" i="0" kern="1200">
                <a:solidFill>
                  <a:schemeClr val="tx1"/>
                </a:solidFill>
                <a:effectLst/>
                <a:latin typeface="+mn-lt"/>
                <a:ea typeface="+mn-ea"/>
                <a:cs typeface="+mn-cs"/>
              </a:rPr>
              <a:t>observed values</a:t>
            </a:r>
          </a:p>
          <a:p>
            <a:pPr lvl="0" fontAlgn="t"/>
            <a:r>
              <a:rPr lang="" sz="1200" b="0" i="0" kern="1200">
                <a:solidFill>
                  <a:schemeClr val="tx1"/>
                </a:solidFill>
                <a:effectLst/>
                <a:latin typeface="+mn-lt"/>
                <a:ea typeface="+mn-ea"/>
                <a:cs typeface="+mn-cs"/>
              </a:rPr>
              <a:t>fitted GEV values</a:t>
            </a:r>
          </a:p>
          <a:p>
            <a:pPr fontAlgn="t"/>
            <a:endParaRPr lang="" sz="1200" b="0" i="0" kern="1200">
              <a:solidFill>
                <a:schemeClr val="tx1"/>
              </a:solidFill>
              <a:effectLst/>
              <a:latin typeface="+mn-lt"/>
              <a:ea typeface="+mn-ea"/>
              <a:cs typeface="+mn-cs"/>
            </a:endParaRPr>
          </a:p>
          <a:p>
            <a:pPr fontAlgn="t"/>
            <a:r>
              <a:rPr lang="" sz="1200" b="1" i="0" kern="1200">
                <a:solidFill>
                  <a:schemeClr val="tx1"/>
                </a:solidFill>
                <a:effectLst/>
                <a:latin typeface="+mn-lt"/>
                <a:ea typeface="+mn-ea"/>
                <a:cs typeface="+mn-cs"/>
              </a:rPr>
              <a:t>What we observe</a:t>
            </a:r>
          </a:p>
          <a:p>
            <a:pPr fontAlgn="t"/>
            <a:r>
              <a:rPr lang="" sz="1200" b="0" i="0" kern="1200">
                <a:solidFill>
                  <a:schemeClr val="tx1"/>
                </a:solidFill>
                <a:effectLst/>
                <a:latin typeface="+mn-lt"/>
                <a:ea typeface="+mn-ea"/>
                <a:cs typeface="+mn-cs"/>
              </a:rPr>
              <a:t>Most observations are close to the fitted line.</a:t>
            </a:r>
          </a:p>
          <a:p>
            <a:pPr fontAlgn="t"/>
            <a:r>
              <a:rPr lang="" sz="1200" b="0" i="0" kern="1200">
                <a:solidFill>
                  <a:schemeClr val="tx1"/>
                </a:solidFill>
                <a:effectLst/>
                <a:latin typeface="+mn-lt"/>
                <a:ea typeface="+mn-ea"/>
                <a:cs typeface="+mn-cs"/>
              </a:rPr>
              <a:t>Only the largest observations show slight departures.</a:t>
            </a:r>
          </a:p>
          <a:p>
            <a:pPr fontAlgn="t"/>
            <a:endParaRPr lang="" sz="1200" b="0" i="0" kern="1200">
              <a:solidFill>
                <a:schemeClr val="tx1"/>
              </a:solidFill>
              <a:effectLst/>
              <a:latin typeface="+mn-lt"/>
              <a:ea typeface="+mn-ea"/>
              <a:cs typeface="+mn-cs"/>
            </a:endParaRPr>
          </a:p>
          <a:p>
            <a:pPr fontAlgn="t"/>
            <a:r>
              <a:rPr lang="" sz="1200" b="1" i="0" kern="1200">
                <a:solidFill>
                  <a:schemeClr val="tx1"/>
                </a:solidFill>
                <a:effectLst/>
                <a:latin typeface="+mn-lt"/>
                <a:ea typeface="+mn-ea"/>
                <a:cs typeface="+mn-cs"/>
              </a:rPr>
              <a:t>Interpretation</a:t>
            </a:r>
          </a:p>
          <a:p>
            <a:pPr fontAlgn="t"/>
            <a:r>
              <a:rPr lang="" sz="1200" b="0" i="0" kern="1200">
                <a:solidFill>
                  <a:schemeClr val="tx1"/>
                </a:solidFill>
                <a:effectLst/>
                <a:latin typeface="+mn-lt"/>
                <a:ea typeface="+mn-ea"/>
                <a:cs typeface="+mn-cs"/>
              </a:rPr>
              <a:t>"The quantile plot indicates that the fitted model captures most of the annual maxima reasonably well, although small deviations are visible for the largest extremes.“</a:t>
            </a:r>
          </a:p>
          <a:p>
            <a:pPr fontAlgn="t"/>
            <a:endParaRPr lang="" sz="1200" b="0" i="0" kern="1200">
              <a:solidFill>
                <a:schemeClr val="tx1"/>
              </a:solidFill>
              <a:effectLst/>
              <a:latin typeface="+mn-lt"/>
              <a:ea typeface="+mn-ea"/>
              <a:cs typeface="+mn-cs"/>
            </a:endParaRPr>
          </a:p>
          <a:p>
            <a:pPr fontAlgn="t"/>
            <a:r>
              <a:rPr lang="" sz="1200" b="1" i="0" kern="1200">
                <a:solidFill>
                  <a:schemeClr val="tx1"/>
                </a:solidFill>
                <a:effectLst/>
                <a:latin typeface="+mn-lt"/>
                <a:ea typeface="+mn-ea"/>
                <a:cs typeface="+mn-cs"/>
              </a:rPr>
              <a:t>3. Return Level Plot (bottom left)</a:t>
            </a:r>
          </a:p>
          <a:p>
            <a:pPr fontAlgn="t"/>
            <a:r>
              <a:rPr lang="" sz="1200" b="1" i="0" kern="1200">
                <a:solidFill>
                  <a:schemeClr val="tx1"/>
                </a:solidFill>
                <a:effectLst/>
                <a:latin typeface="+mn-lt"/>
                <a:ea typeface="+mn-ea"/>
                <a:cs typeface="+mn-cs"/>
              </a:rPr>
              <a:t>What it shows</a:t>
            </a:r>
          </a:p>
          <a:p>
            <a:pPr fontAlgn="t"/>
            <a:r>
              <a:rPr lang="" sz="1200" b="0" i="0" kern="1200">
                <a:solidFill>
                  <a:schemeClr val="tx1"/>
                </a:solidFill>
                <a:effectLst/>
                <a:latin typeface="+mn-lt"/>
                <a:ea typeface="+mn-ea"/>
                <a:cs typeface="+mn-cs"/>
              </a:rPr>
              <a:t>This plot estimates future extreme temperatures associated with different return periods.</a:t>
            </a:r>
          </a:p>
          <a:p>
            <a:pPr fontAlgn="t"/>
            <a:endParaRPr lang="" sz="1200" b="0" i="0" kern="1200">
              <a:solidFill>
                <a:schemeClr val="tx1"/>
              </a:solidFill>
              <a:effectLst/>
              <a:latin typeface="+mn-lt"/>
              <a:ea typeface="+mn-ea"/>
              <a:cs typeface="+mn-cs"/>
            </a:endParaRPr>
          </a:p>
          <a:p>
            <a:pPr fontAlgn="t"/>
            <a:r>
              <a:rPr lang="" sz="1200" b="1" i="0" kern="1200">
                <a:solidFill>
                  <a:schemeClr val="tx1"/>
                </a:solidFill>
                <a:effectLst/>
                <a:latin typeface="+mn-lt"/>
                <a:ea typeface="+mn-ea"/>
                <a:cs typeface="+mn-cs"/>
              </a:rPr>
              <a:t>What we observe</a:t>
            </a:r>
          </a:p>
          <a:p>
            <a:pPr lvl="0" fontAlgn="t"/>
            <a:r>
              <a:rPr lang="" sz="1200" b="0" i="0" kern="1200">
                <a:solidFill>
                  <a:schemeClr val="tx1"/>
                </a:solidFill>
                <a:effectLst/>
                <a:latin typeface="+mn-lt"/>
                <a:ea typeface="+mn-ea"/>
                <a:cs typeface="+mn-cs"/>
              </a:rPr>
              <a:t>The points generally follow the model line.</a:t>
            </a:r>
          </a:p>
          <a:p>
            <a:pPr lvl="0" fontAlgn="t"/>
            <a:r>
              <a:rPr lang="" sz="1200" b="0" i="0" kern="1200">
                <a:solidFill>
                  <a:schemeClr val="tx1"/>
                </a:solidFill>
                <a:effectLst/>
                <a:latin typeface="+mn-lt"/>
                <a:ea typeface="+mn-ea"/>
                <a:cs typeface="+mn-cs"/>
              </a:rPr>
              <a:t>The uncertainty bands become wider for larger return periods.</a:t>
            </a:r>
          </a:p>
          <a:p>
            <a:pPr fontAlgn="t"/>
            <a:endParaRPr lang="" sz="1200" b="0" i="0" kern="1200">
              <a:solidFill>
                <a:schemeClr val="tx1"/>
              </a:solidFill>
              <a:effectLst/>
              <a:latin typeface="+mn-lt"/>
              <a:ea typeface="+mn-ea"/>
              <a:cs typeface="+mn-cs"/>
            </a:endParaRPr>
          </a:p>
          <a:p>
            <a:pPr fontAlgn="t"/>
            <a:r>
              <a:rPr lang="" sz="1200" b="1" i="0" kern="1200">
                <a:solidFill>
                  <a:schemeClr val="tx1"/>
                </a:solidFill>
                <a:effectLst/>
                <a:latin typeface="+mn-lt"/>
                <a:ea typeface="+mn-ea"/>
                <a:cs typeface="+mn-cs"/>
              </a:rPr>
              <a:t>Interpretation</a:t>
            </a:r>
          </a:p>
          <a:p>
            <a:pPr fontAlgn="t"/>
            <a:r>
              <a:rPr lang="" sz="1200" b="0" i="0" kern="1200">
                <a:solidFill>
                  <a:schemeClr val="tx1"/>
                </a:solidFill>
                <a:effectLst/>
                <a:latin typeface="+mn-lt"/>
                <a:ea typeface="+mn-ea"/>
                <a:cs typeface="+mn-cs"/>
              </a:rPr>
              <a:t>"The model fits the observed return levels reasonably well. However, uncertainty increases substantially for very long return periods.“</a:t>
            </a:r>
          </a:p>
          <a:p>
            <a:pPr fontAlgn="t"/>
            <a:endParaRPr lang="" sz="1200" b="0" i="0" kern="1200">
              <a:solidFill>
                <a:schemeClr val="tx1"/>
              </a:solidFill>
              <a:effectLst/>
              <a:latin typeface="+mn-lt"/>
              <a:ea typeface="+mn-ea"/>
              <a:cs typeface="+mn-cs"/>
            </a:endParaRPr>
          </a:p>
          <a:p>
            <a:pPr fontAlgn="t"/>
            <a:r>
              <a:rPr lang="" sz="1200" b="1" i="0" kern="1200">
                <a:solidFill>
                  <a:schemeClr val="tx1"/>
                </a:solidFill>
                <a:effectLst/>
                <a:latin typeface="+mn-lt"/>
                <a:ea typeface="+mn-ea"/>
                <a:cs typeface="+mn-cs"/>
              </a:rPr>
              <a:t>4. Density Plot (bottom right)</a:t>
            </a:r>
          </a:p>
          <a:p>
            <a:pPr fontAlgn="t"/>
            <a:r>
              <a:rPr lang="" sz="1200" b="1" i="0" kern="1200">
                <a:solidFill>
                  <a:schemeClr val="tx1"/>
                </a:solidFill>
                <a:effectLst/>
                <a:latin typeface="+mn-lt"/>
                <a:ea typeface="+mn-ea"/>
                <a:cs typeface="+mn-cs"/>
              </a:rPr>
              <a:t>What it shows</a:t>
            </a:r>
          </a:p>
          <a:p>
            <a:pPr fontAlgn="t"/>
            <a:r>
              <a:rPr lang="" sz="1200" b="0" i="0" kern="1200">
                <a:solidFill>
                  <a:schemeClr val="tx1"/>
                </a:solidFill>
                <a:effectLst/>
                <a:latin typeface="+mn-lt"/>
                <a:ea typeface="+mn-ea"/>
                <a:cs typeface="+mn-cs"/>
              </a:rPr>
              <a:t>The histogram of annual maxima together with the fitted GEV distribution.</a:t>
            </a:r>
          </a:p>
          <a:p>
            <a:pPr fontAlgn="t"/>
            <a:endParaRPr lang="" sz="1200" b="0" i="0" kern="1200">
              <a:solidFill>
                <a:schemeClr val="tx1"/>
              </a:solidFill>
              <a:effectLst/>
              <a:latin typeface="+mn-lt"/>
              <a:ea typeface="+mn-ea"/>
              <a:cs typeface="+mn-cs"/>
            </a:endParaRPr>
          </a:p>
          <a:p>
            <a:pPr fontAlgn="t"/>
            <a:r>
              <a:rPr lang="" sz="1200" b="1" i="0" kern="1200">
                <a:solidFill>
                  <a:schemeClr val="tx1"/>
                </a:solidFill>
                <a:effectLst/>
                <a:latin typeface="+mn-lt"/>
                <a:ea typeface="+mn-ea"/>
                <a:cs typeface="+mn-cs"/>
              </a:rPr>
              <a:t>What we observe</a:t>
            </a:r>
          </a:p>
          <a:p>
            <a:pPr fontAlgn="t"/>
            <a:r>
              <a:rPr lang="" sz="1200" b="0" i="0" kern="1200">
                <a:solidFill>
                  <a:schemeClr val="tx1"/>
                </a:solidFill>
                <a:effectLst/>
                <a:latin typeface="+mn-lt"/>
                <a:ea typeface="+mn-ea"/>
                <a:cs typeface="+mn-cs"/>
              </a:rPr>
              <a:t>The fitted curve follows the general shape of the observed data.</a:t>
            </a:r>
          </a:p>
          <a:p>
            <a:pPr fontAlgn="t"/>
            <a:endParaRPr lang="" sz="1200" b="0" i="0" kern="1200">
              <a:solidFill>
                <a:schemeClr val="tx1"/>
              </a:solidFill>
              <a:effectLst/>
              <a:latin typeface="+mn-lt"/>
              <a:ea typeface="+mn-ea"/>
              <a:cs typeface="+mn-cs"/>
            </a:endParaRPr>
          </a:p>
          <a:p>
            <a:pPr fontAlgn="t"/>
            <a:r>
              <a:rPr lang="" sz="1200" b="1" i="0" kern="1200">
                <a:solidFill>
                  <a:schemeClr val="tx1"/>
                </a:solidFill>
                <a:effectLst/>
                <a:latin typeface="+mn-lt"/>
                <a:ea typeface="+mn-ea"/>
                <a:cs typeface="+mn-cs"/>
              </a:rPr>
              <a:t>Interpretation</a:t>
            </a:r>
          </a:p>
          <a:p>
            <a:pPr fontAlgn="t"/>
            <a:r>
              <a:rPr lang="" sz="1200" b="0" i="0" kern="1200">
                <a:solidFill>
                  <a:schemeClr val="tx1"/>
                </a:solidFill>
                <a:effectLst/>
                <a:latin typeface="+mn-lt"/>
                <a:ea typeface="+mn-ea"/>
                <a:cs typeface="+mn-cs"/>
              </a:rPr>
              <a:t>"The fitted GEV distribution captures the overall distribution of annual maximum temperatures reasonably well."</a:t>
            </a:r>
          </a:p>
          <a:p>
            <a:pPr fontAlgn="t"/>
            <a:endParaRPr lang="" sz="1200" b="0" i="0" kern="1200">
              <a:solidFill>
                <a:schemeClr val="tx1"/>
              </a:solidFill>
              <a:effectLst/>
              <a:latin typeface="+mn-lt"/>
              <a:ea typeface="+mn-ea"/>
              <a:cs typeface="+mn-cs"/>
            </a:endParaRPr>
          </a:p>
          <a:p>
            <a:pPr fontAlgn="t"/>
            <a:endParaRPr lang="" sz="1200" b="0" i="0" kern="1200">
              <a:solidFill>
                <a:schemeClr val="tx1"/>
              </a:solidFill>
              <a:effectLst/>
              <a:latin typeface="+mn-lt"/>
              <a:ea typeface="+mn-ea"/>
              <a:cs typeface="+mn-cs"/>
            </a:endParaRPr>
          </a:p>
          <a:p>
            <a:endParaRPr lang="LID4096"/>
          </a:p>
        </p:txBody>
      </p:sp>
      <p:sp>
        <p:nvSpPr>
          <p:cNvPr id="4" name="Slide Number Placeholder 3"/>
          <p:cNvSpPr>
            <a:spLocks noGrp="1"/>
          </p:cNvSpPr>
          <p:nvPr>
            <p:ph type="sldNum" sz="quarter" idx="5"/>
          </p:nvPr>
        </p:nvSpPr>
        <p:spPr/>
        <p:txBody>
          <a:bodyPr/>
          <a:lstStyle/>
          <a:p>
            <a:fld id="{9ECA7A5F-4404-4915-99ED-40487D09A163}" type="slidenum">
              <a:rPr lang="LID4096" smtClean="0"/>
              <a:t>6</a:t>
            </a:fld>
            <a:endParaRPr lang="LID4096"/>
          </a:p>
        </p:txBody>
      </p:sp>
    </p:spTree>
    <p:extLst>
      <p:ext uri="{BB962C8B-B14F-4D97-AF65-F5344CB8AC3E}">
        <p14:creationId xmlns:p14="http://schemas.microsoft.com/office/powerpoint/2010/main" val="3809244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 sz="1200" b="0" i="0" kern="1200">
                <a:solidFill>
                  <a:schemeClr val="tx1"/>
                </a:solidFill>
                <a:effectLst/>
                <a:latin typeface="+mn-lt"/>
                <a:ea typeface="+mn-ea"/>
                <a:cs typeface="+mn-cs"/>
              </a:rPr>
              <a:t>A return level is the temperature that is expected to be exceeded, on average, once in a given number of years."</a:t>
            </a:r>
          </a:p>
          <a:p>
            <a:pPr fontAlgn="t"/>
            <a:r>
              <a:rPr lang="" sz="1200" b="0" i="0" kern="1200">
                <a:solidFill>
                  <a:schemeClr val="tx1"/>
                </a:solidFill>
                <a:effectLst/>
                <a:latin typeface="+mn-lt"/>
                <a:ea typeface="+mn-ea"/>
                <a:cs typeface="+mn-cs"/>
              </a:rPr>
              <a:t>Very important:</a:t>
            </a:r>
          </a:p>
          <a:p>
            <a:pPr fontAlgn="t"/>
            <a:r>
              <a:rPr lang="" sz="1200" b="0" i="0" kern="1200">
                <a:solidFill>
                  <a:schemeClr val="tx1"/>
                </a:solidFill>
                <a:effectLst/>
                <a:latin typeface="+mn-lt"/>
                <a:ea typeface="+mn-ea"/>
                <a:cs typeface="+mn-cs"/>
              </a:rPr>
              <a:t>This does </a:t>
            </a:r>
            <a:r>
              <a:rPr lang="" sz="1200" b="1" i="0" kern="1200">
                <a:solidFill>
                  <a:schemeClr val="tx1"/>
                </a:solidFill>
                <a:effectLst/>
                <a:latin typeface="+mn-lt"/>
                <a:ea typeface="+mn-ea"/>
                <a:cs typeface="+mn-cs"/>
              </a:rPr>
              <a:t>not</a:t>
            </a:r>
            <a:r>
              <a:rPr lang="" sz="1200" b="0" i="0" kern="1200">
                <a:solidFill>
                  <a:schemeClr val="tx1"/>
                </a:solidFill>
                <a:effectLst/>
                <a:latin typeface="+mn-lt"/>
                <a:ea typeface="+mn-ea"/>
                <a:cs typeface="+mn-cs"/>
              </a:rPr>
              <a:t> mean it will occur exactly once every 100 years.</a:t>
            </a:r>
          </a:p>
          <a:p>
            <a:pPr fontAlgn="t"/>
            <a:r>
              <a:rPr lang="" sz="1200" b="0" i="0" kern="1200">
                <a:solidFill>
                  <a:schemeClr val="tx1"/>
                </a:solidFill>
                <a:effectLst/>
                <a:latin typeface="+mn-lt"/>
                <a:ea typeface="+mn-ea"/>
                <a:cs typeface="+mn-cs"/>
              </a:rPr>
              <a:t>It means:</a:t>
            </a:r>
          </a:p>
          <a:p>
            <a:pPr fontAlgn="t"/>
            <a:r>
              <a:rPr lang="" sz="1200" b="0" i="0" kern="1200">
                <a:solidFill>
                  <a:schemeClr val="tx1"/>
                </a:solidFill>
                <a:effectLst/>
                <a:latin typeface="+mn-lt"/>
                <a:ea typeface="+mn-ea"/>
                <a:cs typeface="+mn-cs"/>
              </a:rPr>
              <a:t>"It has a very small probability of occurring in any given year."</a:t>
            </a:r>
          </a:p>
          <a:p>
            <a:endParaRPr lang="LID4096"/>
          </a:p>
        </p:txBody>
      </p:sp>
      <p:sp>
        <p:nvSpPr>
          <p:cNvPr id="4" name="Slide Number Placeholder 3"/>
          <p:cNvSpPr>
            <a:spLocks noGrp="1"/>
          </p:cNvSpPr>
          <p:nvPr>
            <p:ph type="sldNum" sz="quarter" idx="5"/>
          </p:nvPr>
        </p:nvSpPr>
        <p:spPr/>
        <p:txBody>
          <a:bodyPr/>
          <a:lstStyle/>
          <a:p>
            <a:fld id="{9ECA7A5F-4404-4915-99ED-40487D09A163}" type="slidenum">
              <a:rPr lang="LID4096" smtClean="0"/>
              <a:t>9</a:t>
            </a:fld>
            <a:endParaRPr lang="LID4096"/>
          </a:p>
        </p:txBody>
      </p:sp>
    </p:spTree>
    <p:extLst>
      <p:ext uri="{BB962C8B-B14F-4D97-AF65-F5344CB8AC3E}">
        <p14:creationId xmlns:p14="http://schemas.microsoft.com/office/powerpoint/2010/main" val="41478442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 sz="1200" b="0" i="0" kern="1200">
                <a:solidFill>
                  <a:schemeClr val="tx1"/>
                </a:solidFill>
                <a:effectLst/>
                <a:latin typeface="+mn-lt"/>
                <a:ea typeface="+mn-ea"/>
                <a:cs typeface="+mn-cs"/>
              </a:rPr>
              <a:t>The POT method only analyses temperatures above a high threshold.</a:t>
            </a:r>
          </a:p>
          <a:p>
            <a:pPr fontAlgn="t"/>
            <a:r>
              <a:rPr lang="" sz="1200" b="0" i="0" kern="1200">
                <a:solidFill>
                  <a:schemeClr val="tx1"/>
                </a:solidFill>
                <a:effectLst/>
                <a:latin typeface="+mn-lt"/>
                <a:ea typeface="+mn-ea"/>
                <a:cs typeface="+mn-cs"/>
              </a:rPr>
              <a:t>Therefore, we must first choose an appropriate threshold.</a:t>
            </a:r>
          </a:p>
          <a:p>
            <a:pPr fontAlgn="t"/>
            <a:br>
              <a:rPr lang="" sz="1200" b="0" i="0" kern="1200">
                <a:solidFill>
                  <a:schemeClr val="tx1"/>
                </a:solidFill>
                <a:effectLst/>
                <a:latin typeface="+mn-lt"/>
                <a:ea typeface="+mn-ea"/>
                <a:cs typeface="+mn-cs"/>
              </a:rPr>
            </a:br>
            <a:endParaRPr lang="" sz="1200" b="1" i="0" kern="1200">
              <a:solidFill>
                <a:schemeClr val="tx1"/>
              </a:solidFill>
              <a:effectLst/>
              <a:latin typeface="+mn-lt"/>
              <a:ea typeface="+mn-ea"/>
              <a:cs typeface="+mn-cs"/>
            </a:endParaRPr>
          </a:p>
          <a:p>
            <a:pPr fontAlgn="t"/>
            <a:r>
              <a:rPr lang="" sz="1200" b="1" i="0" kern="1200">
                <a:solidFill>
                  <a:schemeClr val="tx1"/>
                </a:solidFill>
                <a:effectLst/>
                <a:latin typeface="+mn-lt"/>
                <a:ea typeface="+mn-ea"/>
                <a:cs typeface="+mn-cs"/>
              </a:rPr>
              <a:t>What does it show?</a:t>
            </a:r>
          </a:p>
          <a:p>
            <a:pPr fontAlgn="t"/>
            <a:r>
              <a:rPr lang="" sz="1200" b="0" i="0" kern="1200">
                <a:solidFill>
                  <a:schemeClr val="tx1"/>
                </a:solidFill>
                <a:effectLst/>
                <a:latin typeface="+mn-lt"/>
                <a:ea typeface="+mn-ea"/>
                <a:cs typeface="+mn-cs"/>
              </a:rPr>
              <a:t>The plot helps identify a threshold above which the GPD model is likely to work well.</a:t>
            </a:r>
          </a:p>
          <a:p>
            <a:pPr fontAlgn="t"/>
            <a:endParaRPr lang="" sz="1200" b="0" i="0" kern="1200">
              <a:solidFill>
                <a:schemeClr val="tx1"/>
              </a:solidFill>
              <a:effectLst/>
              <a:latin typeface="+mn-lt"/>
              <a:ea typeface="+mn-ea"/>
              <a:cs typeface="+mn-cs"/>
            </a:endParaRPr>
          </a:p>
          <a:p>
            <a:pPr fontAlgn="t"/>
            <a:r>
              <a:rPr lang="" sz="1200" b="1" i="0" kern="1200">
                <a:solidFill>
                  <a:schemeClr val="tx1"/>
                </a:solidFill>
                <a:effectLst/>
                <a:latin typeface="+mn-lt"/>
                <a:ea typeface="+mn-ea"/>
                <a:cs typeface="+mn-cs"/>
              </a:rPr>
              <a:t>What we observe</a:t>
            </a:r>
          </a:p>
          <a:p>
            <a:pPr fontAlgn="t"/>
            <a:r>
              <a:rPr lang="" sz="1200" b="0" i="0" kern="1200">
                <a:solidFill>
                  <a:schemeClr val="tx1"/>
                </a:solidFill>
                <a:effectLst/>
                <a:latin typeface="+mn-lt"/>
                <a:ea typeface="+mn-ea"/>
                <a:cs typeface="+mn-cs"/>
              </a:rPr>
              <a:t>Around:</a:t>
            </a:r>
          </a:p>
          <a:p>
            <a:pPr fontAlgn="t"/>
            <a:r>
              <a:rPr lang="" sz="1200" b="0" i="0" kern="1200">
                <a:solidFill>
                  <a:schemeClr val="tx1"/>
                </a:solidFill>
                <a:effectLst/>
                <a:latin typeface="+mn-lt"/>
                <a:ea typeface="+mn-ea"/>
                <a:cs typeface="+mn-cs"/>
              </a:rPr>
              <a:t>22.645°C</a:t>
            </a:r>
          </a:p>
          <a:p>
            <a:pPr fontAlgn="t"/>
            <a:r>
              <a:rPr lang="" sz="1200" b="0" i="0" kern="1200">
                <a:solidFill>
                  <a:schemeClr val="tx1"/>
                </a:solidFill>
                <a:effectLst/>
                <a:latin typeface="+mn-lt"/>
                <a:ea typeface="+mn-ea"/>
                <a:cs typeface="+mn-cs"/>
              </a:rPr>
              <a:t>the plot appears reasonably stable.</a:t>
            </a:r>
          </a:p>
          <a:p>
            <a:pPr fontAlgn="t"/>
            <a:r>
              <a:rPr lang="" sz="1200" b="0" i="0" kern="1200">
                <a:solidFill>
                  <a:schemeClr val="tx1"/>
                </a:solidFill>
                <a:effectLst/>
                <a:latin typeface="+mn-lt"/>
                <a:ea typeface="+mn-ea"/>
                <a:cs typeface="+mn-cs"/>
              </a:rPr>
              <a:t>This is why you selected:</a:t>
            </a:r>
          </a:p>
          <a:p>
            <a:pPr fontAlgn="t"/>
            <a:r>
              <a:rPr lang="" sz="1200" b="0" i="0" kern="1200">
                <a:solidFill>
                  <a:schemeClr val="tx1"/>
                </a:solidFill>
                <a:effectLst/>
                <a:latin typeface="+mn-lt"/>
                <a:ea typeface="+mn-ea"/>
                <a:cs typeface="+mn-cs"/>
              </a:rPr>
              <a:t>u = 22.645°C</a:t>
            </a:r>
          </a:p>
          <a:p>
            <a:pPr fontAlgn="t"/>
            <a:endParaRPr lang="" sz="1200" b="0" i="0" kern="1200">
              <a:solidFill>
                <a:schemeClr val="tx1"/>
              </a:solidFill>
              <a:effectLst/>
              <a:latin typeface="+mn-lt"/>
              <a:ea typeface="+mn-ea"/>
              <a:cs typeface="+mn-cs"/>
            </a:endParaRPr>
          </a:p>
          <a:p>
            <a:pPr fontAlgn="t"/>
            <a:endParaRPr lang="" sz="1200" b="1" i="0" kern="1200">
              <a:solidFill>
                <a:schemeClr val="tx1"/>
              </a:solidFill>
              <a:effectLst/>
              <a:latin typeface="+mn-lt"/>
              <a:ea typeface="+mn-ea"/>
              <a:cs typeface="+mn-cs"/>
            </a:endParaRPr>
          </a:p>
          <a:p>
            <a:pPr fontAlgn="t"/>
            <a:r>
              <a:rPr lang="" sz="1200" b="0" i="0" kern="1200">
                <a:solidFill>
                  <a:schemeClr val="tx1"/>
                </a:solidFill>
                <a:effectLst/>
                <a:latin typeface="+mn-lt"/>
                <a:ea typeface="+mn-ea"/>
                <a:cs typeface="+mn-cs"/>
              </a:rPr>
              <a:t>The Mean Residual Life plot was used to help identify a suitable threshold for the POT analysis. A threshold of 22.645°C was selected because it provides a reasonable balance between model validity and sample size.</a:t>
            </a:r>
          </a:p>
          <a:p>
            <a:endParaRPr lang="LID4096"/>
          </a:p>
        </p:txBody>
      </p:sp>
      <p:sp>
        <p:nvSpPr>
          <p:cNvPr id="4" name="Slide Number Placeholder 3"/>
          <p:cNvSpPr>
            <a:spLocks noGrp="1"/>
          </p:cNvSpPr>
          <p:nvPr>
            <p:ph type="sldNum" sz="quarter" idx="5"/>
          </p:nvPr>
        </p:nvSpPr>
        <p:spPr/>
        <p:txBody>
          <a:bodyPr/>
          <a:lstStyle/>
          <a:p>
            <a:fld id="{9ECA7A5F-4404-4915-99ED-40487D09A163}" type="slidenum">
              <a:rPr lang="LID4096" smtClean="0"/>
              <a:t>10</a:t>
            </a:fld>
            <a:endParaRPr lang="LID4096"/>
          </a:p>
        </p:txBody>
      </p:sp>
    </p:spTree>
    <p:extLst>
      <p:ext uri="{BB962C8B-B14F-4D97-AF65-F5344CB8AC3E}">
        <p14:creationId xmlns:p14="http://schemas.microsoft.com/office/powerpoint/2010/main" val="23515072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 sz="1200" b="1" i="0" kern="1200">
                <a:solidFill>
                  <a:schemeClr val="tx1"/>
                </a:solidFill>
                <a:effectLst/>
                <a:latin typeface="+mn-lt"/>
                <a:ea typeface="+mn-ea"/>
                <a:cs typeface="+mn-cs"/>
              </a:rPr>
              <a:t>What is this slide doing?</a:t>
            </a:r>
          </a:p>
          <a:p>
            <a:pPr fontAlgn="t"/>
            <a:r>
              <a:rPr lang="" sz="1200" b="0" i="0" kern="1200">
                <a:solidFill>
                  <a:schemeClr val="tx1"/>
                </a:solidFill>
                <a:effectLst/>
                <a:latin typeface="+mn-lt"/>
                <a:ea typeface="+mn-ea"/>
                <a:cs typeface="+mn-cs"/>
              </a:rPr>
              <a:t>"This slide presents the estimated parameters of the Generalized Pareto Distribution (GPD), together with their confidence intervals."</a:t>
            </a:r>
          </a:p>
          <a:p>
            <a:pPr fontAlgn="t"/>
            <a:br>
              <a:rPr lang="" sz="1200" b="0" i="0" kern="1200">
                <a:solidFill>
                  <a:schemeClr val="tx1"/>
                </a:solidFill>
                <a:effectLst/>
                <a:latin typeface="+mn-lt"/>
                <a:ea typeface="+mn-ea"/>
                <a:cs typeface="+mn-cs"/>
              </a:rPr>
            </a:br>
            <a:endParaRPr lang="" sz="1200" b="0" i="0" kern="1200">
              <a:solidFill>
                <a:schemeClr val="tx1"/>
              </a:solidFill>
              <a:effectLst/>
              <a:latin typeface="+mn-lt"/>
              <a:ea typeface="+mn-ea"/>
              <a:cs typeface="+mn-cs"/>
            </a:endParaRPr>
          </a:p>
          <a:p>
            <a:pPr fontAlgn="t"/>
            <a:r>
              <a:rPr lang="" sz="1200" b="1" i="0" kern="1200">
                <a:solidFill>
                  <a:schemeClr val="tx1"/>
                </a:solidFill>
                <a:effectLst/>
                <a:latin typeface="+mn-lt"/>
                <a:ea typeface="+mn-ea"/>
                <a:cs typeface="+mn-cs"/>
              </a:rPr>
              <a:t>Scale Parameter (σ)</a:t>
            </a:r>
          </a:p>
          <a:p>
            <a:pPr fontAlgn="t"/>
            <a:r>
              <a:rPr lang="" sz="1200" b="1" i="0" kern="1200">
                <a:solidFill>
                  <a:schemeClr val="tx1"/>
                </a:solidFill>
                <a:effectLst/>
                <a:latin typeface="+mn-lt"/>
                <a:ea typeface="+mn-ea"/>
                <a:cs typeface="+mn-cs"/>
              </a:rPr>
              <a:t>Estimate</a:t>
            </a:r>
          </a:p>
          <a:p>
            <a:pPr fontAlgn="t"/>
            <a:r>
              <a:rPr lang="" sz="1200" b="0" i="0" kern="1200">
                <a:solidFill>
                  <a:schemeClr val="tx1"/>
                </a:solidFill>
                <a:effectLst/>
                <a:latin typeface="+mn-lt"/>
                <a:ea typeface="+mn-ea"/>
                <a:cs typeface="+mn-cs"/>
              </a:rPr>
              <a:t>σ = 2.45</a:t>
            </a:r>
          </a:p>
          <a:p>
            <a:pPr fontAlgn="t"/>
            <a:r>
              <a:rPr lang="" sz="1200" b="1" i="0" kern="1200">
                <a:solidFill>
                  <a:schemeClr val="tx1"/>
                </a:solidFill>
                <a:effectLst/>
                <a:latin typeface="+mn-lt"/>
                <a:ea typeface="+mn-ea"/>
                <a:cs typeface="+mn-cs"/>
              </a:rPr>
              <a:t>What does it mean?</a:t>
            </a:r>
          </a:p>
          <a:p>
            <a:pPr fontAlgn="t"/>
            <a:r>
              <a:rPr lang="" sz="1200" b="0" i="0" kern="1200">
                <a:solidFill>
                  <a:schemeClr val="tx1"/>
                </a:solidFill>
                <a:effectLst/>
                <a:latin typeface="+mn-lt"/>
                <a:ea typeface="+mn-ea"/>
                <a:cs typeface="+mn-cs"/>
              </a:rPr>
              <a:t>Don't use technical terms.</a:t>
            </a:r>
          </a:p>
          <a:p>
            <a:pPr fontAlgn="t"/>
            <a:r>
              <a:rPr lang="" sz="1200" b="0" i="0" kern="1200">
                <a:solidFill>
                  <a:schemeClr val="tx1"/>
                </a:solidFill>
                <a:effectLst/>
                <a:latin typeface="+mn-lt"/>
                <a:ea typeface="+mn-ea"/>
                <a:cs typeface="+mn-cs"/>
              </a:rPr>
              <a:t>Say:</a:t>
            </a:r>
          </a:p>
          <a:p>
            <a:pPr fontAlgn="t"/>
            <a:r>
              <a:rPr lang="" sz="1200" b="0" i="0" kern="1200">
                <a:solidFill>
                  <a:schemeClr val="tx1"/>
                </a:solidFill>
                <a:effectLst/>
                <a:latin typeface="+mn-lt"/>
                <a:ea typeface="+mn-ea"/>
                <a:cs typeface="+mn-cs"/>
              </a:rPr>
              <a:t>"The scale parameter measures how much the temperatures above the threshold vary."</a:t>
            </a:r>
          </a:p>
          <a:p>
            <a:pPr fontAlgn="t"/>
            <a:r>
              <a:rPr lang="" sz="1200" b="1" i="0" kern="1200">
                <a:solidFill>
                  <a:schemeClr val="tx1"/>
                </a:solidFill>
                <a:effectLst/>
                <a:latin typeface="+mn-lt"/>
                <a:ea typeface="+mn-ea"/>
                <a:cs typeface="+mn-cs"/>
              </a:rPr>
              <a:t>Interpretation</a:t>
            </a:r>
          </a:p>
          <a:p>
            <a:pPr fontAlgn="t"/>
            <a:r>
              <a:rPr lang="" sz="1200" b="0" i="0" kern="1200">
                <a:solidFill>
                  <a:schemeClr val="tx1"/>
                </a:solidFill>
                <a:effectLst/>
                <a:latin typeface="+mn-lt"/>
                <a:ea typeface="+mn-ea"/>
                <a:cs typeface="+mn-cs"/>
              </a:rPr>
              <a:t>"A value of 2.45 suggests that temperatures above the threshold show a moderate amount of variability."</a:t>
            </a:r>
          </a:p>
          <a:p>
            <a:pPr fontAlgn="t"/>
            <a:br>
              <a:rPr lang="" sz="1200" b="0" i="0" kern="1200">
                <a:solidFill>
                  <a:schemeClr val="tx1"/>
                </a:solidFill>
                <a:effectLst/>
                <a:latin typeface="+mn-lt"/>
                <a:ea typeface="+mn-ea"/>
                <a:cs typeface="+mn-cs"/>
              </a:rPr>
            </a:br>
            <a:endParaRPr lang="" sz="1200" b="0" i="0" kern="1200">
              <a:solidFill>
                <a:schemeClr val="tx1"/>
              </a:solidFill>
              <a:effectLst/>
              <a:latin typeface="+mn-lt"/>
              <a:ea typeface="+mn-ea"/>
              <a:cs typeface="+mn-cs"/>
            </a:endParaRPr>
          </a:p>
          <a:p>
            <a:pPr fontAlgn="t"/>
            <a:r>
              <a:rPr lang="" sz="1200" b="1" i="0" kern="1200">
                <a:solidFill>
                  <a:schemeClr val="tx1"/>
                </a:solidFill>
                <a:effectLst/>
                <a:latin typeface="+mn-lt"/>
                <a:ea typeface="+mn-ea"/>
                <a:cs typeface="+mn-cs"/>
              </a:rPr>
              <a:t>Shape Parameter (γ)</a:t>
            </a:r>
          </a:p>
          <a:p>
            <a:pPr fontAlgn="t"/>
            <a:r>
              <a:rPr lang="" sz="1200" b="1" i="0" kern="1200">
                <a:solidFill>
                  <a:schemeClr val="tx1"/>
                </a:solidFill>
                <a:effectLst/>
                <a:latin typeface="+mn-lt"/>
                <a:ea typeface="+mn-ea"/>
                <a:cs typeface="+mn-cs"/>
              </a:rPr>
              <a:t>Estimate</a:t>
            </a:r>
          </a:p>
          <a:p>
            <a:pPr fontAlgn="t"/>
            <a:r>
              <a:rPr lang="" sz="1200" b="0" i="0" kern="1200">
                <a:solidFill>
                  <a:schemeClr val="tx1"/>
                </a:solidFill>
                <a:effectLst/>
                <a:latin typeface="+mn-lt"/>
                <a:ea typeface="+mn-ea"/>
                <a:cs typeface="+mn-cs"/>
              </a:rPr>
              <a:t>γ = -0.1545</a:t>
            </a:r>
          </a:p>
          <a:p>
            <a:pPr fontAlgn="t"/>
            <a:r>
              <a:rPr lang="" sz="1200" b="1" i="0" kern="1200">
                <a:solidFill>
                  <a:schemeClr val="tx1"/>
                </a:solidFill>
                <a:effectLst/>
                <a:latin typeface="+mn-lt"/>
                <a:ea typeface="+mn-ea"/>
                <a:cs typeface="+mn-cs"/>
              </a:rPr>
              <a:t>What does it mean?</a:t>
            </a:r>
          </a:p>
          <a:p>
            <a:pPr fontAlgn="t"/>
            <a:r>
              <a:rPr lang="" sz="1200" b="0" i="0" kern="1200">
                <a:solidFill>
                  <a:schemeClr val="tx1"/>
                </a:solidFill>
                <a:effectLst/>
                <a:latin typeface="+mn-lt"/>
                <a:ea typeface="+mn-ea"/>
                <a:cs typeface="+mn-cs"/>
              </a:rPr>
              <a:t>This is the most important number.</a:t>
            </a:r>
          </a:p>
          <a:p>
            <a:pPr fontAlgn="t"/>
            <a:r>
              <a:rPr lang="" sz="1200" b="0" i="0" kern="1200">
                <a:solidFill>
                  <a:schemeClr val="tx1"/>
                </a:solidFill>
                <a:effectLst/>
                <a:latin typeface="+mn-lt"/>
                <a:ea typeface="+mn-ea"/>
                <a:cs typeface="+mn-cs"/>
              </a:rPr>
              <a:t>The shape parameter tells us about very extreme temperatures.</a:t>
            </a:r>
          </a:p>
          <a:p>
            <a:pPr fontAlgn="t"/>
            <a:r>
              <a:rPr lang="" sz="1200" b="0" i="0" kern="1200">
                <a:solidFill>
                  <a:schemeClr val="tx1"/>
                </a:solidFill>
                <a:effectLst/>
                <a:latin typeface="+mn-lt"/>
                <a:ea typeface="+mn-ea"/>
                <a:cs typeface="+mn-cs"/>
              </a:rPr>
              <a:t>Because the estimate is negative:</a:t>
            </a:r>
          </a:p>
          <a:p>
            <a:pPr fontAlgn="t"/>
            <a:r>
              <a:rPr lang="" sz="1200" b="0" i="0" kern="1200">
                <a:solidFill>
                  <a:schemeClr val="tx1"/>
                </a:solidFill>
                <a:effectLst/>
                <a:latin typeface="+mn-lt"/>
                <a:ea typeface="+mn-ea"/>
                <a:cs typeface="+mn-cs"/>
              </a:rPr>
              <a:t>"The negative shape parameter suggests there may be an upper limit to how large extreme temperatures can become."</a:t>
            </a:r>
          </a:p>
          <a:p>
            <a:pPr fontAlgn="t"/>
            <a:br>
              <a:rPr lang="" sz="1200" b="0" i="0" kern="1200">
                <a:solidFill>
                  <a:schemeClr val="tx1"/>
                </a:solidFill>
                <a:effectLst/>
                <a:latin typeface="+mn-lt"/>
                <a:ea typeface="+mn-ea"/>
                <a:cs typeface="+mn-cs"/>
              </a:rPr>
            </a:br>
            <a:endParaRPr lang="" sz="1200" b="0" i="0" kern="1200">
              <a:solidFill>
                <a:schemeClr val="tx1"/>
              </a:solidFill>
              <a:effectLst/>
              <a:latin typeface="+mn-lt"/>
              <a:ea typeface="+mn-ea"/>
              <a:cs typeface="+mn-cs"/>
            </a:endParaRPr>
          </a:p>
          <a:p>
            <a:pPr fontAlgn="t"/>
            <a:r>
              <a:rPr lang="" sz="1200" b="1" i="0" kern="1200">
                <a:solidFill>
                  <a:schemeClr val="tx1"/>
                </a:solidFill>
                <a:effectLst/>
                <a:latin typeface="+mn-lt"/>
                <a:ea typeface="+mn-ea"/>
                <a:cs typeface="+mn-cs"/>
              </a:rPr>
              <a:t>Confidence Interval</a:t>
            </a:r>
          </a:p>
          <a:p>
            <a:pPr fontAlgn="t"/>
            <a:r>
              <a:rPr lang="" sz="1200" b="0" i="0" kern="1200">
                <a:solidFill>
                  <a:schemeClr val="tx1"/>
                </a:solidFill>
                <a:effectLst/>
                <a:latin typeface="+mn-lt"/>
                <a:ea typeface="+mn-ea"/>
                <a:cs typeface="+mn-cs"/>
              </a:rPr>
              <a:t>Shape parameter CI:</a:t>
            </a:r>
          </a:p>
          <a:p>
            <a:pPr lvl="0" fontAlgn="t"/>
            <a:r>
              <a:rPr lang="" sz="1200" b="0" i="0" kern="1200">
                <a:solidFill>
                  <a:schemeClr val="tx1"/>
                </a:solidFill>
                <a:effectLst/>
                <a:latin typeface="+mn-lt"/>
                <a:ea typeface="+mn-ea"/>
                <a:cs typeface="+mn-cs"/>
              </a:rPr>
              <a:t>Lower = -0.233</a:t>
            </a:r>
          </a:p>
          <a:p>
            <a:pPr lvl="0" fontAlgn="t"/>
            <a:r>
              <a:rPr lang="" sz="1200" b="0" i="0" kern="1200">
                <a:solidFill>
                  <a:schemeClr val="tx1"/>
                </a:solidFill>
                <a:effectLst/>
                <a:latin typeface="+mn-lt"/>
                <a:ea typeface="+mn-ea"/>
                <a:cs typeface="+mn-cs"/>
              </a:rPr>
              <a:t>Upper = -0.076</a:t>
            </a:r>
          </a:p>
          <a:p>
            <a:pPr fontAlgn="t"/>
            <a:r>
              <a:rPr lang="" sz="1200" b="0" i="0" kern="1200">
                <a:solidFill>
                  <a:schemeClr val="tx1"/>
                </a:solidFill>
                <a:effectLst/>
                <a:latin typeface="+mn-lt"/>
                <a:ea typeface="+mn-ea"/>
                <a:cs typeface="+mn-cs"/>
              </a:rPr>
              <a:t>Important observation:</a:t>
            </a:r>
          </a:p>
          <a:p>
            <a:pPr fontAlgn="t"/>
            <a:r>
              <a:rPr lang="" sz="1200" b="0" i="0" kern="1200">
                <a:solidFill>
                  <a:schemeClr val="tx1"/>
                </a:solidFill>
                <a:effectLst/>
                <a:latin typeface="+mn-lt"/>
                <a:ea typeface="+mn-ea"/>
                <a:cs typeface="+mn-cs"/>
              </a:rPr>
              <a:t>Zero is </a:t>
            </a:r>
            <a:r>
              <a:rPr lang="" sz="1200" b="1" i="0" kern="1200">
                <a:solidFill>
                  <a:schemeClr val="tx1"/>
                </a:solidFill>
                <a:effectLst/>
                <a:latin typeface="+mn-lt"/>
                <a:ea typeface="+mn-ea"/>
                <a:cs typeface="+mn-cs"/>
              </a:rPr>
              <a:t>not</a:t>
            </a:r>
            <a:r>
              <a:rPr lang="" sz="1200" b="0" i="0" kern="1200">
                <a:solidFill>
                  <a:schemeClr val="tx1"/>
                </a:solidFill>
                <a:effectLst/>
                <a:latin typeface="+mn-lt"/>
                <a:ea typeface="+mn-ea"/>
                <a:cs typeface="+mn-cs"/>
              </a:rPr>
              <a:t> inside the interval.</a:t>
            </a:r>
          </a:p>
          <a:p>
            <a:pPr fontAlgn="t"/>
            <a:r>
              <a:rPr lang="" sz="1200" b="1" i="0" kern="1200">
                <a:solidFill>
                  <a:schemeClr val="tx1"/>
                </a:solidFill>
                <a:effectLst/>
                <a:latin typeface="+mn-lt"/>
                <a:ea typeface="+mn-ea"/>
                <a:cs typeface="+mn-cs"/>
              </a:rPr>
              <a:t>Interpretation</a:t>
            </a:r>
          </a:p>
          <a:p>
            <a:pPr fontAlgn="t"/>
            <a:r>
              <a:rPr lang="" sz="1200" b="0" i="0" kern="1200">
                <a:solidFill>
                  <a:schemeClr val="tx1"/>
                </a:solidFill>
                <a:effectLst/>
                <a:latin typeface="+mn-lt"/>
                <a:ea typeface="+mn-ea"/>
                <a:cs typeface="+mn-cs"/>
              </a:rPr>
              <a:t>"Because the confidence interval does not contain zero, the shape parameter appears to be significantly different from zero."</a:t>
            </a:r>
          </a:p>
          <a:p>
            <a:pPr fontAlgn="t"/>
            <a:br>
              <a:rPr lang="" sz="1200" b="0" i="0" kern="1200">
                <a:solidFill>
                  <a:schemeClr val="tx1"/>
                </a:solidFill>
                <a:effectLst/>
                <a:latin typeface="+mn-lt"/>
                <a:ea typeface="+mn-ea"/>
                <a:cs typeface="+mn-cs"/>
              </a:rPr>
            </a:br>
            <a:endParaRPr lang="" sz="1200" b="0" i="0" kern="1200">
              <a:solidFill>
                <a:schemeClr val="tx1"/>
              </a:solidFill>
              <a:effectLst/>
              <a:latin typeface="+mn-lt"/>
              <a:ea typeface="+mn-ea"/>
              <a:cs typeface="+mn-cs"/>
            </a:endParaRPr>
          </a:p>
          <a:p>
            <a:pPr fontAlgn="t"/>
            <a:r>
              <a:rPr lang="" sz="1200" b="1" i="0" kern="1200">
                <a:solidFill>
                  <a:schemeClr val="tx1"/>
                </a:solidFill>
                <a:effectLst/>
                <a:latin typeface="+mn-lt"/>
                <a:ea typeface="+mn-ea"/>
                <a:cs typeface="+mn-cs"/>
              </a:rPr>
              <a:t>Presentation Conclusion</a:t>
            </a:r>
          </a:p>
          <a:p>
            <a:pPr fontAlgn="t"/>
            <a:r>
              <a:rPr lang="" sz="1200" b="0" i="0" kern="1200">
                <a:solidFill>
                  <a:schemeClr val="tx1"/>
                </a:solidFill>
                <a:effectLst/>
                <a:latin typeface="+mn-lt"/>
                <a:ea typeface="+mn-ea"/>
                <a:cs typeface="+mn-cs"/>
              </a:rPr>
              <a:t>"The GPD model estimates a scale parameter of 2.45 and a shape parameter of -0.154. The confidence interval for the shape parameter does not include zero, suggesting evidence of a bounded upper tail.</a:t>
            </a:r>
          </a:p>
          <a:p>
            <a:endParaRPr lang="LID4096"/>
          </a:p>
        </p:txBody>
      </p:sp>
      <p:sp>
        <p:nvSpPr>
          <p:cNvPr id="4" name="Slide Number Placeholder 3"/>
          <p:cNvSpPr>
            <a:spLocks noGrp="1"/>
          </p:cNvSpPr>
          <p:nvPr>
            <p:ph type="sldNum" sz="quarter" idx="5"/>
          </p:nvPr>
        </p:nvSpPr>
        <p:spPr/>
        <p:txBody>
          <a:bodyPr/>
          <a:lstStyle/>
          <a:p>
            <a:fld id="{9ECA7A5F-4404-4915-99ED-40487D09A163}" type="slidenum">
              <a:rPr lang="LID4096" smtClean="0"/>
              <a:t>11</a:t>
            </a:fld>
            <a:endParaRPr lang="LID4096"/>
          </a:p>
        </p:txBody>
      </p:sp>
    </p:spTree>
    <p:extLst>
      <p:ext uri="{BB962C8B-B14F-4D97-AF65-F5344CB8AC3E}">
        <p14:creationId xmlns:p14="http://schemas.microsoft.com/office/powerpoint/2010/main" val="648001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 sz="1200" b="1" i="0" kern="1200">
                <a:solidFill>
                  <a:schemeClr val="tx1"/>
                </a:solidFill>
                <a:effectLst/>
                <a:latin typeface="+mn-lt"/>
                <a:ea typeface="+mn-ea"/>
                <a:cs typeface="+mn-cs"/>
              </a:rPr>
              <a:t>. Probability Plot (top left)</a:t>
            </a:r>
          </a:p>
          <a:p>
            <a:pPr fontAlgn="t"/>
            <a:r>
              <a:rPr lang="" sz="1200" b="1" i="0" kern="1200">
                <a:solidFill>
                  <a:schemeClr val="tx1"/>
                </a:solidFill>
                <a:effectLst/>
                <a:latin typeface="+mn-lt"/>
                <a:ea typeface="+mn-ea"/>
                <a:cs typeface="+mn-cs"/>
              </a:rPr>
              <a:t>What we observe</a:t>
            </a:r>
          </a:p>
          <a:p>
            <a:pPr fontAlgn="t"/>
            <a:r>
              <a:rPr lang="" sz="1200" b="0" i="0" kern="1200">
                <a:solidFill>
                  <a:schemeClr val="tx1"/>
                </a:solidFill>
                <a:effectLst/>
                <a:latin typeface="+mn-lt"/>
                <a:ea typeface="+mn-ea"/>
                <a:cs typeface="+mn-cs"/>
              </a:rPr>
              <a:t>Most points lie almost exactly on the diagonal line.</a:t>
            </a:r>
          </a:p>
          <a:p>
            <a:pPr fontAlgn="t"/>
            <a:r>
              <a:rPr lang="" sz="1200" b="1" i="0" kern="1200">
                <a:solidFill>
                  <a:schemeClr val="tx1"/>
                </a:solidFill>
                <a:effectLst/>
                <a:latin typeface="+mn-lt"/>
                <a:ea typeface="+mn-ea"/>
                <a:cs typeface="+mn-cs"/>
              </a:rPr>
              <a:t>Interpretation</a:t>
            </a:r>
          </a:p>
          <a:p>
            <a:pPr fontAlgn="t"/>
            <a:r>
              <a:rPr lang="" sz="1200" b="0" i="0" kern="1200">
                <a:solidFill>
                  <a:schemeClr val="tx1"/>
                </a:solidFill>
                <a:effectLst/>
                <a:latin typeface="+mn-lt"/>
                <a:ea typeface="+mn-ea"/>
                <a:cs typeface="+mn-cs"/>
              </a:rPr>
              <a:t>"The probability plot shows excellent agreement between the observed exceedances and the fitted GPD model."</a:t>
            </a:r>
          </a:p>
          <a:p>
            <a:pPr fontAlgn="t"/>
            <a:br>
              <a:rPr lang="" sz="1200" b="0" i="0" kern="1200">
                <a:solidFill>
                  <a:schemeClr val="tx1"/>
                </a:solidFill>
                <a:effectLst/>
                <a:latin typeface="+mn-lt"/>
                <a:ea typeface="+mn-ea"/>
                <a:cs typeface="+mn-cs"/>
              </a:rPr>
            </a:br>
            <a:endParaRPr lang="" sz="1200" b="0" i="0" kern="1200">
              <a:solidFill>
                <a:schemeClr val="tx1"/>
              </a:solidFill>
              <a:effectLst/>
              <a:latin typeface="+mn-lt"/>
              <a:ea typeface="+mn-ea"/>
              <a:cs typeface="+mn-cs"/>
            </a:endParaRPr>
          </a:p>
          <a:p>
            <a:pPr fontAlgn="t"/>
            <a:r>
              <a:rPr lang="" sz="1200" b="1" i="0" kern="1200">
                <a:solidFill>
                  <a:schemeClr val="tx1"/>
                </a:solidFill>
                <a:effectLst/>
                <a:latin typeface="+mn-lt"/>
                <a:ea typeface="+mn-ea"/>
                <a:cs typeface="+mn-cs"/>
              </a:rPr>
              <a:t>2. Quantile Plot (top right)</a:t>
            </a:r>
          </a:p>
          <a:p>
            <a:pPr fontAlgn="t"/>
            <a:r>
              <a:rPr lang="" sz="1200" b="1" i="0" kern="1200">
                <a:solidFill>
                  <a:schemeClr val="tx1"/>
                </a:solidFill>
                <a:effectLst/>
                <a:latin typeface="+mn-lt"/>
                <a:ea typeface="+mn-ea"/>
                <a:cs typeface="+mn-cs"/>
              </a:rPr>
              <a:t>What we observe</a:t>
            </a:r>
          </a:p>
          <a:p>
            <a:pPr fontAlgn="t"/>
            <a:r>
              <a:rPr lang="" sz="1200" b="0" i="0" kern="1200">
                <a:solidFill>
                  <a:schemeClr val="tx1"/>
                </a:solidFill>
                <a:effectLst/>
                <a:latin typeface="+mn-lt"/>
                <a:ea typeface="+mn-ea"/>
                <a:cs typeface="+mn-cs"/>
              </a:rPr>
              <a:t>The points closely follow the reference line.</a:t>
            </a:r>
          </a:p>
          <a:p>
            <a:pPr fontAlgn="t"/>
            <a:r>
              <a:rPr lang="" sz="1200" b="0" i="0" kern="1200">
                <a:solidFill>
                  <a:schemeClr val="tx1"/>
                </a:solidFill>
                <a:effectLst/>
                <a:latin typeface="+mn-lt"/>
                <a:ea typeface="+mn-ea"/>
                <a:cs typeface="+mn-cs"/>
              </a:rPr>
              <a:t>Only the most extreme values show small departures.</a:t>
            </a:r>
          </a:p>
          <a:p>
            <a:pPr fontAlgn="t"/>
            <a:r>
              <a:rPr lang="" sz="1200" b="1" i="0" kern="1200">
                <a:solidFill>
                  <a:schemeClr val="tx1"/>
                </a:solidFill>
                <a:effectLst/>
                <a:latin typeface="+mn-lt"/>
                <a:ea typeface="+mn-ea"/>
                <a:cs typeface="+mn-cs"/>
              </a:rPr>
              <a:t>Interpretation</a:t>
            </a:r>
          </a:p>
          <a:p>
            <a:pPr fontAlgn="t"/>
            <a:r>
              <a:rPr lang="" sz="1200" b="0" i="0" kern="1200">
                <a:solidFill>
                  <a:schemeClr val="tx1"/>
                </a:solidFill>
                <a:effectLst/>
                <a:latin typeface="+mn-lt"/>
                <a:ea typeface="+mn-ea"/>
                <a:cs typeface="+mn-cs"/>
              </a:rPr>
              <a:t>"The quantile plot indicates that the fitted GPD distribution describes the exceedances very well."</a:t>
            </a:r>
          </a:p>
          <a:p>
            <a:pPr fontAlgn="t"/>
            <a:br>
              <a:rPr lang="" sz="1200" b="0" i="0" kern="1200">
                <a:solidFill>
                  <a:schemeClr val="tx1"/>
                </a:solidFill>
                <a:effectLst/>
                <a:latin typeface="+mn-lt"/>
                <a:ea typeface="+mn-ea"/>
                <a:cs typeface="+mn-cs"/>
              </a:rPr>
            </a:br>
            <a:endParaRPr lang="" sz="1200" b="0" i="0" kern="1200">
              <a:solidFill>
                <a:schemeClr val="tx1"/>
              </a:solidFill>
              <a:effectLst/>
              <a:latin typeface="+mn-lt"/>
              <a:ea typeface="+mn-ea"/>
              <a:cs typeface="+mn-cs"/>
            </a:endParaRPr>
          </a:p>
          <a:p>
            <a:pPr fontAlgn="t"/>
            <a:r>
              <a:rPr lang="" sz="1200" b="1" i="0" kern="1200">
                <a:solidFill>
                  <a:schemeClr val="tx1"/>
                </a:solidFill>
                <a:effectLst/>
                <a:latin typeface="+mn-lt"/>
                <a:ea typeface="+mn-ea"/>
                <a:cs typeface="+mn-cs"/>
              </a:rPr>
              <a:t>3. Return Level Plot (bottom left)</a:t>
            </a:r>
          </a:p>
          <a:p>
            <a:pPr fontAlgn="t"/>
            <a:r>
              <a:rPr lang="" sz="1200" b="1" i="0" kern="1200">
                <a:solidFill>
                  <a:schemeClr val="tx1"/>
                </a:solidFill>
                <a:effectLst/>
                <a:latin typeface="+mn-lt"/>
                <a:ea typeface="+mn-ea"/>
                <a:cs typeface="+mn-cs"/>
              </a:rPr>
              <a:t>What we observe</a:t>
            </a:r>
          </a:p>
          <a:p>
            <a:pPr fontAlgn="t"/>
            <a:r>
              <a:rPr lang="" sz="1200" b="0" i="0" kern="1200">
                <a:solidFill>
                  <a:schemeClr val="tx1"/>
                </a:solidFill>
                <a:effectLst/>
                <a:latin typeface="+mn-lt"/>
                <a:ea typeface="+mn-ea"/>
                <a:cs typeface="+mn-cs"/>
              </a:rPr>
              <a:t>The points generally follow the fitted curve.</a:t>
            </a:r>
          </a:p>
          <a:p>
            <a:pPr fontAlgn="t"/>
            <a:r>
              <a:rPr lang="" sz="1200" b="0" i="0" kern="1200">
                <a:solidFill>
                  <a:schemeClr val="tx1"/>
                </a:solidFill>
                <a:effectLst/>
                <a:latin typeface="+mn-lt"/>
                <a:ea typeface="+mn-ea"/>
                <a:cs typeface="+mn-cs"/>
              </a:rPr>
              <a:t>The confidence bands widen as we move to larger return periods.</a:t>
            </a:r>
          </a:p>
          <a:p>
            <a:pPr fontAlgn="t"/>
            <a:r>
              <a:rPr lang="" sz="1200" b="1" i="0" kern="1200">
                <a:solidFill>
                  <a:schemeClr val="tx1"/>
                </a:solidFill>
                <a:effectLst/>
                <a:latin typeface="+mn-lt"/>
                <a:ea typeface="+mn-ea"/>
                <a:cs typeface="+mn-cs"/>
              </a:rPr>
              <a:t>Interpretation</a:t>
            </a:r>
          </a:p>
          <a:p>
            <a:pPr fontAlgn="t"/>
            <a:r>
              <a:rPr lang="" sz="1200" b="0" i="0" kern="1200">
                <a:solidFill>
                  <a:schemeClr val="tx1"/>
                </a:solidFill>
                <a:effectLst/>
                <a:latin typeface="+mn-lt"/>
                <a:ea typeface="+mn-ea"/>
                <a:cs typeface="+mn-cs"/>
              </a:rPr>
              <a:t>"The model fits the observed return levels well. However, uncertainty increases for very long return periods."</a:t>
            </a:r>
          </a:p>
          <a:p>
            <a:pPr fontAlgn="t"/>
            <a:br>
              <a:rPr lang="" sz="1200" b="0" i="0" kern="1200">
                <a:solidFill>
                  <a:schemeClr val="tx1"/>
                </a:solidFill>
                <a:effectLst/>
                <a:latin typeface="+mn-lt"/>
                <a:ea typeface="+mn-ea"/>
                <a:cs typeface="+mn-cs"/>
              </a:rPr>
            </a:br>
            <a:endParaRPr lang="" sz="1200" b="0" i="0" kern="1200">
              <a:solidFill>
                <a:schemeClr val="tx1"/>
              </a:solidFill>
              <a:effectLst/>
              <a:latin typeface="+mn-lt"/>
              <a:ea typeface="+mn-ea"/>
              <a:cs typeface="+mn-cs"/>
            </a:endParaRPr>
          </a:p>
          <a:p>
            <a:pPr fontAlgn="t"/>
            <a:r>
              <a:rPr lang="" sz="1200" b="1" i="0" kern="1200">
                <a:solidFill>
                  <a:schemeClr val="tx1"/>
                </a:solidFill>
                <a:effectLst/>
                <a:latin typeface="+mn-lt"/>
                <a:ea typeface="+mn-ea"/>
                <a:cs typeface="+mn-cs"/>
              </a:rPr>
              <a:t>Why?</a:t>
            </a:r>
          </a:p>
          <a:p>
            <a:pPr fontAlgn="t"/>
            <a:r>
              <a:rPr lang="" sz="1200" b="0" i="0" kern="1200">
                <a:solidFill>
                  <a:schemeClr val="tx1"/>
                </a:solidFill>
                <a:effectLst/>
                <a:latin typeface="+mn-lt"/>
                <a:ea typeface="+mn-ea"/>
                <a:cs typeface="+mn-cs"/>
              </a:rPr>
              <a:t>You can say:</a:t>
            </a:r>
          </a:p>
          <a:p>
            <a:pPr fontAlgn="t"/>
            <a:r>
              <a:rPr lang="" sz="1200" b="0" i="0" kern="1200">
                <a:solidFill>
                  <a:schemeClr val="tx1"/>
                </a:solidFill>
                <a:effectLst/>
                <a:latin typeface="+mn-lt"/>
                <a:ea typeface="+mn-ea"/>
                <a:cs typeface="+mn-cs"/>
              </a:rPr>
              <a:t>"Very extreme events are rare, so there is naturally more uncertainty when predicting 500-year or 1000-year events."</a:t>
            </a:r>
          </a:p>
          <a:p>
            <a:pPr fontAlgn="t"/>
            <a:br>
              <a:rPr lang="" sz="1200" b="0" i="0" kern="1200">
                <a:solidFill>
                  <a:schemeClr val="tx1"/>
                </a:solidFill>
                <a:effectLst/>
                <a:latin typeface="+mn-lt"/>
                <a:ea typeface="+mn-ea"/>
                <a:cs typeface="+mn-cs"/>
              </a:rPr>
            </a:br>
            <a:endParaRPr lang="" sz="1200" b="0" i="0" kern="1200">
              <a:solidFill>
                <a:schemeClr val="tx1"/>
              </a:solidFill>
              <a:effectLst/>
              <a:latin typeface="+mn-lt"/>
              <a:ea typeface="+mn-ea"/>
              <a:cs typeface="+mn-cs"/>
            </a:endParaRPr>
          </a:p>
          <a:p>
            <a:pPr fontAlgn="t"/>
            <a:r>
              <a:rPr lang="" sz="1200" b="1" i="0" kern="1200">
                <a:solidFill>
                  <a:schemeClr val="tx1"/>
                </a:solidFill>
                <a:effectLst/>
                <a:latin typeface="+mn-lt"/>
                <a:ea typeface="+mn-ea"/>
                <a:cs typeface="+mn-cs"/>
              </a:rPr>
              <a:t>4. Density Plot (bottom right)</a:t>
            </a:r>
          </a:p>
          <a:p>
            <a:pPr fontAlgn="t"/>
            <a:r>
              <a:rPr lang="" sz="1200" b="1" i="0" kern="1200">
                <a:solidFill>
                  <a:schemeClr val="tx1"/>
                </a:solidFill>
                <a:effectLst/>
                <a:latin typeface="+mn-lt"/>
                <a:ea typeface="+mn-ea"/>
                <a:cs typeface="+mn-cs"/>
              </a:rPr>
              <a:t>What we observe</a:t>
            </a:r>
          </a:p>
          <a:p>
            <a:pPr fontAlgn="t"/>
            <a:r>
              <a:rPr lang="" sz="1200" b="0" i="0" kern="1200">
                <a:solidFill>
                  <a:schemeClr val="tx1"/>
                </a:solidFill>
                <a:effectLst/>
                <a:latin typeface="+mn-lt"/>
                <a:ea typeface="+mn-ea"/>
                <a:cs typeface="+mn-cs"/>
              </a:rPr>
              <a:t>The fitted curve follows the shape of the histogram reasonably well.</a:t>
            </a:r>
          </a:p>
          <a:p>
            <a:pPr fontAlgn="t"/>
            <a:r>
              <a:rPr lang="" sz="1200" b="1" i="0" kern="1200">
                <a:solidFill>
                  <a:schemeClr val="tx1"/>
                </a:solidFill>
                <a:effectLst/>
                <a:latin typeface="+mn-lt"/>
                <a:ea typeface="+mn-ea"/>
                <a:cs typeface="+mn-cs"/>
              </a:rPr>
              <a:t>Interpretation</a:t>
            </a:r>
          </a:p>
          <a:p>
            <a:pPr fontAlgn="t"/>
            <a:r>
              <a:rPr lang="" sz="1200" b="0" i="0" kern="1200">
                <a:solidFill>
                  <a:schemeClr val="tx1"/>
                </a:solidFill>
                <a:effectLst/>
                <a:latin typeface="+mn-lt"/>
                <a:ea typeface="+mn-ea"/>
                <a:cs typeface="+mn-cs"/>
              </a:rPr>
              <a:t>"The fitted GPD distribution captures the overall pattern of the threshold exceedances."</a:t>
            </a:r>
          </a:p>
          <a:p>
            <a:pPr fontAlgn="t"/>
            <a:br>
              <a:rPr lang="" sz="1200" b="0" i="0" kern="1200">
                <a:solidFill>
                  <a:schemeClr val="tx1"/>
                </a:solidFill>
                <a:effectLst/>
                <a:latin typeface="+mn-lt"/>
                <a:ea typeface="+mn-ea"/>
                <a:cs typeface="+mn-cs"/>
              </a:rPr>
            </a:br>
            <a:endParaRPr lang="" sz="1200" b="0" i="0" kern="1200">
              <a:solidFill>
                <a:schemeClr val="tx1"/>
              </a:solidFill>
              <a:effectLst/>
              <a:latin typeface="+mn-lt"/>
              <a:ea typeface="+mn-ea"/>
              <a:cs typeface="+mn-cs"/>
            </a:endParaRPr>
          </a:p>
          <a:p>
            <a:pPr fontAlgn="t"/>
            <a:r>
              <a:rPr lang="" sz="1200" b="1" i="0" kern="1200">
                <a:solidFill>
                  <a:schemeClr val="tx1"/>
                </a:solidFill>
                <a:effectLst/>
                <a:latin typeface="+mn-lt"/>
                <a:ea typeface="+mn-ea"/>
                <a:cs typeface="+mn-cs"/>
              </a:rPr>
              <a:t>Overall Conclusion for the Diagnostic Slide</a:t>
            </a:r>
          </a:p>
          <a:p>
            <a:pPr fontAlgn="t"/>
            <a:r>
              <a:rPr lang="" sz="1200" b="0" i="0" kern="1200">
                <a:solidFill>
                  <a:schemeClr val="tx1"/>
                </a:solidFill>
                <a:effectLst/>
                <a:latin typeface="+mn-lt"/>
                <a:ea typeface="+mn-ea"/>
                <a:cs typeface="+mn-cs"/>
              </a:rPr>
              <a:t>This is probably the sentence you should say:</a:t>
            </a:r>
          </a:p>
          <a:p>
            <a:pPr fontAlgn="t"/>
            <a:r>
              <a:rPr lang="" sz="1200" b="0" i="0" kern="1200">
                <a:solidFill>
                  <a:schemeClr val="tx1"/>
                </a:solidFill>
                <a:effectLst/>
                <a:latin typeface="+mn-lt"/>
                <a:ea typeface="+mn-ea"/>
                <a:cs typeface="+mn-cs"/>
              </a:rPr>
              <a:t>"All four diagnostic plots suggest that the GPD model provides a satisfactory description of temperatures exceeding the selected threshold."</a:t>
            </a:r>
          </a:p>
          <a:p>
            <a:pPr fontAlgn="t"/>
            <a:r>
              <a:rPr lang="" sz="1200" b="0" i="0" kern="1200">
                <a:solidFill>
                  <a:schemeClr val="tx1"/>
                </a:solidFill>
                <a:effectLst/>
                <a:latin typeface="+mn-lt"/>
                <a:ea typeface="+mn-ea"/>
                <a:cs typeface="+mn-cs"/>
              </a:rPr>
              <a:t>That sentence alone answers your teacher's requirement.</a:t>
            </a:r>
          </a:p>
          <a:p>
            <a:pPr fontAlgn="t"/>
            <a:br>
              <a:rPr lang="" sz="1200" b="0" i="0" kern="1200">
                <a:solidFill>
                  <a:schemeClr val="tx1"/>
                </a:solidFill>
                <a:effectLst/>
                <a:latin typeface="+mn-lt"/>
                <a:ea typeface="+mn-ea"/>
                <a:cs typeface="+mn-cs"/>
              </a:rPr>
            </a:br>
            <a:endParaRPr lang="" sz="1200" b="0" i="0" kern="1200">
              <a:solidFill>
                <a:schemeClr val="tx1"/>
              </a:solidFill>
              <a:effectLst/>
              <a:latin typeface="+mn-lt"/>
              <a:ea typeface="+mn-ea"/>
              <a:cs typeface="+mn-cs"/>
            </a:endParaRPr>
          </a:p>
          <a:p>
            <a:pPr fontAlgn="t"/>
            <a:r>
              <a:rPr lang="" sz="1200" b="1" i="0" kern="1200">
                <a:solidFill>
                  <a:schemeClr val="tx1"/>
                </a:solidFill>
                <a:effectLst/>
                <a:latin typeface="+mn-lt"/>
                <a:ea typeface="+mn-ea"/>
                <a:cs typeface="+mn-cs"/>
              </a:rPr>
              <a:t>Very Short Presentation Version</a:t>
            </a:r>
          </a:p>
          <a:p>
            <a:pPr fontAlgn="t"/>
            <a:r>
              <a:rPr lang="" sz="1200" b="1" i="0" kern="1200">
                <a:solidFill>
                  <a:schemeClr val="tx1"/>
                </a:solidFill>
                <a:effectLst/>
                <a:latin typeface="+mn-lt"/>
                <a:ea typeface="+mn-ea"/>
                <a:cs typeface="+mn-cs"/>
              </a:rPr>
              <a:t>Slide 10</a:t>
            </a:r>
          </a:p>
          <a:p>
            <a:pPr fontAlgn="t"/>
            <a:r>
              <a:rPr lang="" sz="1200" b="0" i="0" kern="1200">
                <a:solidFill>
                  <a:schemeClr val="tx1"/>
                </a:solidFill>
                <a:effectLst/>
                <a:latin typeface="+mn-lt"/>
                <a:ea typeface="+mn-ea"/>
                <a:cs typeface="+mn-cs"/>
              </a:rPr>
              <a:t>"The fitted GPD model produced a scale estimate of 2.45 and a shape estimate of -0.154. The confidence interval for the shape parameter does not include zero, suggesting evidence of a bounded upper tail."</a:t>
            </a:r>
          </a:p>
          <a:p>
            <a:pPr fontAlgn="t"/>
            <a:br>
              <a:rPr lang="" sz="1200" b="0" i="0" kern="1200">
                <a:solidFill>
                  <a:schemeClr val="tx1"/>
                </a:solidFill>
                <a:effectLst/>
                <a:latin typeface="+mn-lt"/>
                <a:ea typeface="+mn-ea"/>
                <a:cs typeface="+mn-cs"/>
              </a:rPr>
            </a:br>
            <a:endParaRPr lang="" sz="1200" b="0" i="0" kern="1200">
              <a:solidFill>
                <a:schemeClr val="tx1"/>
              </a:solidFill>
              <a:effectLst/>
              <a:latin typeface="+mn-lt"/>
              <a:ea typeface="+mn-ea"/>
              <a:cs typeface="+mn-cs"/>
            </a:endParaRPr>
          </a:p>
          <a:p>
            <a:pPr fontAlgn="t"/>
            <a:r>
              <a:rPr lang="" sz="1200" b="1" i="0" kern="1200">
                <a:solidFill>
                  <a:schemeClr val="tx1"/>
                </a:solidFill>
                <a:effectLst/>
                <a:latin typeface="+mn-lt"/>
                <a:ea typeface="+mn-ea"/>
                <a:cs typeface="+mn-cs"/>
              </a:rPr>
              <a:t>Slide 11</a:t>
            </a:r>
          </a:p>
          <a:p>
            <a:pPr fontAlgn="t"/>
            <a:r>
              <a:rPr lang="" sz="1200" b="0" i="0" kern="1200">
                <a:solidFill>
                  <a:schemeClr val="tx1"/>
                </a:solidFill>
                <a:effectLst/>
                <a:latin typeface="+mn-lt"/>
                <a:ea typeface="+mn-ea"/>
                <a:cs typeface="+mn-cs"/>
              </a:rPr>
              <a:t>"The shape parameter test produced a p-value of 0.00011, which is less than 0.05. Therefore, we reject the null hypothesis and conclude that the shape parameter differs significantly from zero. This result differs from the GEV analysis, likely because the POT approach uses many more extreme observations."</a:t>
            </a:r>
          </a:p>
          <a:p>
            <a:pPr fontAlgn="t"/>
            <a:br>
              <a:rPr lang="" sz="1200" b="0" i="0" kern="1200">
                <a:solidFill>
                  <a:schemeClr val="tx1"/>
                </a:solidFill>
                <a:effectLst/>
                <a:latin typeface="+mn-lt"/>
                <a:ea typeface="+mn-ea"/>
                <a:cs typeface="+mn-cs"/>
              </a:rPr>
            </a:br>
            <a:endParaRPr lang="" sz="1200" b="0" i="0" kern="1200">
              <a:solidFill>
                <a:schemeClr val="tx1"/>
              </a:solidFill>
              <a:effectLst/>
              <a:latin typeface="+mn-lt"/>
              <a:ea typeface="+mn-ea"/>
              <a:cs typeface="+mn-cs"/>
            </a:endParaRPr>
          </a:p>
          <a:p>
            <a:pPr fontAlgn="t"/>
            <a:r>
              <a:rPr lang="" sz="1200" b="1" i="0" kern="1200">
                <a:solidFill>
                  <a:schemeClr val="tx1"/>
                </a:solidFill>
                <a:effectLst/>
                <a:latin typeface="+mn-lt"/>
                <a:ea typeface="+mn-ea"/>
                <a:cs typeface="+mn-cs"/>
              </a:rPr>
              <a:t>Slide 12</a:t>
            </a:r>
          </a:p>
          <a:p>
            <a:pPr fontAlgn="t"/>
            <a:r>
              <a:rPr lang="" sz="1200" b="0" i="0" kern="1200">
                <a:solidFill>
                  <a:schemeClr val="tx1"/>
                </a:solidFill>
                <a:effectLst/>
                <a:latin typeface="+mn-lt"/>
                <a:ea typeface="+mn-ea"/>
                <a:cs typeface="+mn-cs"/>
              </a:rPr>
              <a:t>"The diagnostic plots indicate that the GPD model fits the exceedances well. Most points follow the reference lines closely, and the fitted distribution captures the overall shape of the observed data. The uncertainty becomes larger for very long return periods, which is expected when analysing rare events."</a:t>
            </a:r>
          </a:p>
          <a:p>
            <a:pPr fontAlgn="t"/>
            <a:r>
              <a:rPr lang="" sz="1200" b="0" i="0" kern="1200">
                <a:solidFill>
                  <a:schemeClr val="tx1"/>
                </a:solidFill>
                <a:effectLst/>
                <a:latin typeface="+mn-lt"/>
                <a:ea typeface="+mn-ea"/>
                <a:cs typeface="+mn-cs"/>
              </a:rPr>
              <a:t>One thing your lecturer may like if you mention it:</a:t>
            </a:r>
          </a:p>
          <a:p>
            <a:pPr fontAlgn="t"/>
            <a:r>
              <a:rPr lang="" sz="1200" b="0" i="0" kern="1200">
                <a:solidFill>
                  <a:schemeClr val="tx1"/>
                </a:solidFill>
                <a:effectLst/>
                <a:latin typeface="+mn-lt"/>
                <a:ea typeface="+mn-ea"/>
                <a:cs typeface="+mn-cs"/>
              </a:rPr>
              <a:t>"The GPD diagnostics actually look slightly stronger than the GEV diagnostics because the POT method uses 454 exceedances instead of only 25 annual maxima."</a:t>
            </a:r>
          </a:p>
          <a:p>
            <a:endParaRPr lang="LID4096"/>
          </a:p>
        </p:txBody>
      </p:sp>
      <p:sp>
        <p:nvSpPr>
          <p:cNvPr id="4" name="Slide Number Placeholder 3"/>
          <p:cNvSpPr>
            <a:spLocks noGrp="1"/>
          </p:cNvSpPr>
          <p:nvPr>
            <p:ph type="sldNum" sz="quarter" idx="5"/>
          </p:nvPr>
        </p:nvSpPr>
        <p:spPr/>
        <p:txBody>
          <a:bodyPr/>
          <a:lstStyle/>
          <a:p>
            <a:fld id="{9ECA7A5F-4404-4915-99ED-40487D09A163}" type="slidenum">
              <a:rPr lang="LID4096" smtClean="0"/>
              <a:t>12</a:t>
            </a:fld>
            <a:endParaRPr lang="LID4096"/>
          </a:p>
        </p:txBody>
      </p:sp>
    </p:spTree>
    <p:extLst>
      <p:ext uri="{BB962C8B-B14F-4D97-AF65-F5344CB8AC3E}">
        <p14:creationId xmlns:p14="http://schemas.microsoft.com/office/powerpoint/2010/main" val="34803410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 sz="1200" b="0" i="0" kern="1200">
                <a:solidFill>
                  <a:schemeClr val="tx1"/>
                </a:solidFill>
                <a:effectLst/>
                <a:latin typeface="+mn-lt"/>
                <a:ea typeface="+mn-ea"/>
                <a:cs typeface="+mn-cs"/>
              </a:rPr>
              <a:t>0.00011 is much smaller than 0.05.</a:t>
            </a:r>
          </a:p>
          <a:p>
            <a:pPr fontAlgn="t"/>
            <a:br>
              <a:rPr lang="" sz="1200" b="0" i="0" kern="1200">
                <a:solidFill>
                  <a:schemeClr val="tx1"/>
                </a:solidFill>
                <a:effectLst/>
                <a:latin typeface="+mn-lt"/>
                <a:ea typeface="+mn-ea"/>
                <a:cs typeface="+mn-cs"/>
              </a:rPr>
            </a:br>
            <a:endParaRPr lang="" sz="1200" b="0" i="0" kern="1200">
              <a:solidFill>
                <a:schemeClr val="tx1"/>
              </a:solidFill>
              <a:effectLst/>
              <a:latin typeface="+mn-lt"/>
              <a:ea typeface="+mn-ea"/>
              <a:cs typeface="+mn-cs"/>
            </a:endParaRPr>
          </a:p>
          <a:p>
            <a:pPr fontAlgn="t"/>
            <a:r>
              <a:rPr lang="" sz="1200" b="1" i="0" kern="1200">
                <a:solidFill>
                  <a:schemeClr val="tx1"/>
                </a:solidFill>
                <a:effectLst/>
                <a:latin typeface="+mn-lt"/>
                <a:ea typeface="+mn-ea"/>
                <a:cs typeface="+mn-cs"/>
              </a:rPr>
              <a:t>Interpretation</a:t>
            </a:r>
          </a:p>
          <a:p>
            <a:pPr fontAlgn="t"/>
            <a:r>
              <a:rPr lang="" sz="1200" b="0" i="0" kern="1200">
                <a:solidFill>
                  <a:schemeClr val="tx1"/>
                </a:solidFill>
                <a:effectLst/>
                <a:latin typeface="+mn-lt"/>
                <a:ea typeface="+mn-ea"/>
                <a:cs typeface="+mn-cs"/>
              </a:rPr>
              <a:t>"Because the p-value is much smaller than 0.05, we reject the null hypothesis."</a:t>
            </a:r>
          </a:p>
          <a:p>
            <a:pPr fontAlgn="t"/>
            <a:br>
              <a:rPr lang="" sz="1200" b="0" i="0" kern="1200">
                <a:solidFill>
                  <a:schemeClr val="tx1"/>
                </a:solidFill>
                <a:effectLst/>
                <a:latin typeface="+mn-lt"/>
                <a:ea typeface="+mn-ea"/>
                <a:cs typeface="+mn-cs"/>
              </a:rPr>
            </a:br>
            <a:endParaRPr lang="" sz="1200" b="0" i="0" kern="1200">
              <a:solidFill>
                <a:schemeClr val="tx1"/>
              </a:solidFill>
              <a:effectLst/>
              <a:latin typeface="+mn-lt"/>
              <a:ea typeface="+mn-ea"/>
              <a:cs typeface="+mn-cs"/>
            </a:endParaRPr>
          </a:p>
          <a:p>
            <a:pPr fontAlgn="t"/>
            <a:r>
              <a:rPr lang="" sz="1200" b="1" i="0" kern="1200">
                <a:solidFill>
                  <a:schemeClr val="tx1"/>
                </a:solidFill>
                <a:effectLst/>
                <a:latin typeface="+mn-lt"/>
                <a:ea typeface="+mn-ea"/>
                <a:cs typeface="+mn-cs"/>
              </a:rPr>
              <a:t>What does that mean?</a:t>
            </a:r>
          </a:p>
          <a:p>
            <a:pPr fontAlgn="t"/>
            <a:r>
              <a:rPr lang="" sz="1200" b="0" i="0" kern="1200">
                <a:solidFill>
                  <a:schemeClr val="tx1"/>
                </a:solidFill>
                <a:effectLst/>
                <a:latin typeface="+mn-lt"/>
                <a:ea typeface="+mn-ea"/>
                <a:cs typeface="+mn-cs"/>
              </a:rPr>
              <a:t>It means:</a:t>
            </a:r>
          </a:p>
          <a:p>
            <a:pPr fontAlgn="t"/>
            <a:r>
              <a:rPr lang="" sz="1200" b="0" i="0" kern="1200">
                <a:solidFill>
                  <a:schemeClr val="tx1"/>
                </a:solidFill>
                <a:effectLst/>
                <a:latin typeface="+mn-lt"/>
                <a:ea typeface="+mn-ea"/>
                <a:cs typeface="+mn-cs"/>
              </a:rPr>
              <a:t>"There is strong statistical evidence that the shape parameter differs from zero."</a:t>
            </a:r>
          </a:p>
          <a:p>
            <a:pPr fontAlgn="t"/>
            <a:br>
              <a:rPr lang="" sz="1200" b="0" i="0" kern="1200">
                <a:solidFill>
                  <a:schemeClr val="tx1"/>
                </a:solidFill>
                <a:effectLst/>
                <a:latin typeface="+mn-lt"/>
                <a:ea typeface="+mn-ea"/>
                <a:cs typeface="+mn-cs"/>
              </a:rPr>
            </a:br>
            <a:endParaRPr lang="" sz="1200" b="0" i="0" kern="1200">
              <a:solidFill>
                <a:schemeClr val="tx1"/>
              </a:solidFill>
              <a:effectLst/>
              <a:latin typeface="+mn-lt"/>
              <a:ea typeface="+mn-ea"/>
              <a:cs typeface="+mn-cs"/>
            </a:endParaRPr>
          </a:p>
          <a:p>
            <a:pPr fontAlgn="t"/>
            <a:r>
              <a:rPr lang="" sz="1200" b="1" i="0" kern="1200">
                <a:solidFill>
                  <a:schemeClr val="tx1"/>
                </a:solidFill>
                <a:effectLst/>
                <a:latin typeface="+mn-lt"/>
                <a:ea typeface="+mn-ea"/>
                <a:cs typeface="+mn-cs"/>
              </a:rPr>
              <a:t>Comparison with the GEV result</a:t>
            </a:r>
          </a:p>
          <a:p>
            <a:pPr fontAlgn="t"/>
            <a:r>
              <a:rPr lang="" sz="1200" b="0" i="0" kern="1200">
                <a:solidFill>
                  <a:schemeClr val="tx1"/>
                </a:solidFill>
                <a:effectLst/>
                <a:latin typeface="+mn-lt"/>
                <a:ea typeface="+mn-ea"/>
                <a:cs typeface="+mn-cs"/>
              </a:rPr>
              <a:t>This is something your teacher may ask.</a:t>
            </a:r>
          </a:p>
          <a:p>
            <a:pPr fontAlgn="t"/>
            <a:r>
              <a:rPr lang="" sz="1200" b="0" i="0" kern="1200">
                <a:solidFill>
                  <a:schemeClr val="tx1"/>
                </a:solidFill>
                <a:effectLst/>
                <a:latin typeface="+mn-lt"/>
                <a:ea typeface="+mn-ea"/>
                <a:cs typeface="+mn-cs"/>
              </a:rPr>
              <a:t>For GEV:</a:t>
            </a:r>
          </a:p>
          <a:p>
            <a:pPr lvl="0" fontAlgn="t"/>
            <a:r>
              <a:rPr lang="" sz="1200" b="0" i="0" kern="1200">
                <a:solidFill>
                  <a:schemeClr val="tx1"/>
                </a:solidFill>
                <a:effectLst/>
                <a:latin typeface="+mn-lt"/>
                <a:ea typeface="+mn-ea"/>
                <a:cs typeface="+mn-cs"/>
              </a:rPr>
              <a:t>p-value = 0.989</a:t>
            </a:r>
          </a:p>
          <a:p>
            <a:pPr lvl="0" fontAlgn="t"/>
            <a:r>
              <a:rPr lang="" sz="1200" b="0" i="0" kern="1200">
                <a:solidFill>
                  <a:schemeClr val="tx1"/>
                </a:solidFill>
                <a:effectLst/>
                <a:latin typeface="+mn-lt"/>
                <a:ea typeface="+mn-ea"/>
                <a:cs typeface="+mn-cs"/>
              </a:rPr>
              <a:t>Not significant</a:t>
            </a:r>
          </a:p>
          <a:p>
            <a:pPr fontAlgn="t"/>
            <a:r>
              <a:rPr lang="" sz="1200" b="0" i="0" kern="1200">
                <a:solidFill>
                  <a:schemeClr val="tx1"/>
                </a:solidFill>
                <a:effectLst/>
                <a:latin typeface="+mn-lt"/>
                <a:ea typeface="+mn-ea"/>
                <a:cs typeface="+mn-cs"/>
              </a:rPr>
              <a:t>For GPD:</a:t>
            </a:r>
          </a:p>
          <a:p>
            <a:pPr lvl="0" fontAlgn="t"/>
            <a:r>
              <a:rPr lang="" sz="1200" b="0" i="0" kern="1200">
                <a:solidFill>
                  <a:schemeClr val="tx1"/>
                </a:solidFill>
                <a:effectLst/>
                <a:latin typeface="+mn-lt"/>
                <a:ea typeface="+mn-ea"/>
                <a:cs typeface="+mn-cs"/>
              </a:rPr>
              <a:t>p-value = 0.00011</a:t>
            </a:r>
          </a:p>
          <a:p>
            <a:pPr lvl="0" fontAlgn="t"/>
            <a:r>
              <a:rPr lang="" sz="1200" b="0" i="0" kern="1200">
                <a:solidFill>
                  <a:schemeClr val="tx1"/>
                </a:solidFill>
                <a:effectLst/>
                <a:latin typeface="+mn-lt"/>
                <a:ea typeface="+mn-ea"/>
                <a:cs typeface="+mn-cs"/>
              </a:rPr>
              <a:t>Significant</a:t>
            </a:r>
          </a:p>
          <a:p>
            <a:pPr fontAlgn="t"/>
            <a:br>
              <a:rPr lang="" sz="1200" b="0" i="0" kern="1200">
                <a:solidFill>
                  <a:schemeClr val="tx1"/>
                </a:solidFill>
                <a:effectLst/>
                <a:latin typeface="+mn-lt"/>
                <a:ea typeface="+mn-ea"/>
                <a:cs typeface="+mn-cs"/>
              </a:rPr>
            </a:br>
            <a:endParaRPr lang="" sz="1200" b="0" i="0" kern="1200">
              <a:solidFill>
                <a:schemeClr val="tx1"/>
              </a:solidFill>
              <a:effectLst/>
              <a:latin typeface="+mn-lt"/>
              <a:ea typeface="+mn-ea"/>
              <a:cs typeface="+mn-cs"/>
            </a:endParaRPr>
          </a:p>
          <a:p>
            <a:pPr fontAlgn="t"/>
            <a:r>
              <a:rPr lang="" sz="1200" b="1" i="0" kern="1200">
                <a:solidFill>
                  <a:schemeClr val="tx1"/>
                </a:solidFill>
                <a:effectLst/>
                <a:latin typeface="+mn-lt"/>
                <a:ea typeface="+mn-ea"/>
                <a:cs typeface="+mn-cs"/>
              </a:rPr>
              <a:t>Simple explanation</a:t>
            </a:r>
          </a:p>
          <a:p>
            <a:pPr fontAlgn="t"/>
            <a:r>
              <a:rPr lang="" sz="1200" b="0" i="0" kern="1200">
                <a:solidFill>
                  <a:schemeClr val="tx1"/>
                </a:solidFill>
                <a:effectLst/>
                <a:latin typeface="+mn-lt"/>
                <a:ea typeface="+mn-ea"/>
                <a:cs typeface="+mn-cs"/>
              </a:rPr>
              <a:t>"The GEV analysis suggested a shape parameter close to zero, whereas the GPD analysis found a significantly negative shape parameter. This difference may be due to the fact that the POT method uses many more extreme observations than the annual-maxima approach."</a:t>
            </a:r>
          </a:p>
          <a:p>
            <a:pPr fontAlgn="t"/>
            <a:r>
              <a:rPr lang="" sz="1200" b="0" i="0" kern="1200">
                <a:solidFill>
                  <a:schemeClr val="tx1"/>
                </a:solidFill>
                <a:effectLst/>
                <a:latin typeface="+mn-lt"/>
                <a:ea typeface="+mn-ea"/>
                <a:cs typeface="+mn-cs"/>
              </a:rPr>
              <a:t>That is a very good MSc-level answer.</a:t>
            </a:r>
          </a:p>
          <a:p>
            <a:endParaRPr lang="LID4096"/>
          </a:p>
        </p:txBody>
      </p:sp>
      <p:sp>
        <p:nvSpPr>
          <p:cNvPr id="4" name="Slide Number Placeholder 3"/>
          <p:cNvSpPr>
            <a:spLocks noGrp="1"/>
          </p:cNvSpPr>
          <p:nvPr>
            <p:ph type="sldNum" sz="quarter" idx="5"/>
          </p:nvPr>
        </p:nvSpPr>
        <p:spPr/>
        <p:txBody>
          <a:bodyPr/>
          <a:lstStyle/>
          <a:p>
            <a:fld id="{9ECA7A5F-4404-4915-99ED-40487D09A163}" type="slidenum">
              <a:rPr lang="LID4096" smtClean="0"/>
              <a:t>13</a:t>
            </a:fld>
            <a:endParaRPr lang="LID4096"/>
          </a:p>
        </p:txBody>
      </p:sp>
    </p:spTree>
    <p:extLst>
      <p:ext uri="{BB962C8B-B14F-4D97-AF65-F5344CB8AC3E}">
        <p14:creationId xmlns:p14="http://schemas.microsoft.com/office/powerpoint/2010/main" val="33663646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 sz="1200" b="0" i="0" kern="1200">
                <a:solidFill>
                  <a:schemeClr val="tx1"/>
                </a:solidFill>
                <a:effectLst/>
                <a:latin typeface="+mn-lt"/>
                <a:ea typeface="+mn-ea"/>
                <a:cs typeface="+mn-cs"/>
              </a:rPr>
              <a:t>The GEV analysis suggested a shape parameter close to zero, whereas the GPD analysis found a significantly negative shape parameter. This difference may be due to the fact that the POT method uses many more extreme observations than the annual-maxima approach.</a:t>
            </a:r>
          </a:p>
          <a:p>
            <a:pPr marL="0" marR="0" lvl="0" indent="0" algn="l" defTabSz="914400" rtl="0" eaLnBrk="1" fontAlgn="auto" latinLnBrk="0" hangingPunct="1">
              <a:lnSpc>
                <a:spcPct val="100000"/>
              </a:lnSpc>
              <a:spcBef>
                <a:spcPts val="0"/>
              </a:spcBef>
              <a:spcAft>
                <a:spcPts val="0"/>
              </a:spcAft>
              <a:buClrTx/>
              <a:buSzTx/>
              <a:buFontTx/>
              <a:buNone/>
              <a:tabLst/>
              <a:defRPr/>
            </a:pPr>
            <a:endParaRPr lang="" sz="1200" b="0" i="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 sz="1200" b="0" i="0" kern="1200">
                <a:solidFill>
                  <a:schemeClr val="tx1"/>
                </a:solidFill>
                <a:effectLst/>
                <a:latin typeface="+mn-lt"/>
                <a:ea typeface="+mn-ea"/>
                <a:cs typeface="+mn-cs"/>
              </a:rPr>
              <a:t>Unlike the GEV model, the GPD model provides strong evidence that the shape parameter differs from zero. The negative value suggests the existence of an upper bound for extreme temperatures.</a:t>
            </a:r>
          </a:p>
          <a:p>
            <a:endParaRPr lang="LID4096"/>
          </a:p>
        </p:txBody>
      </p:sp>
      <p:sp>
        <p:nvSpPr>
          <p:cNvPr id="4" name="Slide Number Placeholder 3"/>
          <p:cNvSpPr>
            <a:spLocks noGrp="1"/>
          </p:cNvSpPr>
          <p:nvPr>
            <p:ph type="sldNum" sz="quarter" idx="5"/>
          </p:nvPr>
        </p:nvSpPr>
        <p:spPr/>
        <p:txBody>
          <a:bodyPr/>
          <a:lstStyle/>
          <a:p>
            <a:fld id="{9ECA7A5F-4404-4915-99ED-40487D09A163}" type="slidenum">
              <a:rPr lang="LID4096" smtClean="0"/>
              <a:t>14</a:t>
            </a:fld>
            <a:endParaRPr lang="LID4096"/>
          </a:p>
        </p:txBody>
      </p:sp>
    </p:spTree>
    <p:extLst>
      <p:ext uri="{BB962C8B-B14F-4D97-AF65-F5344CB8AC3E}">
        <p14:creationId xmlns:p14="http://schemas.microsoft.com/office/powerpoint/2010/main" val="41240421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 sz="1200" b="0" i="0" kern="1200">
                <a:solidFill>
                  <a:schemeClr val="tx1"/>
                </a:solidFill>
                <a:effectLst/>
                <a:latin typeface="+mn-lt"/>
                <a:ea typeface="+mn-ea"/>
                <a:cs typeface="+mn-cs"/>
              </a:rPr>
              <a:t>Using the POT approach, estimated return levels range from approximately 33.5°C for a 100-year event to 35.0°C for a 1000-year event. The increase is gradual, suggesting a limited growth in extreme temperatures.</a:t>
            </a:r>
          </a:p>
          <a:p>
            <a:endParaRPr lang="LID4096"/>
          </a:p>
        </p:txBody>
      </p:sp>
      <p:sp>
        <p:nvSpPr>
          <p:cNvPr id="4" name="Slide Number Placeholder 3"/>
          <p:cNvSpPr>
            <a:spLocks noGrp="1"/>
          </p:cNvSpPr>
          <p:nvPr>
            <p:ph type="sldNum" sz="quarter" idx="5"/>
          </p:nvPr>
        </p:nvSpPr>
        <p:spPr/>
        <p:txBody>
          <a:bodyPr/>
          <a:lstStyle/>
          <a:p>
            <a:fld id="{9ECA7A5F-4404-4915-99ED-40487D09A163}" type="slidenum">
              <a:rPr lang="LID4096" smtClean="0"/>
              <a:t>15</a:t>
            </a:fld>
            <a:endParaRPr lang="LID4096"/>
          </a:p>
        </p:txBody>
      </p:sp>
    </p:spTree>
    <p:extLst>
      <p:ext uri="{BB962C8B-B14F-4D97-AF65-F5344CB8AC3E}">
        <p14:creationId xmlns:p14="http://schemas.microsoft.com/office/powerpoint/2010/main" val="38120168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 sz="1200" b="0" i="0" kern="1200">
                <a:solidFill>
                  <a:schemeClr val="tx1"/>
                </a:solidFill>
                <a:effectLst/>
                <a:latin typeface="+mn-lt"/>
                <a:ea typeface="+mn-ea"/>
                <a:cs typeface="+mn-cs"/>
              </a:rPr>
              <a:t>The GEV model is based on only 25 annual maxima, while the GPD model uses 454 exceedances. The larger amount of information available to the GPD model may lead to more stable estimates.</a:t>
            </a:r>
          </a:p>
          <a:p>
            <a:endParaRPr lang="LID4096"/>
          </a:p>
        </p:txBody>
      </p:sp>
      <p:sp>
        <p:nvSpPr>
          <p:cNvPr id="4" name="Slide Number Placeholder 3"/>
          <p:cNvSpPr>
            <a:spLocks noGrp="1"/>
          </p:cNvSpPr>
          <p:nvPr>
            <p:ph type="sldNum" sz="quarter" idx="5"/>
          </p:nvPr>
        </p:nvSpPr>
        <p:spPr/>
        <p:txBody>
          <a:bodyPr/>
          <a:lstStyle/>
          <a:p>
            <a:fld id="{9ECA7A5F-4404-4915-99ED-40487D09A163}" type="slidenum">
              <a:rPr lang="LID4096" smtClean="0"/>
              <a:t>17</a:t>
            </a:fld>
            <a:endParaRPr lang="LID4096"/>
          </a:p>
        </p:txBody>
      </p:sp>
    </p:spTree>
    <p:extLst>
      <p:ext uri="{BB962C8B-B14F-4D97-AF65-F5344CB8AC3E}">
        <p14:creationId xmlns:p14="http://schemas.microsoft.com/office/powerpoint/2010/main" val="1234603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 sz="1200" b="0" i="0" kern="1200">
                <a:solidFill>
                  <a:schemeClr val="tx1"/>
                </a:solidFill>
                <a:effectLst/>
                <a:latin typeface="+mn-lt"/>
                <a:ea typeface="+mn-ea"/>
                <a:cs typeface="+mn-cs"/>
              </a:rPr>
              <a:t>Confidence intervals show the range of plausible values around each estimated return level</a:t>
            </a:r>
          </a:p>
          <a:p>
            <a:endParaRPr lang="LID4096"/>
          </a:p>
        </p:txBody>
      </p:sp>
      <p:sp>
        <p:nvSpPr>
          <p:cNvPr id="4" name="Slide Number Placeholder 3"/>
          <p:cNvSpPr>
            <a:spLocks noGrp="1"/>
          </p:cNvSpPr>
          <p:nvPr>
            <p:ph type="sldNum" sz="quarter" idx="5"/>
          </p:nvPr>
        </p:nvSpPr>
        <p:spPr/>
        <p:txBody>
          <a:bodyPr/>
          <a:lstStyle/>
          <a:p>
            <a:fld id="{9ECA7A5F-4404-4915-99ED-40487D09A163}" type="slidenum">
              <a:rPr lang="LID4096" smtClean="0"/>
              <a:t>18</a:t>
            </a:fld>
            <a:endParaRPr lang="LID4096"/>
          </a:p>
        </p:txBody>
      </p:sp>
    </p:spTree>
    <p:extLst>
      <p:ext uri="{BB962C8B-B14F-4D97-AF65-F5344CB8AC3E}">
        <p14:creationId xmlns:p14="http://schemas.microsoft.com/office/powerpoint/2010/main" val="36995741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F2C5E-71EA-D575-5409-E317CBBAFCD3}"/>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LID4096"/>
          </a:p>
        </p:txBody>
      </p:sp>
      <p:sp>
        <p:nvSpPr>
          <p:cNvPr id="3" name="Subtitle 2">
            <a:extLst>
              <a:ext uri="{FF2B5EF4-FFF2-40B4-BE49-F238E27FC236}">
                <a16:creationId xmlns:a16="http://schemas.microsoft.com/office/drawing/2014/main" id="{BA14C97E-0B41-379A-E158-E51D089A0F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LID4096"/>
          </a:p>
        </p:txBody>
      </p:sp>
      <p:sp>
        <p:nvSpPr>
          <p:cNvPr id="4" name="Date Placeholder 3">
            <a:extLst>
              <a:ext uri="{FF2B5EF4-FFF2-40B4-BE49-F238E27FC236}">
                <a16:creationId xmlns:a16="http://schemas.microsoft.com/office/drawing/2014/main" id="{3989F071-1913-EA85-1457-BBE12D1138C2}"/>
              </a:ext>
            </a:extLst>
          </p:cNvPr>
          <p:cNvSpPr>
            <a:spLocks noGrp="1"/>
          </p:cNvSpPr>
          <p:nvPr>
            <p:ph type="dt" sz="half" idx="10"/>
          </p:nvPr>
        </p:nvSpPr>
        <p:spPr/>
        <p:txBody>
          <a:bodyPr/>
          <a:lstStyle/>
          <a:p>
            <a:fld id="{16CA6EDF-1D47-459C-947F-5A18CF51DB2A}" type="datetimeFigureOut">
              <a:rPr lang="LID4096" smtClean="0"/>
              <a:t>10/20/2026</a:t>
            </a:fld>
            <a:endParaRPr lang="LID4096"/>
          </a:p>
        </p:txBody>
      </p:sp>
      <p:sp>
        <p:nvSpPr>
          <p:cNvPr id="5" name="Footer Placeholder 4">
            <a:extLst>
              <a:ext uri="{FF2B5EF4-FFF2-40B4-BE49-F238E27FC236}">
                <a16:creationId xmlns:a16="http://schemas.microsoft.com/office/drawing/2014/main" id="{9E8BEE64-5576-5A00-8354-D91A380C27A0}"/>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A3B0D8D8-9891-C696-25A2-0377ED2293B7}"/>
              </a:ext>
            </a:extLst>
          </p:cNvPr>
          <p:cNvSpPr>
            <a:spLocks noGrp="1"/>
          </p:cNvSpPr>
          <p:nvPr>
            <p:ph type="sldNum" sz="quarter" idx="12"/>
          </p:nvPr>
        </p:nvSpPr>
        <p:spPr/>
        <p:txBody>
          <a:bodyPr/>
          <a:lstStyle/>
          <a:p>
            <a:fld id="{C2C83F5C-AE31-43D5-AA7C-C8F08FFE1F3F}" type="slidenum">
              <a:rPr lang="LID4096" smtClean="0"/>
              <a:t>‹#›</a:t>
            </a:fld>
            <a:endParaRPr lang="LID4096"/>
          </a:p>
        </p:txBody>
      </p:sp>
    </p:spTree>
    <p:extLst>
      <p:ext uri="{BB962C8B-B14F-4D97-AF65-F5344CB8AC3E}">
        <p14:creationId xmlns:p14="http://schemas.microsoft.com/office/powerpoint/2010/main" val="256596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67352-7392-23A3-FA1C-AFF99B408473}"/>
              </a:ext>
            </a:extLst>
          </p:cNvPr>
          <p:cNvSpPr>
            <a:spLocks noGrp="1"/>
          </p:cNvSpPr>
          <p:nvPr>
            <p:ph type="title"/>
          </p:nvPr>
        </p:nvSpPr>
        <p:spPr/>
        <p:txBody>
          <a:bodyPr/>
          <a:lstStyle/>
          <a:p>
            <a:r>
              <a:rPr lang="en-GB"/>
              <a:t>Click to edit Master title style</a:t>
            </a:r>
            <a:endParaRPr lang="LID4096"/>
          </a:p>
        </p:txBody>
      </p:sp>
      <p:sp>
        <p:nvSpPr>
          <p:cNvPr id="3" name="Content Placeholder 2">
            <a:extLst>
              <a:ext uri="{FF2B5EF4-FFF2-40B4-BE49-F238E27FC236}">
                <a16:creationId xmlns:a16="http://schemas.microsoft.com/office/drawing/2014/main" id="{6B352A68-2E9D-6924-568E-D0533550F870}"/>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4" name="Date Placeholder 3">
            <a:extLst>
              <a:ext uri="{FF2B5EF4-FFF2-40B4-BE49-F238E27FC236}">
                <a16:creationId xmlns:a16="http://schemas.microsoft.com/office/drawing/2014/main" id="{7F9ADE5C-0062-047B-C2C5-07AF24E87CB7}"/>
              </a:ext>
            </a:extLst>
          </p:cNvPr>
          <p:cNvSpPr>
            <a:spLocks noGrp="1"/>
          </p:cNvSpPr>
          <p:nvPr>
            <p:ph type="dt" sz="half" idx="10"/>
          </p:nvPr>
        </p:nvSpPr>
        <p:spPr/>
        <p:txBody>
          <a:bodyPr/>
          <a:lstStyle/>
          <a:p>
            <a:fld id="{16CA6EDF-1D47-459C-947F-5A18CF51DB2A}" type="datetimeFigureOut">
              <a:rPr lang="LID4096" smtClean="0"/>
              <a:t>10/20/2026</a:t>
            </a:fld>
            <a:endParaRPr lang="LID4096"/>
          </a:p>
        </p:txBody>
      </p:sp>
      <p:sp>
        <p:nvSpPr>
          <p:cNvPr id="5" name="Footer Placeholder 4">
            <a:extLst>
              <a:ext uri="{FF2B5EF4-FFF2-40B4-BE49-F238E27FC236}">
                <a16:creationId xmlns:a16="http://schemas.microsoft.com/office/drawing/2014/main" id="{2165CA42-6F44-8D8C-FE57-8F8E25A29B12}"/>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75B3A11D-3BBE-AFFD-0A2B-8D815F48F2E2}"/>
              </a:ext>
            </a:extLst>
          </p:cNvPr>
          <p:cNvSpPr>
            <a:spLocks noGrp="1"/>
          </p:cNvSpPr>
          <p:nvPr>
            <p:ph type="sldNum" sz="quarter" idx="12"/>
          </p:nvPr>
        </p:nvSpPr>
        <p:spPr/>
        <p:txBody>
          <a:bodyPr/>
          <a:lstStyle/>
          <a:p>
            <a:fld id="{C2C83F5C-AE31-43D5-AA7C-C8F08FFE1F3F}" type="slidenum">
              <a:rPr lang="LID4096" smtClean="0"/>
              <a:t>‹#›</a:t>
            </a:fld>
            <a:endParaRPr lang="LID4096"/>
          </a:p>
        </p:txBody>
      </p:sp>
    </p:spTree>
    <p:extLst>
      <p:ext uri="{BB962C8B-B14F-4D97-AF65-F5344CB8AC3E}">
        <p14:creationId xmlns:p14="http://schemas.microsoft.com/office/powerpoint/2010/main" val="42807845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7217A-D0BF-630D-D7CB-74814B963D9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LID4096"/>
          </a:p>
        </p:txBody>
      </p:sp>
      <p:sp>
        <p:nvSpPr>
          <p:cNvPr id="3" name="Text Placeholder 2">
            <a:extLst>
              <a:ext uri="{FF2B5EF4-FFF2-40B4-BE49-F238E27FC236}">
                <a16:creationId xmlns:a16="http://schemas.microsoft.com/office/drawing/2014/main" id="{559C2465-9E33-EF5A-49CE-8FC5137ACC6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F2B74E8-8A7F-CA4B-0593-A291AA7B1F17}"/>
              </a:ext>
            </a:extLst>
          </p:cNvPr>
          <p:cNvSpPr>
            <a:spLocks noGrp="1"/>
          </p:cNvSpPr>
          <p:nvPr>
            <p:ph type="dt" sz="half" idx="10"/>
          </p:nvPr>
        </p:nvSpPr>
        <p:spPr/>
        <p:txBody>
          <a:bodyPr/>
          <a:lstStyle/>
          <a:p>
            <a:fld id="{16CA6EDF-1D47-459C-947F-5A18CF51DB2A}" type="datetimeFigureOut">
              <a:rPr lang="LID4096" smtClean="0"/>
              <a:t>10/20/2026</a:t>
            </a:fld>
            <a:endParaRPr lang="LID4096"/>
          </a:p>
        </p:txBody>
      </p:sp>
      <p:sp>
        <p:nvSpPr>
          <p:cNvPr id="5" name="Footer Placeholder 4">
            <a:extLst>
              <a:ext uri="{FF2B5EF4-FFF2-40B4-BE49-F238E27FC236}">
                <a16:creationId xmlns:a16="http://schemas.microsoft.com/office/drawing/2014/main" id="{4D0BF58A-0B3C-C74F-18C5-81869DFF97D9}"/>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A9C59D80-6B2D-E35E-C021-CF06394AAEEE}"/>
              </a:ext>
            </a:extLst>
          </p:cNvPr>
          <p:cNvSpPr>
            <a:spLocks noGrp="1"/>
          </p:cNvSpPr>
          <p:nvPr>
            <p:ph type="sldNum" sz="quarter" idx="12"/>
          </p:nvPr>
        </p:nvSpPr>
        <p:spPr/>
        <p:txBody>
          <a:bodyPr/>
          <a:lstStyle/>
          <a:p>
            <a:fld id="{C2C83F5C-AE31-43D5-AA7C-C8F08FFE1F3F}" type="slidenum">
              <a:rPr lang="LID4096" smtClean="0"/>
              <a:t>‹#›</a:t>
            </a:fld>
            <a:endParaRPr lang="LID4096"/>
          </a:p>
        </p:txBody>
      </p:sp>
    </p:spTree>
    <p:extLst>
      <p:ext uri="{BB962C8B-B14F-4D97-AF65-F5344CB8AC3E}">
        <p14:creationId xmlns:p14="http://schemas.microsoft.com/office/powerpoint/2010/main" val="2619056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C23C8-BA1B-355E-5249-8065052C8298}"/>
              </a:ext>
            </a:extLst>
          </p:cNvPr>
          <p:cNvSpPr>
            <a:spLocks noGrp="1"/>
          </p:cNvSpPr>
          <p:nvPr>
            <p:ph type="title"/>
          </p:nvPr>
        </p:nvSpPr>
        <p:spPr/>
        <p:txBody>
          <a:bodyPr/>
          <a:lstStyle/>
          <a:p>
            <a:r>
              <a:rPr lang="en-GB"/>
              <a:t>Click to edit Master title style</a:t>
            </a:r>
            <a:endParaRPr lang="LID4096"/>
          </a:p>
        </p:txBody>
      </p:sp>
      <p:sp>
        <p:nvSpPr>
          <p:cNvPr id="3" name="Content Placeholder 2">
            <a:extLst>
              <a:ext uri="{FF2B5EF4-FFF2-40B4-BE49-F238E27FC236}">
                <a16:creationId xmlns:a16="http://schemas.microsoft.com/office/drawing/2014/main" id="{F7270FBA-DF94-C5F2-2399-05733EEEB64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4" name="Content Placeholder 3">
            <a:extLst>
              <a:ext uri="{FF2B5EF4-FFF2-40B4-BE49-F238E27FC236}">
                <a16:creationId xmlns:a16="http://schemas.microsoft.com/office/drawing/2014/main" id="{2714D9F6-AC91-5AC3-98D9-5CC35EA786C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5" name="Date Placeholder 4">
            <a:extLst>
              <a:ext uri="{FF2B5EF4-FFF2-40B4-BE49-F238E27FC236}">
                <a16:creationId xmlns:a16="http://schemas.microsoft.com/office/drawing/2014/main" id="{7143DA33-577E-A872-0F38-9F0B962203B5}"/>
              </a:ext>
            </a:extLst>
          </p:cNvPr>
          <p:cNvSpPr>
            <a:spLocks noGrp="1"/>
          </p:cNvSpPr>
          <p:nvPr>
            <p:ph type="dt" sz="half" idx="10"/>
          </p:nvPr>
        </p:nvSpPr>
        <p:spPr/>
        <p:txBody>
          <a:bodyPr/>
          <a:lstStyle/>
          <a:p>
            <a:fld id="{16CA6EDF-1D47-459C-947F-5A18CF51DB2A}" type="datetimeFigureOut">
              <a:rPr lang="LID4096" smtClean="0"/>
              <a:t>10/20/2026</a:t>
            </a:fld>
            <a:endParaRPr lang="LID4096"/>
          </a:p>
        </p:txBody>
      </p:sp>
      <p:sp>
        <p:nvSpPr>
          <p:cNvPr id="6" name="Footer Placeholder 5">
            <a:extLst>
              <a:ext uri="{FF2B5EF4-FFF2-40B4-BE49-F238E27FC236}">
                <a16:creationId xmlns:a16="http://schemas.microsoft.com/office/drawing/2014/main" id="{89BB5381-A797-03C7-67B9-FA6021DE6045}"/>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C675522E-4E73-42CE-EC03-7D211A515CC2}"/>
              </a:ext>
            </a:extLst>
          </p:cNvPr>
          <p:cNvSpPr>
            <a:spLocks noGrp="1"/>
          </p:cNvSpPr>
          <p:nvPr>
            <p:ph type="sldNum" sz="quarter" idx="12"/>
          </p:nvPr>
        </p:nvSpPr>
        <p:spPr/>
        <p:txBody>
          <a:bodyPr/>
          <a:lstStyle/>
          <a:p>
            <a:fld id="{C2C83F5C-AE31-43D5-AA7C-C8F08FFE1F3F}" type="slidenum">
              <a:rPr lang="LID4096" smtClean="0"/>
              <a:t>‹#›</a:t>
            </a:fld>
            <a:endParaRPr lang="LID4096"/>
          </a:p>
        </p:txBody>
      </p:sp>
    </p:spTree>
    <p:extLst>
      <p:ext uri="{BB962C8B-B14F-4D97-AF65-F5344CB8AC3E}">
        <p14:creationId xmlns:p14="http://schemas.microsoft.com/office/powerpoint/2010/main" val="2788476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F1A95-086A-CB36-49F8-79C5ADA7B8FB}"/>
              </a:ext>
            </a:extLst>
          </p:cNvPr>
          <p:cNvSpPr>
            <a:spLocks noGrp="1"/>
          </p:cNvSpPr>
          <p:nvPr>
            <p:ph type="title"/>
          </p:nvPr>
        </p:nvSpPr>
        <p:spPr>
          <a:xfrm>
            <a:off x="839788" y="365125"/>
            <a:ext cx="10515600" cy="1325563"/>
          </a:xfrm>
        </p:spPr>
        <p:txBody>
          <a:bodyPr/>
          <a:lstStyle/>
          <a:p>
            <a:r>
              <a:rPr lang="en-GB"/>
              <a:t>Click to edit Master title style</a:t>
            </a:r>
            <a:endParaRPr lang="LID4096"/>
          </a:p>
        </p:txBody>
      </p:sp>
      <p:sp>
        <p:nvSpPr>
          <p:cNvPr id="3" name="Text Placeholder 2">
            <a:extLst>
              <a:ext uri="{FF2B5EF4-FFF2-40B4-BE49-F238E27FC236}">
                <a16:creationId xmlns:a16="http://schemas.microsoft.com/office/drawing/2014/main" id="{C747EBD9-B79F-7E08-1ADC-6AD8E66A460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C5920B2-1E96-C4B6-A379-DE6082914F3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5" name="Text Placeholder 4">
            <a:extLst>
              <a:ext uri="{FF2B5EF4-FFF2-40B4-BE49-F238E27FC236}">
                <a16:creationId xmlns:a16="http://schemas.microsoft.com/office/drawing/2014/main" id="{1BE158C1-C0C4-F40D-C578-57CEEAC0C7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A9FCE95-2F6F-F0EC-46A0-95BC3A10EB60}"/>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7" name="Date Placeholder 6">
            <a:extLst>
              <a:ext uri="{FF2B5EF4-FFF2-40B4-BE49-F238E27FC236}">
                <a16:creationId xmlns:a16="http://schemas.microsoft.com/office/drawing/2014/main" id="{D80253DC-3A33-2B45-9306-C9EBF3E8A389}"/>
              </a:ext>
            </a:extLst>
          </p:cNvPr>
          <p:cNvSpPr>
            <a:spLocks noGrp="1"/>
          </p:cNvSpPr>
          <p:nvPr>
            <p:ph type="dt" sz="half" idx="10"/>
          </p:nvPr>
        </p:nvSpPr>
        <p:spPr/>
        <p:txBody>
          <a:bodyPr/>
          <a:lstStyle/>
          <a:p>
            <a:fld id="{16CA6EDF-1D47-459C-947F-5A18CF51DB2A}" type="datetimeFigureOut">
              <a:rPr lang="LID4096" smtClean="0"/>
              <a:t>10/20/2026</a:t>
            </a:fld>
            <a:endParaRPr lang="LID4096"/>
          </a:p>
        </p:txBody>
      </p:sp>
      <p:sp>
        <p:nvSpPr>
          <p:cNvPr id="8" name="Footer Placeholder 7">
            <a:extLst>
              <a:ext uri="{FF2B5EF4-FFF2-40B4-BE49-F238E27FC236}">
                <a16:creationId xmlns:a16="http://schemas.microsoft.com/office/drawing/2014/main" id="{B75C66FB-A6C3-ACF3-5100-F56CFEC77951}"/>
              </a:ext>
            </a:extLst>
          </p:cNvPr>
          <p:cNvSpPr>
            <a:spLocks noGrp="1"/>
          </p:cNvSpPr>
          <p:nvPr>
            <p:ph type="ftr" sz="quarter" idx="11"/>
          </p:nvPr>
        </p:nvSpPr>
        <p:spPr/>
        <p:txBody>
          <a:bodyPr/>
          <a:lstStyle/>
          <a:p>
            <a:endParaRPr lang="LID4096"/>
          </a:p>
        </p:txBody>
      </p:sp>
      <p:sp>
        <p:nvSpPr>
          <p:cNvPr id="9" name="Slide Number Placeholder 8">
            <a:extLst>
              <a:ext uri="{FF2B5EF4-FFF2-40B4-BE49-F238E27FC236}">
                <a16:creationId xmlns:a16="http://schemas.microsoft.com/office/drawing/2014/main" id="{6872777F-0467-D122-2ADC-65A1C94BFBAB}"/>
              </a:ext>
            </a:extLst>
          </p:cNvPr>
          <p:cNvSpPr>
            <a:spLocks noGrp="1"/>
          </p:cNvSpPr>
          <p:nvPr>
            <p:ph type="sldNum" sz="quarter" idx="12"/>
          </p:nvPr>
        </p:nvSpPr>
        <p:spPr/>
        <p:txBody>
          <a:bodyPr/>
          <a:lstStyle/>
          <a:p>
            <a:fld id="{C2C83F5C-AE31-43D5-AA7C-C8F08FFE1F3F}" type="slidenum">
              <a:rPr lang="LID4096" smtClean="0"/>
              <a:t>‹#›</a:t>
            </a:fld>
            <a:endParaRPr lang="LID4096"/>
          </a:p>
        </p:txBody>
      </p:sp>
    </p:spTree>
    <p:extLst>
      <p:ext uri="{BB962C8B-B14F-4D97-AF65-F5344CB8AC3E}">
        <p14:creationId xmlns:p14="http://schemas.microsoft.com/office/powerpoint/2010/main" val="3982067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972CB-629E-F763-E363-B9074902DE60}"/>
              </a:ext>
            </a:extLst>
          </p:cNvPr>
          <p:cNvSpPr>
            <a:spLocks noGrp="1"/>
          </p:cNvSpPr>
          <p:nvPr>
            <p:ph type="title"/>
          </p:nvPr>
        </p:nvSpPr>
        <p:spPr/>
        <p:txBody>
          <a:bodyPr/>
          <a:lstStyle/>
          <a:p>
            <a:r>
              <a:rPr lang="en-GB"/>
              <a:t>Click to edit Master title style</a:t>
            </a:r>
            <a:endParaRPr lang="LID4096"/>
          </a:p>
        </p:txBody>
      </p:sp>
      <p:sp>
        <p:nvSpPr>
          <p:cNvPr id="3" name="Date Placeholder 2">
            <a:extLst>
              <a:ext uri="{FF2B5EF4-FFF2-40B4-BE49-F238E27FC236}">
                <a16:creationId xmlns:a16="http://schemas.microsoft.com/office/drawing/2014/main" id="{82CFEFE4-750A-7749-BF1D-BB7AEBF1D0E2}"/>
              </a:ext>
            </a:extLst>
          </p:cNvPr>
          <p:cNvSpPr>
            <a:spLocks noGrp="1"/>
          </p:cNvSpPr>
          <p:nvPr>
            <p:ph type="dt" sz="half" idx="10"/>
          </p:nvPr>
        </p:nvSpPr>
        <p:spPr/>
        <p:txBody>
          <a:bodyPr/>
          <a:lstStyle/>
          <a:p>
            <a:fld id="{16CA6EDF-1D47-459C-947F-5A18CF51DB2A}" type="datetimeFigureOut">
              <a:rPr lang="LID4096" smtClean="0"/>
              <a:t>10/20/2026</a:t>
            </a:fld>
            <a:endParaRPr lang="LID4096"/>
          </a:p>
        </p:txBody>
      </p:sp>
      <p:sp>
        <p:nvSpPr>
          <p:cNvPr id="4" name="Footer Placeholder 3">
            <a:extLst>
              <a:ext uri="{FF2B5EF4-FFF2-40B4-BE49-F238E27FC236}">
                <a16:creationId xmlns:a16="http://schemas.microsoft.com/office/drawing/2014/main" id="{B45E163C-42B9-5AF0-B7CA-5AEE908CB7FC}"/>
              </a:ext>
            </a:extLst>
          </p:cNvPr>
          <p:cNvSpPr>
            <a:spLocks noGrp="1"/>
          </p:cNvSpPr>
          <p:nvPr>
            <p:ph type="ftr" sz="quarter" idx="11"/>
          </p:nvPr>
        </p:nvSpPr>
        <p:spPr/>
        <p:txBody>
          <a:bodyPr/>
          <a:lstStyle/>
          <a:p>
            <a:endParaRPr lang="LID4096"/>
          </a:p>
        </p:txBody>
      </p:sp>
      <p:sp>
        <p:nvSpPr>
          <p:cNvPr id="5" name="Slide Number Placeholder 4">
            <a:extLst>
              <a:ext uri="{FF2B5EF4-FFF2-40B4-BE49-F238E27FC236}">
                <a16:creationId xmlns:a16="http://schemas.microsoft.com/office/drawing/2014/main" id="{7AB9A50B-3138-68A9-7D24-01E0AD2ECB19}"/>
              </a:ext>
            </a:extLst>
          </p:cNvPr>
          <p:cNvSpPr>
            <a:spLocks noGrp="1"/>
          </p:cNvSpPr>
          <p:nvPr>
            <p:ph type="sldNum" sz="quarter" idx="12"/>
          </p:nvPr>
        </p:nvSpPr>
        <p:spPr/>
        <p:txBody>
          <a:bodyPr/>
          <a:lstStyle/>
          <a:p>
            <a:fld id="{C2C83F5C-AE31-43D5-AA7C-C8F08FFE1F3F}" type="slidenum">
              <a:rPr lang="LID4096" smtClean="0"/>
              <a:t>‹#›</a:t>
            </a:fld>
            <a:endParaRPr lang="LID4096"/>
          </a:p>
        </p:txBody>
      </p:sp>
    </p:spTree>
    <p:extLst>
      <p:ext uri="{BB962C8B-B14F-4D97-AF65-F5344CB8AC3E}">
        <p14:creationId xmlns:p14="http://schemas.microsoft.com/office/powerpoint/2010/main" val="2362192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577B53-8C5D-89FD-10F2-28FD28F2C539}"/>
              </a:ext>
            </a:extLst>
          </p:cNvPr>
          <p:cNvSpPr>
            <a:spLocks noGrp="1"/>
          </p:cNvSpPr>
          <p:nvPr>
            <p:ph type="dt" sz="half" idx="10"/>
          </p:nvPr>
        </p:nvSpPr>
        <p:spPr/>
        <p:txBody>
          <a:bodyPr/>
          <a:lstStyle/>
          <a:p>
            <a:fld id="{16CA6EDF-1D47-459C-947F-5A18CF51DB2A}" type="datetimeFigureOut">
              <a:rPr lang="LID4096" smtClean="0"/>
              <a:t>10/20/2026</a:t>
            </a:fld>
            <a:endParaRPr lang="LID4096"/>
          </a:p>
        </p:txBody>
      </p:sp>
      <p:sp>
        <p:nvSpPr>
          <p:cNvPr id="3" name="Footer Placeholder 2">
            <a:extLst>
              <a:ext uri="{FF2B5EF4-FFF2-40B4-BE49-F238E27FC236}">
                <a16:creationId xmlns:a16="http://schemas.microsoft.com/office/drawing/2014/main" id="{7CDF1BD8-3A5B-1F66-4005-03015ED5C971}"/>
              </a:ext>
            </a:extLst>
          </p:cNvPr>
          <p:cNvSpPr>
            <a:spLocks noGrp="1"/>
          </p:cNvSpPr>
          <p:nvPr>
            <p:ph type="ftr" sz="quarter" idx="11"/>
          </p:nvPr>
        </p:nvSpPr>
        <p:spPr/>
        <p:txBody>
          <a:bodyPr/>
          <a:lstStyle/>
          <a:p>
            <a:endParaRPr lang="LID4096"/>
          </a:p>
        </p:txBody>
      </p:sp>
      <p:sp>
        <p:nvSpPr>
          <p:cNvPr id="4" name="Slide Number Placeholder 3">
            <a:extLst>
              <a:ext uri="{FF2B5EF4-FFF2-40B4-BE49-F238E27FC236}">
                <a16:creationId xmlns:a16="http://schemas.microsoft.com/office/drawing/2014/main" id="{B7BCC287-E659-72D9-BFEC-32BC6B853F61}"/>
              </a:ext>
            </a:extLst>
          </p:cNvPr>
          <p:cNvSpPr>
            <a:spLocks noGrp="1"/>
          </p:cNvSpPr>
          <p:nvPr>
            <p:ph type="sldNum" sz="quarter" idx="12"/>
          </p:nvPr>
        </p:nvSpPr>
        <p:spPr/>
        <p:txBody>
          <a:bodyPr/>
          <a:lstStyle/>
          <a:p>
            <a:fld id="{C2C83F5C-AE31-43D5-AA7C-C8F08FFE1F3F}" type="slidenum">
              <a:rPr lang="LID4096" smtClean="0"/>
              <a:t>‹#›</a:t>
            </a:fld>
            <a:endParaRPr lang="LID4096"/>
          </a:p>
        </p:txBody>
      </p:sp>
    </p:spTree>
    <p:extLst>
      <p:ext uri="{BB962C8B-B14F-4D97-AF65-F5344CB8AC3E}">
        <p14:creationId xmlns:p14="http://schemas.microsoft.com/office/powerpoint/2010/main" val="40759444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F7AE6-6E07-F7AB-CDAE-453A457985A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LID4096"/>
          </a:p>
        </p:txBody>
      </p:sp>
      <p:sp>
        <p:nvSpPr>
          <p:cNvPr id="3" name="Content Placeholder 2">
            <a:extLst>
              <a:ext uri="{FF2B5EF4-FFF2-40B4-BE49-F238E27FC236}">
                <a16:creationId xmlns:a16="http://schemas.microsoft.com/office/drawing/2014/main" id="{D40118E4-9365-97AA-634C-F2A782AA19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4" name="Text Placeholder 3">
            <a:extLst>
              <a:ext uri="{FF2B5EF4-FFF2-40B4-BE49-F238E27FC236}">
                <a16:creationId xmlns:a16="http://schemas.microsoft.com/office/drawing/2014/main" id="{C5715A71-E443-D1CE-EBFF-75F7013F70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D9D44D2-840A-ACE4-E6D9-E25FCE8271AE}"/>
              </a:ext>
            </a:extLst>
          </p:cNvPr>
          <p:cNvSpPr>
            <a:spLocks noGrp="1"/>
          </p:cNvSpPr>
          <p:nvPr>
            <p:ph type="dt" sz="half" idx="10"/>
          </p:nvPr>
        </p:nvSpPr>
        <p:spPr/>
        <p:txBody>
          <a:bodyPr/>
          <a:lstStyle/>
          <a:p>
            <a:fld id="{16CA6EDF-1D47-459C-947F-5A18CF51DB2A}" type="datetimeFigureOut">
              <a:rPr lang="LID4096" smtClean="0"/>
              <a:t>10/20/2026</a:t>
            </a:fld>
            <a:endParaRPr lang="LID4096"/>
          </a:p>
        </p:txBody>
      </p:sp>
      <p:sp>
        <p:nvSpPr>
          <p:cNvPr id="6" name="Footer Placeholder 5">
            <a:extLst>
              <a:ext uri="{FF2B5EF4-FFF2-40B4-BE49-F238E27FC236}">
                <a16:creationId xmlns:a16="http://schemas.microsoft.com/office/drawing/2014/main" id="{CA42BD0B-D4D4-AAF5-8543-868AEE70CB9E}"/>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1DEFEC7D-9678-066F-A2CB-F608F330DBD8}"/>
              </a:ext>
            </a:extLst>
          </p:cNvPr>
          <p:cNvSpPr>
            <a:spLocks noGrp="1"/>
          </p:cNvSpPr>
          <p:nvPr>
            <p:ph type="sldNum" sz="quarter" idx="12"/>
          </p:nvPr>
        </p:nvSpPr>
        <p:spPr/>
        <p:txBody>
          <a:bodyPr/>
          <a:lstStyle/>
          <a:p>
            <a:fld id="{C2C83F5C-AE31-43D5-AA7C-C8F08FFE1F3F}" type="slidenum">
              <a:rPr lang="LID4096" smtClean="0"/>
              <a:t>‹#›</a:t>
            </a:fld>
            <a:endParaRPr lang="LID4096"/>
          </a:p>
        </p:txBody>
      </p:sp>
    </p:spTree>
    <p:extLst>
      <p:ext uri="{BB962C8B-B14F-4D97-AF65-F5344CB8AC3E}">
        <p14:creationId xmlns:p14="http://schemas.microsoft.com/office/powerpoint/2010/main" val="23876121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D2488-6E5F-0FD5-574E-FA32EC4590C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LID4096"/>
          </a:p>
        </p:txBody>
      </p:sp>
      <p:sp>
        <p:nvSpPr>
          <p:cNvPr id="3" name="Picture Placeholder 2">
            <a:extLst>
              <a:ext uri="{FF2B5EF4-FFF2-40B4-BE49-F238E27FC236}">
                <a16:creationId xmlns:a16="http://schemas.microsoft.com/office/drawing/2014/main" id="{4E245144-EAF3-3B76-DCB2-E9D6A78C2844}"/>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Text Placeholder 3">
            <a:extLst>
              <a:ext uri="{FF2B5EF4-FFF2-40B4-BE49-F238E27FC236}">
                <a16:creationId xmlns:a16="http://schemas.microsoft.com/office/drawing/2014/main" id="{2EA24ECC-DA47-B1B6-51ED-5243201834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009556E-E21A-0F29-5F27-F7B833A6CC9D}"/>
              </a:ext>
            </a:extLst>
          </p:cNvPr>
          <p:cNvSpPr>
            <a:spLocks noGrp="1"/>
          </p:cNvSpPr>
          <p:nvPr>
            <p:ph type="dt" sz="half" idx="10"/>
          </p:nvPr>
        </p:nvSpPr>
        <p:spPr/>
        <p:txBody>
          <a:bodyPr/>
          <a:lstStyle/>
          <a:p>
            <a:fld id="{16CA6EDF-1D47-459C-947F-5A18CF51DB2A}" type="datetimeFigureOut">
              <a:rPr lang="LID4096" smtClean="0"/>
              <a:t>10/20/2026</a:t>
            </a:fld>
            <a:endParaRPr lang="LID4096"/>
          </a:p>
        </p:txBody>
      </p:sp>
      <p:sp>
        <p:nvSpPr>
          <p:cNvPr id="6" name="Footer Placeholder 5">
            <a:extLst>
              <a:ext uri="{FF2B5EF4-FFF2-40B4-BE49-F238E27FC236}">
                <a16:creationId xmlns:a16="http://schemas.microsoft.com/office/drawing/2014/main" id="{E703E671-D64E-4FD9-3E29-6AA610942154}"/>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187B4CD5-CE61-A6F1-A9D5-40009E49D3AB}"/>
              </a:ext>
            </a:extLst>
          </p:cNvPr>
          <p:cNvSpPr>
            <a:spLocks noGrp="1"/>
          </p:cNvSpPr>
          <p:nvPr>
            <p:ph type="sldNum" sz="quarter" idx="12"/>
          </p:nvPr>
        </p:nvSpPr>
        <p:spPr/>
        <p:txBody>
          <a:bodyPr/>
          <a:lstStyle/>
          <a:p>
            <a:fld id="{C2C83F5C-AE31-43D5-AA7C-C8F08FFE1F3F}" type="slidenum">
              <a:rPr lang="LID4096" smtClean="0"/>
              <a:t>‹#›</a:t>
            </a:fld>
            <a:endParaRPr lang="LID4096"/>
          </a:p>
        </p:txBody>
      </p:sp>
    </p:spTree>
    <p:extLst>
      <p:ext uri="{BB962C8B-B14F-4D97-AF65-F5344CB8AC3E}">
        <p14:creationId xmlns:p14="http://schemas.microsoft.com/office/powerpoint/2010/main" val="23705323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8A253-C935-D22D-99BF-2D754D43C923}"/>
              </a:ext>
            </a:extLst>
          </p:cNvPr>
          <p:cNvSpPr>
            <a:spLocks noGrp="1"/>
          </p:cNvSpPr>
          <p:nvPr>
            <p:ph type="title"/>
          </p:nvPr>
        </p:nvSpPr>
        <p:spPr/>
        <p:txBody>
          <a:bodyPr/>
          <a:lstStyle/>
          <a:p>
            <a:r>
              <a:rPr lang="en-GB"/>
              <a:t>Click to edit Master title style</a:t>
            </a:r>
            <a:endParaRPr lang="LID4096"/>
          </a:p>
        </p:txBody>
      </p:sp>
      <p:sp>
        <p:nvSpPr>
          <p:cNvPr id="3" name="Vertical Text Placeholder 2">
            <a:extLst>
              <a:ext uri="{FF2B5EF4-FFF2-40B4-BE49-F238E27FC236}">
                <a16:creationId xmlns:a16="http://schemas.microsoft.com/office/drawing/2014/main" id="{581081D7-581F-0DE6-22A5-816A39A57FD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4" name="Date Placeholder 3">
            <a:extLst>
              <a:ext uri="{FF2B5EF4-FFF2-40B4-BE49-F238E27FC236}">
                <a16:creationId xmlns:a16="http://schemas.microsoft.com/office/drawing/2014/main" id="{C08B1C2E-E5F1-CC34-B17A-D3C4436CB5EB}"/>
              </a:ext>
            </a:extLst>
          </p:cNvPr>
          <p:cNvSpPr>
            <a:spLocks noGrp="1"/>
          </p:cNvSpPr>
          <p:nvPr>
            <p:ph type="dt" sz="half" idx="10"/>
          </p:nvPr>
        </p:nvSpPr>
        <p:spPr/>
        <p:txBody>
          <a:bodyPr/>
          <a:lstStyle/>
          <a:p>
            <a:fld id="{16CA6EDF-1D47-459C-947F-5A18CF51DB2A}" type="datetimeFigureOut">
              <a:rPr lang="LID4096" smtClean="0"/>
              <a:t>10/20/2026</a:t>
            </a:fld>
            <a:endParaRPr lang="LID4096"/>
          </a:p>
        </p:txBody>
      </p:sp>
      <p:sp>
        <p:nvSpPr>
          <p:cNvPr id="5" name="Footer Placeholder 4">
            <a:extLst>
              <a:ext uri="{FF2B5EF4-FFF2-40B4-BE49-F238E27FC236}">
                <a16:creationId xmlns:a16="http://schemas.microsoft.com/office/drawing/2014/main" id="{A7A9639E-ACAD-9E1B-7FB2-9ADF9FDE8648}"/>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DDA4A183-9BF1-7396-BFF4-FF93C7D43485}"/>
              </a:ext>
            </a:extLst>
          </p:cNvPr>
          <p:cNvSpPr>
            <a:spLocks noGrp="1"/>
          </p:cNvSpPr>
          <p:nvPr>
            <p:ph type="sldNum" sz="quarter" idx="12"/>
          </p:nvPr>
        </p:nvSpPr>
        <p:spPr/>
        <p:txBody>
          <a:bodyPr/>
          <a:lstStyle/>
          <a:p>
            <a:fld id="{C2C83F5C-AE31-43D5-AA7C-C8F08FFE1F3F}" type="slidenum">
              <a:rPr lang="LID4096" smtClean="0"/>
              <a:t>‹#›</a:t>
            </a:fld>
            <a:endParaRPr lang="LID4096"/>
          </a:p>
        </p:txBody>
      </p:sp>
    </p:spTree>
    <p:extLst>
      <p:ext uri="{BB962C8B-B14F-4D97-AF65-F5344CB8AC3E}">
        <p14:creationId xmlns:p14="http://schemas.microsoft.com/office/powerpoint/2010/main" val="3524886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86404BB-E9D4-0832-DC99-FE7751B3A617}"/>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LID4096"/>
          </a:p>
        </p:txBody>
      </p:sp>
      <p:sp>
        <p:nvSpPr>
          <p:cNvPr id="3" name="Vertical Text Placeholder 2">
            <a:extLst>
              <a:ext uri="{FF2B5EF4-FFF2-40B4-BE49-F238E27FC236}">
                <a16:creationId xmlns:a16="http://schemas.microsoft.com/office/drawing/2014/main" id="{9DC0673E-6F8F-519F-8DCC-A78AEB5593D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4" name="Date Placeholder 3">
            <a:extLst>
              <a:ext uri="{FF2B5EF4-FFF2-40B4-BE49-F238E27FC236}">
                <a16:creationId xmlns:a16="http://schemas.microsoft.com/office/drawing/2014/main" id="{207B7C9C-9E58-CF3D-34CE-35DC5960218B}"/>
              </a:ext>
            </a:extLst>
          </p:cNvPr>
          <p:cNvSpPr>
            <a:spLocks noGrp="1"/>
          </p:cNvSpPr>
          <p:nvPr>
            <p:ph type="dt" sz="half" idx="10"/>
          </p:nvPr>
        </p:nvSpPr>
        <p:spPr/>
        <p:txBody>
          <a:bodyPr/>
          <a:lstStyle/>
          <a:p>
            <a:fld id="{16CA6EDF-1D47-459C-947F-5A18CF51DB2A}" type="datetimeFigureOut">
              <a:rPr lang="LID4096" smtClean="0"/>
              <a:t>10/20/2026</a:t>
            </a:fld>
            <a:endParaRPr lang="LID4096"/>
          </a:p>
        </p:txBody>
      </p:sp>
      <p:sp>
        <p:nvSpPr>
          <p:cNvPr id="5" name="Footer Placeholder 4">
            <a:extLst>
              <a:ext uri="{FF2B5EF4-FFF2-40B4-BE49-F238E27FC236}">
                <a16:creationId xmlns:a16="http://schemas.microsoft.com/office/drawing/2014/main" id="{2C75F99F-E3BD-DF71-3FD1-7595D42917FA}"/>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B0580F48-D460-B7E7-4DFA-B1092C7F2769}"/>
              </a:ext>
            </a:extLst>
          </p:cNvPr>
          <p:cNvSpPr>
            <a:spLocks noGrp="1"/>
          </p:cNvSpPr>
          <p:nvPr>
            <p:ph type="sldNum" sz="quarter" idx="12"/>
          </p:nvPr>
        </p:nvSpPr>
        <p:spPr/>
        <p:txBody>
          <a:bodyPr/>
          <a:lstStyle/>
          <a:p>
            <a:fld id="{C2C83F5C-AE31-43D5-AA7C-C8F08FFE1F3F}" type="slidenum">
              <a:rPr lang="LID4096" smtClean="0"/>
              <a:t>‹#›</a:t>
            </a:fld>
            <a:endParaRPr lang="LID4096"/>
          </a:p>
        </p:txBody>
      </p:sp>
    </p:spTree>
    <p:extLst>
      <p:ext uri="{BB962C8B-B14F-4D97-AF65-F5344CB8AC3E}">
        <p14:creationId xmlns:p14="http://schemas.microsoft.com/office/powerpoint/2010/main" val="36469002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69085A-F0E5-9039-EA84-2F69D6420A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LID4096"/>
          </a:p>
        </p:txBody>
      </p:sp>
      <p:sp>
        <p:nvSpPr>
          <p:cNvPr id="3" name="Text Placeholder 2">
            <a:extLst>
              <a:ext uri="{FF2B5EF4-FFF2-40B4-BE49-F238E27FC236}">
                <a16:creationId xmlns:a16="http://schemas.microsoft.com/office/drawing/2014/main" id="{7974A65F-88D3-B801-E69E-CAF92CA782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LID4096"/>
          </a:p>
        </p:txBody>
      </p:sp>
      <p:sp>
        <p:nvSpPr>
          <p:cNvPr id="4" name="Date Placeholder 3">
            <a:extLst>
              <a:ext uri="{FF2B5EF4-FFF2-40B4-BE49-F238E27FC236}">
                <a16:creationId xmlns:a16="http://schemas.microsoft.com/office/drawing/2014/main" id="{0AC84D59-12D6-7E94-B364-3B3E23102F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6CA6EDF-1D47-459C-947F-5A18CF51DB2A}" type="datetimeFigureOut">
              <a:rPr lang="LID4096" smtClean="0"/>
              <a:t>10/20/2026</a:t>
            </a:fld>
            <a:endParaRPr lang="LID4096"/>
          </a:p>
        </p:txBody>
      </p:sp>
      <p:sp>
        <p:nvSpPr>
          <p:cNvPr id="5" name="Footer Placeholder 4">
            <a:extLst>
              <a:ext uri="{FF2B5EF4-FFF2-40B4-BE49-F238E27FC236}">
                <a16:creationId xmlns:a16="http://schemas.microsoft.com/office/drawing/2014/main" id="{A87B8A70-1302-1D37-0E75-4C8AF7F7F2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LID4096"/>
          </a:p>
        </p:txBody>
      </p:sp>
      <p:sp>
        <p:nvSpPr>
          <p:cNvPr id="6" name="Slide Number Placeholder 5">
            <a:extLst>
              <a:ext uri="{FF2B5EF4-FFF2-40B4-BE49-F238E27FC236}">
                <a16:creationId xmlns:a16="http://schemas.microsoft.com/office/drawing/2014/main" id="{C8A539A7-D4B0-12C4-425F-3B3AE6350D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2C83F5C-AE31-43D5-AA7C-C8F08FFE1F3F}" type="slidenum">
              <a:rPr lang="LID4096" smtClean="0"/>
              <a:t>‹#›</a:t>
            </a:fld>
            <a:endParaRPr lang="LID4096"/>
          </a:p>
        </p:txBody>
      </p:sp>
    </p:spTree>
    <p:extLst>
      <p:ext uri="{BB962C8B-B14F-4D97-AF65-F5344CB8AC3E}">
        <p14:creationId xmlns:p14="http://schemas.microsoft.com/office/powerpoint/2010/main" val="4894291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Extreme heat deaths surpass 10,000 in France and Spain as Europe endures  scorching summer - [İLKHA] Ilke News Agency">
            <a:extLst>
              <a:ext uri="{FF2B5EF4-FFF2-40B4-BE49-F238E27FC236}">
                <a16:creationId xmlns:a16="http://schemas.microsoft.com/office/drawing/2014/main" id="{7D9E6A7F-9CC3-9FFC-EA42-2780D1F641F2}"/>
              </a:ext>
            </a:extLst>
          </p:cNvPr>
          <p:cNvPicPr>
            <a:picLocks noGrp="1" noRot="1" noChangeAspect="1" noMove="1" noResize="1" noEditPoints="1" noAdjustHandles="1" noChangeArrowheads="1" noChangeShapeType="1" noCrop="1"/>
          </p:cNvPicPr>
          <p:nvPr/>
        </p:nvPicPr>
        <p:blipFill>
          <a:blip r:embed="rId2"/>
          <a:srcRect t="14603" b="811"/>
          <a:stretch>
            <a:fillRect/>
          </a:stretch>
        </p:blipFill>
        <p:spPr>
          <a:xfrm>
            <a:off x="20" y="10"/>
            <a:ext cx="12191980" cy="6857990"/>
          </a:xfrm>
          <a:prstGeom prst="rect">
            <a:avLst/>
          </a:prstGeom>
        </p:spPr>
      </p:pic>
      <p:sp>
        <p:nvSpPr>
          <p:cNvPr id="9" name="Rectangle 8">
            <a:extLst>
              <a:ext uri="{FF2B5EF4-FFF2-40B4-BE49-F238E27FC236}">
                <a16:creationId xmlns:a16="http://schemas.microsoft.com/office/drawing/2014/main" id="{8870DEF6-46A2-D4F8-8BE6-91165D93ECC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1683934" y="1860919"/>
            <a:ext cx="4975280" cy="3108645"/>
          </a:xfrm>
          <a:prstGeom prst="rect">
            <a:avLst/>
          </a:prstGeom>
          <a:solidFill>
            <a:srgbClr val="FFFFFF">
              <a:alpha val="98824"/>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1B02C02E-912D-64DC-FCCC-127A2392D850}"/>
              </a:ext>
            </a:extLst>
          </p:cNvPr>
          <p:cNvSpPr>
            <a:spLocks noGrp="1"/>
          </p:cNvSpPr>
          <p:nvPr>
            <p:ph type="subTitle" idx="1"/>
          </p:nvPr>
        </p:nvSpPr>
        <p:spPr>
          <a:xfrm>
            <a:off x="2090529" y="2073105"/>
            <a:ext cx="4191938" cy="2724656"/>
          </a:xfrm>
        </p:spPr>
        <p:txBody>
          <a:bodyPr anchor="t">
            <a:normAutofit/>
          </a:bodyPr>
          <a:lstStyle/>
          <a:p>
            <a:r>
              <a:rPr lang="en-GB" sz="1600" b="1"/>
              <a:t> ANALYSIS OF EXTREME TEMPERATURES IN PARIS</a:t>
            </a:r>
          </a:p>
          <a:p>
            <a:r>
              <a:rPr lang="en-GB" sz="1600" b="1"/>
              <a:t>Period: 1995–2019</a:t>
            </a:r>
          </a:p>
          <a:p>
            <a:endParaRPr lang="en-GB" sz="1600" b="1"/>
          </a:p>
          <a:p>
            <a:r>
              <a:rPr lang="en-GB" sz="1600" b="1"/>
              <a:t>Prepared By</a:t>
            </a:r>
          </a:p>
          <a:p>
            <a:r>
              <a:rPr lang="en-GB" sz="1600" i="1"/>
              <a:t>Zainab </a:t>
            </a:r>
            <a:r>
              <a:rPr lang="en-GB" sz="1600" i="1" err="1"/>
              <a:t>Shokunbi</a:t>
            </a:r>
            <a:endParaRPr lang="en-GB" sz="1600" i="1"/>
          </a:p>
          <a:p>
            <a:r>
              <a:rPr lang="en-GB" sz="1600" i="1"/>
              <a:t>Chidiebere Nnadiegbulam</a:t>
            </a:r>
            <a:endParaRPr lang="LID4096" sz="1600" i="1"/>
          </a:p>
        </p:txBody>
      </p:sp>
      <p:cxnSp>
        <p:nvCxnSpPr>
          <p:cNvPr id="11" name="Straight Connector 10" hidden="1">
            <a:extLst>
              <a:ext uri="{FF2B5EF4-FFF2-40B4-BE49-F238E27FC236}">
                <a16:creationId xmlns:a16="http://schemas.microsoft.com/office/drawing/2014/main" id="{522632D6-DED9-FDEC-FD9F-09FF0A4544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3170" y="403477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91526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3F1EC-5F56-D35D-4199-ACB5EF78C183}"/>
              </a:ext>
            </a:extLst>
          </p:cNvPr>
          <p:cNvSpPr>
            <a:spLocks noGrp="1"/>
          </p:cNvSpPr>
          <p:nvPr>
            <p:ph type="title"/>
          </p:nvPr>
        </p:nvSpPr>
        <p:spPr>
          <a:xfrm>
            <a:off x="838200" y="95101"/>
            <a:ext cx="10515600" cy="616781"/>
          </a:xfrm>
        </p:spPr>
        <p:txBody>
          <a:bodyPr>
            <a:normAutofit fontScale="90000"/>
          </a:bodyPr>
          <a:lstStyle/>
          <a:p>
            <a:r>
              <a:rPr lang="es-ES" b="1">
                <a:solidFill>
                  <a:schemeClr val="accent2">
                    <a:lumMod val="75000"/>
                  </a:schemeClr>
                </a:solidFill>
              </a:rPr>
              <a:t>Introduction</a:t>
            </a:r>
            <a:endParaRPr lang="LID4096" b="1">
              <a:solidFill>
                <a:schemeClr val="accent2">
                  <a:lumMod val="75000"/>
                </a:schemeClr>
              </a:solidFill>
            </a:endParaRPr>
          </a:p>
        </p:txBody>
      </p:sp>
      <p:sp>
        <p:nvSpPr>
          <p:cNvPr id="3" name="Content Placeholder 2">
            <a:extLst>
              <a:ext uri="{FF2B5EF4-FFF2-40B4-BE49-F238E27FC236}">
                <a16:creationId xmlns:a16="http://schemas.microsoft.com/office/drawing/2014/main" id="{E613677D-C435-FB46-0ED9-54E608D1B2C7}"/>
              </a:ext>
            </a:extLst>
          </p:cNvPr>
          <p:cNvSpPr>
            <a:spLocks noGrp="1"/>
          </p:cNvSpPr>
          <p:nvPr>
            <p:ph idx="1"/>
          </p:nvPr>
        </p:nvSpPr>
        <p:spPr>
          <a:xfrm>
            <a:off x="838200" y="922761"/>
            <a:ext cx="6765435" cy="5133634"/>
          </a:xfrm>
        </p:spPr>
        <p:txBody>
          <a:bodyPr>
            <a:normAutofit lnSpcReduction="10000"/>
          </a:bodyPr>
          <a:lstStyle/>
          <a:p>
            <a:pPr marL="0" indent="0">
              <a:buNone/>
            </a:pPr>
            <a:endParaRPr lang="" b="1"/>
          </a:p>
          <a:p>
            <a:pPr lvl="0"/>
            <a:r>
              <a:rPr lang="" sz="2400" b="1"/>
              <a:t>Environmental issue:</a:t>
            </a:r>
            <a:r>
              <a:rPr lang="" sz="2400"/>
              <a:t> Extreme heat and unusually high temperatures in urban environments – Paris</a:t>
            </a:r>
          </a:p>
          <a:p>
            <a:pPr lvl="0"/>
            <a:endParaRPr lang="" sz="2400"/>
          </a:p>
          <a:p>
            <a:pPr lvl="0"/>
            <a:r>
              <a:rPr lang="" sz="2400" b="1"/>
              <a:t>Variable:</a:t>
            </a:r>
            <a:r>
              <a:rPr lang="" sz="2400"/>
              <a:t> Daily average air temperature (°C).</a:t>
            </a:r>
          </a:p>
          <a:p>
            <a:pPr lvl="0"/>
            <a:endParaRPr lang="" sz="2400"/>
          </a:p>
          <a:p>
            <a:pPr lvl="0"/>
            <a:r>
              <a:rPr lang="" sz="2400" b="1"/>
              <a:t>Study period:</a:t>
            </a:r>
            <a:r>
              <a:rPr lang="" sz="2400"/>
              <a:t> 1995–2019 (25 years).</a:t>
            </a:r>
          </a:p>
          <a:p>
            <a:pPr lvl="0"/>
            <a:endParaRPr lang="" sz="2400"/>
          </a:p>
          <a:p>
            <a:pPr lvl="0"/>
            <a:r>
              <a:rPr lang="" sz="2400" b="1"/>
              <a:t>Temporal resolution:</a:t>
            </a:r>
            <a:r>
              <a:rPr lang="" sz="2400"/>
              <a:t> Daily observations.</a:t>
            </a:r>
          </a:p>
          <a:p>
            <a:pPr lvl="0"/>
            <a:endParaRPr lang="" sz="2400"/>
          </a:p>
          <a:p>
            <a:pPr lvl="0"/>
            <a:r>
              <a:rPr lang="" sz="2400" b="1"/>
              <a:t>Dataset:</a:t>
            </a:r>
            <a:r>
              <a:rPr lang="" sz="2400"/>
              <a:t> 9,072 temperature records, with no missing temperature values reported.</a:t>
            </a:r>
          </a:p>
        </p:txBody>
      </p:sp>
      <p:grpSp>
        <p:nvGrpSpPr>
          <p:cNvPr id="8" name="Group 7">
            <a:extLst>
              <a:ext uri="{FF2B5EF4-FFF2-40B4-BE49-F238E27FC236}">
                <a16:creationId xmlns:a16="http://schemas.microsoft.com/office/drawing/2014/main" id="{4A7F9F61-4AFC-124D-592D-4DD3A27A4FA7}"/>
              </a:ext>
            </a:extLst>
          </p:cNvPr>
          <p:cNvGrpSpPr/>
          <p:nvPr/>
        </p:nvGrpSpPr>
        <p:grpSpPr>
          <a:xfrm>
            <a:off x="6589217" y="-115778"/>
            <a:ext cx="5602783" cy="6973778"/>
            <a:chOff x="6589217" y="-115778"/>
            <a:chExt cx="5602783" cy="6973778"/>
          </a:xfrm>
        </p:grpSpPr>
        <p:pic>
          <p:nvPicPr>
            <p:cNvPr id="5" name="Picture 4">
              <a:extLst>
                <a:ext uri="{FF2B5EF4-FFF2-40B4-BE49-F238E27FC236}">
                  <a16:creationId xmlns:a16="http://schemas.microsoft.com/office/drawing/2014/main" id="{D54FFFA2-2CC5-3AA3-7E02-BD400969F0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05050" y="1571050"/>
              <a:ext cx="5286950" cy="5286950"/>
            </a:xfrm>
            <a:prstGeom prst="rect">
              <a:avLst/>
            </a:prstGeom>
          </p:spPr>
        </p:pic>
        <p:pic>
          <p:nvPicPr>
            <p:cNvPr id="7" name="Picture 6">
              <a:extLst>
                <a:ext uri="{FF2B5EF4-FFF2-40B4-BE49-F238E27FC236}">
                  <a16:creationId xmlns:a16="http://schemas.microsoft.com/office/drawing/2014/main" id="{F31807C8-9C90-E8A7-E77B-9856D37D2C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9217" y="-115778"/>
              <a:ext cx="2959308" cy="2959308"/>
            </a:xfrm>
            <a:prstGeom prst="rect">
              <a:avLst/>
            </a:prstGeom>
          </p:spPr>
        </p:pic>
      </p:grpSp>
    </p:spTree>
    <p:extLst>
      <p:ext uri="{BB962C8B-B14F-4D97-AF65-F5344CB8AC3E}">
        <p14:creationId xmlns:p14="http://schemas.microsoft.com/office/powerpoint/2010/main" val="40086729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91E28-17CF-862E-1F67-E8E5BAF6AB49}"/>
              </a:ext>
            </a:extLst>
          </p:cNvPr>
          <p:cNvSpPr>
            <a:spLocks noGrp="1"/>
          </p:cNvSpPr>
          <p:nvPr>
            <p:ph type="title"/>
          </p:nvPr>
        </p:nvSpPr>
        <p:spPr>
          <a:xfrm>
            <a:off x="838200" y="509364"/>
            <a:ext cx="10515600" cy="638240"/>
          </a:xfrm>
        </p:spPr>
        <p:txBody>
          <a:bodyPr>
            <a:normAutofit fontScale="90000"/>
          </a:bodyPr>
          <a:lstStyle/>
          <a:p>
            <a:r>
              <a:rPr lang="" b="1">
                <a:solidFill>
                  <a:schemeClr val="accent2">
                    <a:lumMod val="75000"/>
                  </a:schemeClr>
                </a:solidFill>
              </a:rPr>
              <a:t>Exploratory Analysis</a:t>
            </a:r>
            <a:endParaRPr lang="LID4096">
              <a:solidFill>
                <a:schemeClr val="accent2">
                  <a:lumMod val="75000"/>
                </a:schemeClr>
              </a:solidFill>
            </a:endParaRPr>
          </a:p>
        </p:txBody>
      </p:sp>
      <p:sp>
        <p:nvSpPr>
          <p:cNvPr id="3" name="Content Placeholder 2">
            <a:extLst>
              <a:ext uri="{FF2B5EF4-FFF2-40B4-BE49-F238E27FC236}">
                <a16:creationId xmlns:a16="http://schemas.microsoft.com/office/drawing/2014/main" id="{014F52DA-D63C-33CD-90CA-4A0AC34CB2AB}"/>
              </a:ext>
            </a:extLst>
          </p:cNvPr>
          <p:cNvSpPr>
            <a:spLocks noGrp="1"/>
          </p:cNvSpPr>
          <p:nvPr>
            <p:ph idx="1"/>
          </p:nvPr>
        </p:nvSpPr>
        <p:spPr>
          <a:xfrm>
            <a:off x="838200" y="1256747"/>
            <a:ext cx="3887222" cy="385143"/>
          </a:xfrm>
        </p:spPr>
        <p:txBody>
          <a:bodyPr>
            <a:normAutofit/>
          </a:bodyPr>
          <a:lstStyle/>
          <a:p>
            <a:pPr lvl="0"/>
            <a:r>
              <a:rPr lang="" sz="1800"/>
              <a:t>Daily temperature time series</a:t>
            </a:r>
          </a:p>
        </p:txBody>
      </p:sp>
      <p:sp>
        <p:nvSpPr>
          <p:cNvPr id="4" name="Content Placeholder 2">
            <a:extLst>
              <a:ext uri="{FF2B5EF4-FFF2-40B4-BE49-F238E27FC236}">
                <a16:creationId xmlns:a16="http://schemas.microsoft.com/office/drawing/2014/main" id="{BD05A8C7-9D8F-1D3A-2DED-0619866EAD2C}"/>
              </a:ext>
            </a:extLst>
          </p:cNvPr>
          <p:cNvSpPr txBox="1">
            <a:spLocks/>
          </p:cNvSpPr>
          <p:nvPr/>
        </p:nvSpPr>
        <p:spPr>
          <a:xfrm>
            <a:off x="838200" y="4059953"/>
            <a:ext cx="4704875" cy="3851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 sz="1800"/>
              <a:t>Autocorrelation between daily observations</a:t>
            </a:r>
          </a:p>
        </p:txBody>
      </p:sp>
      <p:sp>
        <p:nvSpPr>
          <p:cNvPr id="6" name="Content Placeholder 2">
            <a:extLst>
              <a:ext uri="{FF2B5EF4-FFF2-40B4-BE49-F238E27FC236}">
                <a16:creationId xmlns:a16="http://schemas.microsoft.com/office/drawing/2014/main" id="{FB10ADD8-A277-E85A-C798-764C7B4FFB73}"/>
              </a:ext>
            </a:extLst>
          </p:cNvPr>
          <p:cNvSpPr txBox="1">
            <a:spLocks/>
          </p:cNvSpPr>
          <p:nvPr/>
        </p:nvSpPr>
        <p:spPr>
          <a:xfrm>
            <a:off x="6672523" y="1245062"/>
            <a:ext cx="4588203" cy="3851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 sz="1800"/>
              <a:t>Seasonal patterns and temporal variability</a:t>
            </a:r>
          </a:p>
        </p:txBody>
      </p:sp>
      <p:pic>
        <p:nvPicPr>
          <p:cNvPr id="11" name="Picture 10">
            <a:extLst>
              <a:ext uri="{FF2B5EF4-FFF2-40B4-BE49-F238E27FC236}">
                <a16:creationId xmlns:a16="http://schemas.microsoft.com/office/drawing/2014/main" id="{BE1E04CE-0B47-347C-5B17-108107EF13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1274" y="1630205"/>
            <a:ext cx="3437188" cy="2297173"/>
          </a:xfrm>
          <a:prstGeom prst="rect">
            <a:avLst/>
          </a:prstGeom>
        </p:spPr>
      </p:pic>
      <p:pic>
        <p:nvPicPr>
          <p:cNvPr id="13" name="Picture 12">
            <a:extLst>
              <a:ext uri="{FF2B5EF4-FFF2-40B4-BE49-F238E27FC236}">
                <a16:creationId xmlns:a16="http://schemas.microsoft.com/office/drawing/2014/main" id="{A83A82B9-548A-A235-2121-6AA7F5F624B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96969" y="4580111"/>
            <a:ext cx="3364565" cy="2248637"/>
          </a:xfrm>
          <a:prstGeom prst="rect">
            <a:avLst/>
          </a:prstGeom>
        </p:spPr>
      </p:pic>
      <p:pic>
        <p:nvPicPr>
          <p:cNvPr id="15" name="Picture 14">
            <a:extLst>
              <a:ext uri="{FF2B5EF4-FFF2-40B4-BE49-F238E27FC236}">
                <a16:creationId xmlns:a16="http://schemas.microsoft.com/office/drawing/2014/main" id="{5C738A3B-D62C-42EF-DC2A-C54C72268D5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056763" y="1641890"/>
            <a:ext cx="3819722" cy="2297174"/>
          </a:xfrm>
          <a:prstGeom prst="rect">
            <a:avLst/>
          </a:prstGeom>
        </p:spPr>
      </p:pic>
      <p:sp>
        <p:nvSpPr>
          <p:cNvPr id="19" name="Content Placeholder 2">
            <a:extLst>
              <a:ext uri="{FF2B5EF4-FFF2-40B4-BE49-F238E27FC236}">
                <a16:creationId xmlns:a16="http://schemas.microsoft.com/office/drawing/2014/main" id="{080FDD41-D44B-A909-EC4E-712DD4868BCA}"/>
              </a:ext>
            </a:extLst>
          </p:cNvPr>
          <p:cNvSpPr txBox="1">
            <a:spLocks/>
          </p:cNvSpPr>
          <p:nvPr/>
        </p:nvSpPr>
        <p:spPr>
          <a:xfrm>
            <a:off x="6765597" y="4059953"/>
            <a:ext cx="4588203" cy="38514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 sz="1800"/>
              <a:t>Outliers</a:t>
            </a:r>
          </a:p>
        </p:txBody>
      </p:sp>
      <p:pic>
        <p:nvPicPr>
          <p:cNvPr id="21" name="Picture 20">
            <a:extLst>
              <a:ext uri="{FF2B5EF4-FFF2-40B4-BE49-F238E27FC236}">
                <a16:creationId xmlns:a16="http://schemas.microsoft.com/office/drawing/2014/main" id="{CC0DAACD-0FA1-B8EA-9C17-538DABCE515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30729" y="4576639"/>
            <a:ext cx="3057938" cy="2255580"/>
          </a:xfrm>
          <a:prstGeom prst="rect">
            <a:avLst/>
          </a:prstGeom>
        </p:spPr>
      </p:pic>
    </p:spTree>
    <p:extLst>
      <p:ext uri="{BB962C8B-B14F-4D97-AF65-F5344CB8AC3E}">
        <p14:creationId xmlns:p14="http://schemas.microsoft.com/office/powerpoint/2010/main" val="29836133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72024-AB14-CC84-C037-959FE1291C28}"/>
              </a:ext>
            </a:extLst>
          </p:cNvPr>
          <p:cNvSpPr>
            <a:spLocks noGrp="1"/>
          </p:cNvSpPr>
          <p:nvPr>
            <p:ph type="title"/>
          </p:nvPr>
        </p:nvSpPr>
        <p:spPr>
          <a:xfrm>
            <a:off x="838200" y="365125"/>
            <a:ext cx="10515600" cy="819299"/>
          </a:xfrm>
        </p:spPr>
        <p:txBody>
          <a:bodyPr>
            <a:normAutofit/>
          </a:bodyPr>
          <a:lstStyle/>
          <a:p>
            <a:r>
              <a:rPr lang="es-ES" sz="4000" b="1">
                <a:solidFill>
                  <a:schemeClr val="accent2">
                    <a:lumMod val="75000"/>
                  </a:schemeClr>
                </a:solidFill>
              </a:rPr>
              <a:t>Reduction of Temporal Dependency</a:t>
            </a:r>
            <a:endParaRPr lang="LID4096" sz="4000" b="1">
              <a:solidFill>
                <a:schemeClr val="accent2">
                  <a:lumMod val="75000"/>
                </a:schemeClr>
              </a:solidFill>
            </a:endParaRPr>
          </a:p>
        </p:txBody>
      </p:sp>
      <p:sp>
        <p:nvSpPr>
          <p:cNvPr id="5" name="Content Placeholder 2">
            <a:extLst>
              <a:ext uri="{FF2B5EF4-FFF2-40B4-BE49-F238E27FC236}">
                <a16:creationId xmlns:a16="http://schemas.microsoft.com/office/drawing/2014/main" id="{EDB08E86-3F80-AE6B-D6AB-1E7D61869240}"/>
              </a:ext>
            </a:extLst>
          </p:cNvPr>
          <p:cNvSpPr txBox="1">
            <a:spLocks/>
          </p:cNvSpPr>
          <p:nvPr/>
        </p:nvSpPr>
        <p:spPr>
          <a:xfrm>
            <a:off x="838200" y="1853576"/>
            <a:ext cx="3623336" cy="36920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 sz="1800"/>
              <a:t>Annual maximum temperatures</a:t>
            </a:r>
          </a:p>
          <a:p>
            <a:pPr marL="0" indent="0">
              <a:buNone/>
            </a:pPr>
            <a:endParaRPr lang="LID4096"/>
          </a:p>
        </p:txBody>
      </p:sp>
      <p:pic>
        <p:nvPicPr>
          <p:cNvPr id="7" name="Picture 6">
            <a:extLst>
              <a:ext uri="{FF2B5EF4-FFF2-40B4-BE49-F238E27FC236}">
                <a16:creationId xmlns:a16="http://schemas.microsoft.com/office/drawing/2014/main" id="{A54E35E8-1772-E237-4DE2-606D2BE5B7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564" y="2549442"/>
            <a:ext cx="4871967" cy="3256078"/>
          </a:xfrm>
          <a:prstGeom prst="rect">
            <a:avLst/>
          </a:prstGeom>
        </p:spPr>
      </p:pic>
      <p:sp>
        <p:nvSpPr>
          <p:cNvPr id="9" name="Content Placeholder 2">
            <a:extLst>
              <a:ext uri="{FF2B5EF4-FFF2-40B4-BE49-F238E27FC236}">
                <a16:creationId xmlns:a16="http://schemas.microsoft.com/office/drawing/2014/main" id="{4E23C187-16A5-E26F-38AA-851DF942ED75}"/>
              </a:ext>
            </a:extLst>
          </p:cNvPr>
          <p:cNvSpPr txBox="1">
            <a:spLocks/>
          </p:cNvSpPr>
          <p:nvPr/>
        </p:nvSpPr>
        <p:spPr>
          <a:xfrm>
            <a:off x="6698952" y="1837637"/>
            <a:ext cx="4704875" cy="38514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 sz="1800"/>
              <a:t>Autocorrelation of Annual Maxima</a:t>
            </a:r>
          </a:p>
        </p:txBody>
      </p:sp>
      <p:pic>
        <p:nvPicPr>
          <p:cNvPr id="11" name="Picture 10">
            <a:extLst>
              <a:ext uri="{FF2B5EF4-FFF2-40B4-BE49-F238E27FC236}">
                <a16:creationId xmlns:a16="http://schemas.microsoft.com/office/drawing/2014/main" id="{4BB426AB-D308-CD34-1ED4-ACE2C34760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69975" y="2549442"/>
            <a:ext cx="4414335" cy="3256078"/>
          </a:xfrm>
          <a:prstGeom prst="rect">
            <a:avLst/>
          </a:prstGeom>
        </p:spPr>
      </p:pic>
      <p:sp>
        <p:nvSpPr>
          <p:cNvPr id="4" name="TextBox 3">
            <a:extLst>
              <a:ext uri="{FF2B5EF4-FFF2-40B4-BE49-F238E27FC236}">
                <a16:creationId xmlns:a16="http://schemas.microsoft.com/office/drawing/2014/main" id="{1DBB68AC-A2D5-4225-09A3-7E77BBE84106}"/>
              </a:ext>
            </a:extLst>
          </p:cNvPr>
          <p:cNvSpPr txBox="1"/>
          <p:nvPr/>
        </p:nvSpPr>
        <p:spPr>
          <a:xfrm>
            <a:off x="527564" y="5846544"/>
            <a:ext cx="4735812" cy="1200329"/>
          </a:xfrm>
          <a:prstGeom prst="rect">
            <a:avLst/>
          </a:prstGeom>
          <a:noFill/>
        </p:spPr>
        <p:txBody>
          <a:bodyPr wrap="square">
            <a:spAutoFit/>
          </a:bodyPr>
          <a:lstStyle/>
          <a:p>
            <a:pPr marL="285750" indent="-285750">
              <a:buFont typeface="Arial" panose="020B0604020202020204" pitchFamily="34" charset="0"/>
              <a:buChar char="•"/>
            </a:pPr>
            <a:r>
              <a:rPr lang="" sz="1800"/>
              <a:t>Annual Box Maxima Method</a:t>
            </a:r>
          </a:p>
          <a:p>
            <a:pPr marL="285750" indent="-285750">
              <a:buFont typeface="Arial" panose="020B0604020202020204" pitchFamily="34" charset="0"/>
              <a:buChar char="•"/>
            </a:pPr>
            <a:r>
              <a:rPr lang=""/>
              <a:t>25 Annual Maxima was produced</a:t>
            </a:r>
          </a:p>
          <a:p>
            <a:pPr marL="285750" indent="-285750">
              <a:buFont typeface="Arial" panose="020B0604020202020204" pitchFamily="34" charset="0"/>
              <a:buChar char="•"/>
            </a:pPr>
            <a:r>
              <a:rPr lang="" sz="1800"/>
              <a:t>Annual values from 25 to </a:t>
            </a:r>
            <a:r>
              <a:rPr lang="en-US" sz="1800"/>
              <a:t>33-degree</a:t>
            </a:r>
            <a:r>
              <a:rPr lang="" sz="1800"/>
              <a:t> celcius</a:t>
            </a:r>
          </a:p>
          <a:p>
            <a:pPr marL="0" indent="0">
              <a:buNone/>
            </a:pPr>
            <a:endParaRPr lang="LID4096" sz="1800"/>
          </a:p>
        </p:txBody>
      </p:sp>
      <p:sp>
        <p:nvSpPr>
          <p:cNvPr id="8" name="TextBox 7">
            <a:extLst>
              <a:ext uri="{FF2B5EF4-FFF2-40B4-BE49-F238E27FC236}">
                <a16:creationId xmlns:a16="http://schemas.microsoft.com/office/drawing/2014/main" id="{3FE0CA59-57E4-8017-7CD1-19880CF8CCEA}"/>
              </a:ext>
            </a:extLst>
          </p:cNvPr>
          <p:cNvSpPr txBox="1"/>
          <p:nvPr/>
        </p:nvSpPr>
        <p:spPr>
          <a:xfrm>
            <a:off x="6617988" y="5693210"/>
            <a:ext cx="4735812" cy="1477328"/>
          </a:xfrm>
          <a:prstGeom prst="rect">
            <a:avLst/>
          </a:prstGeom>
          <a:noFill/>
        </p:spPr>
        <p:txBody>
          <a:bodyPr wrap="square">
            <a:spAutoFit/>
          </a:bodyPr>
          <a:lstStyle/>
          <a:p>
            <a:pPr marL="285750" indent="-285750">
              <a:buFont typeface="Arial" panose="020B0604020202020204" pitchFamily="34" charset="0"/>
              <a:buChar char="•"/>
            </a:pPr>
            <a:r>
              <a:rPr lang="" sz="1800"/>
              <a:t>All lags from 2 to 13 lies within the blue dashed 95% confidence limit</a:t>
            </a:r>
          </a:p>
          <a:p>
            <a:pPr marL="285750" indent="-285750">
              <a:buFont typeface="Arial" panose="020B0604020202020204" pitchFamily="34" charset="0"/>
              <a:buChar char="•"/>
            </a:pPr>
            <a:r>
              <a:rPr lang="en-US"/>
              <a:t>This suggests no clear dependence on the temperature values</a:t>
            </a:r>
            <a:endParaRPr lang="" sz="1800"/>
          </a:p>
          <a:p>
            <a:pPr marL="0" indent="0">
              <a:buNone/>
            </a:pPr>
            <a:endParaRPr lang="LID4096" sz="1800"/>
          </a:p>
        </p:txBody>
      </p:sp>
    </p:spTree>
    <p:extLst>
      <p:ext uri="{BB962C8B-B14F-4D97-AF65-F5344CB8AC3E}">
        <p14:creationId xmlns:p14="http://schemas.microsoft.com/office/powerpoint/2010/main" val="34675247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163D5-9B96-4F3A-358D-9A6C5F87C868}"/>
              </a:ext>
            </a:extLst>
          </p:cNvPr>
          <p:cNvSpPr>
            <a:spLocks noGrp="1"/>
          </p:cNvSpPr>
          <p:nvPr>
            <p:ph type="title"/>
          </p:nvPr>
        </p:nvSpPr>
        <p:spPr>
          <a:xfrm>
            <a:off x="838200" y="365125"/>
            <a:ext cx="3463977" cy="729157"/>
          </a:xfrm>
        </p:spPr>
        <p:txBody>
          <a:bodyPr>
            <a:normAutofit/>
          </a:bodyPr>
          <a:lstStyle/>
          <a:p>
            <a:r>
              <a:rPr lang="es-ES" sz="4000" b="1">
                <a:solidFill>
                  <a:schemeClr val="accent2">
                    <a:lumMod val="75000"/>
                  </a:schemeClr>
                </a:solidFill>
              </a:rPr>
              <a:t>Block Maxima</a:t>
            </a:r>
            <a:endParaRPr lang="LID4096" sz="4000" b="1">
              <a:solidFill>
                <a:schemeClr val="accent2">
                  <a:lumMod val="75000"/>
                </a:schemeClr>
              </a:solidFill>
            </a:endParaRPr>
          </a:p>
        </p:txBody>
      </p:sp>
      <p:pic>
        <p:nvPicPr>
          <p:cNvPr id="5" name="Picture 4">
            <a:extLst>
              <a:ext uri="{FF2B5EF4-FFF2-40B4-BE49-F238E27FC236}">
                <a16:creationId xmlns:a16="http://schemas.microsoft.com/office/drawing/2014/main" id="{18AB8C3F-D132-39E8-1461-65BD5B5446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204882"/>
            <a:ext cx="4443325" cy="2969604"/>
          </a:xfrm>
          <a:prstGeom prst="rect">
            <a:avLst/>
          </a:prstGeom>
        </p:spPr>
      </p:pic>
      <p:graphicFrame>
        <p:nvGraphicFramePr>
          <p:cNvPr id="10" name="Table 9">
            <a:extLst>
              <a:ext uri="{FF2B5EF4-FFF2-40B4-BE49-F238E27FC236}">
                <a16:creationId xmlns:a16="http://schemas.microsoft.com/office/drawing/2014/main" id="{F91F95BB-2963-8281-FBB7-9F6A2BF75592}"/>
              </a:ext>
            </a:extLst>
          </p:cNvPr>
          <p:cNvGraphicFramePr>
            <a:graphicFrameLocks noGrp="1"/>
          </p:cNvGraphicFramePr>
          <p:nvPr>
            <p:extLst>
              <p:ext uri="{D42A27DB-BD31-4B8C-83A1-F6EECF244321}">
                <p14:modId xmlns:p14="http://schemas.microsoft.com/office/powerpoint/2010/main" val="190643308"/>
              </p:ext>
            </p:extLst>
          </p:nvPr>
        </p:nvGraphicFramePr>
        <p:xfrm>
          <a:off x="895350" y="4272386"/>
          <a:ext cx="10669559" cy="1854200"/>
        </p:xfrm>
        <a:graphic>
          <a:graphicData uri="http://schemas.openxmlformats.org/drawingml/2006/table">
            <a:tbl>
              <a:tblPr firstRow="1" bandRow="1">
                <a:tableStyleId>{5940675A-B579-460E-94D1-54222C63F5DA}</a:tableStyleId>
              </a:tblPr>
              <a:tblGrid>
                <a:gridCol w="2334931">
                  <a:extLst>
                    <a:ext uri="{9D8B030D-6E8A-4147-A177-3AD203B41FA5}">
                      <a16:colId xmlns:a16="http://schemas.microsoft.com/office/drawing/2014/main" val="2987130574"/>
                    </a:ext>
                  </a:extLst>
                </a:gridCol>
                <a:gridCol w="2091374">
                  <a:extLst>
                    <a:ext uri="{9D8B030D-6E8A-4147-A177-3AD203B41FA5}">
                      <a16:colId xmlns:a16="http://schemas.microsoft.com/office/drawing/2014/main" val="3897859493"/>
                    </a:ext>
                  </a:extLst>
                </a:gridCol>
                <a:gridCol w="2291357">
                  <a:extLst>
                    <a:ext uri="{9D8B030D-6E8A-4147-A177-3AD203B41FA5}">
                      <a16:colId xmlns:a16="http://schemas.microsoft.com/office/drawing/2014/main" val="1040941871"/>
                    </a:ext>
                  </a:extLst>
                </a:gridCol>
                <a:gridCol w="1906161">
                  <a:extLst>
                    <a:ext uri="{9D8B030D-6E8A-4147-A177-3AD203B41FA5}">
                      <a16:colId xmlns:a16="http://schemas.microsoft.com/office/drawing/2014/main" val="4150269099"/>
                    </a:ext>
                  </a:extLst>
                </a:gridCol>
                <a:gridCol w="2045736">
                  <a:extLst>
                    <a:ext uri="{9D8B030D-6E8A-4147-A177-3AD203B41FA5}">
                      <a16:colId xmlns:a16="http://schemas.microsoft.com/office/drawing/2014/main" val="1262490676"/>
                    </a:ext>
                  </a:extLst>
                </a:gridCol>
              </a:tblGrid>
              <a:tr h="370840">
                <a:tc gridSpan="5">
                  <a:txBody>
                    <a:bodyPr/>
                    <a:lstStyle/>
                    <a:p>
                      <a:pPr algn="ctr"/>
                      <a:r>
                        <a:rPr lang="es-ES" b="1">
                          <a:solidFill>
                            <a:schemeClr val="tx1"/>
                          </a:solidFill>
                        </a:rPr>
                        <a:t>Parameter Estimate and Confidence Interval</a:t>
                      </a:r>
                      <a:endParaRPr lang="LID4096" b="1">
                        <a:solidFill>
                          <a:schemeClr val="tx1"/>
                        </a:solidFill>
                      </a:endParaRPr>
                    </a:p>
                  </a:txBody>
                  <a:tcPr/>
                </a:tc>
                <a:tc hMerge="1">
                  <a:txBody>
                    <a:bodyPr/>
                    <a:lstStyle/>
                    <a:p>
                      <a:endParaRPr lang="LID4096" b="1">
                        <a:solidFill>
                          <a:schemeClr val="tx1"/>
                        </a:solidFill>
                      </a:endParaRPr>
                    </a:p>
                  </a:txBody>
                  <a:tcPr/>
                </a:tc>
                <a:tc hMerge="1">
                  <a:txBody>
                    <a:bodyPr/>
                    <a:lstStyle/>
                    <a:p>
                      <a:endParaRPr lang="LID4096" b="1">
                        <a:solidFill>
                          <a:schemeClr val="tx1"/>
                        </a:solidFill>
                      </a:endParaRPr>
                    </a:p>
                  </a:txBody>
                  <a:tcPr/>
                </a:tc>
                <a:tc hMerge="1">
                  <a:txBody>
                    <a:bodyPr/>
                    <a:lstStyle/>
                    <a:p>
                      <a:endParaRPr lang="LID4096" b="1">
                        <a:solidFill>
                          <a:schemeClr val="tx1"/>
                        </a:solidFill>
                      </a:endParaRPr>
                    </a:p>
                  </a:txBody>
                  <a:tcPr/>
                </a:tc>
                <a:tc hMerge="1">
                  <a:txBody>
                    <a:bodyPr/>
                    <a:lstStyle/>
                    <a:p>
                      <a:endParaRPr lang="LID4096" b="1">
                        <a:solidFill>
                          <a:schemeClr val="tx1"/>
                        </a:solidFill>
                      </a:endParaRPr>
                    </a:p>
                  </a:txBody>
                  <a:tcPr/>
                </a:tc>
                <a:extLst>
                  <a:ext uri="{0D108BD9-81ED-4DB2-BD59-A6C34878D82A}">
                    <a16:rowId xmlns:a16="http://schemas.microsoft.com/office/drawing/2014/main" val="1998109575"/>
                  </a:ext>
                </a:extLst>
              </a:tr>
              <a:tr h="370840">
                <a:tc>
                  <a:txBody>
                    <a:bodyPr/>
                    <a:lstStyle/>
                    <a:p>
                      <a:r>
                        <a:rPr lang="" sz="1800" b="1">
                          <a:solidFill>
                            <a:schemeClr val="tx1"/>
                          </a:solidFill>
                          <a:effectLst/>
                        </a:rPr>
                        <a:t>Parameter</a:t>
                      </a:r>
                      <a:endParaRPr lang="LID4096" b="1">
                        <a:solidFill>
                          <a:schemeClr val="tx1"/>
                        </a:solidFill>
                      </a:endParaRPr>
                    </a:p>
                  </a:txBody>
                  <a:tcPr/>
                </a:tc>
                <a:tc>
                  <a:txBody>
                    <a:bodyPr/>
                    <a:lstStyle/>
                    <a:p>
                      <a:r>
                        <a:rPr lang="" sz="1800" b="1">
                          <a:solidFill>
                            <a:schemeClr val="tx1"/>
                          </a:solidFill>
                          <a:effectLst/>
                        </a:rPr>
                        <a:t>Estimate</a:t>
                      </a:r>
                      <a:endParaRPr lang="LID4096" b="1">
                        <a:solidFill>
                          <a:schemeClr val="tx1"/>
                        </a:solidFill>
                      </a:endParaRPr>
                    </a:p>
                  </a:txBody>
                  <a:tcPr/>
                </a:tc>
                <a:tc>
                  <a:txBody>
                    <a:bodyPr/>
                    <a:lstStyle/>
                    <a:p>
                      <a:r>
                        <a:rPr lang="" sz="1800" b="1">
                          <a:solidFill>
                            <a:schemeClr val="tx1"/>
                          </a:solidFill>
                          <a:effectLst/>
                        </a:rPr>
                        <a:t>Standard_Error</a:t>
                      </a:r>
                      <a:endParaRPr lang="LID4096" b="1">
                        <a:solidFill>
                          <a:schemeClr val="tx1"/>
                        </a:solidFill>
                      </a:endParaRPr>
                    </a:p>
                  </a:txBody>
                  <a:tcPr/>
                </a:tc>
                <a:tc>
                  <a:txBody>
                    <a:bodyPr/>
                    <a:lstStyle/>
                    <a:p>
                      <a:r>
                        <a:rPr lang="" sz="1800" b="1">
                          <a:solidFill>
                            <a:schemeClr val="tx1"/>
                          </a:solidFill>
                          <a:effectLst/>
                        </a:rPr>
                        <a:t>Lower_95_CI </a:t>
                      </a:r>
                      <a:endParaRPr lang="LID4096" b="1">
                        <a:solidFill>
                          <a:schemeClr val="tx1"/>
                        </a:solidFill>
                      </a:endParaRPr>
                    </a:p>
                  </a:txBody>
                  <a:tcPr/>
                </a:tc>
                <a:tc>
                  <a:txBody>
                    <a:bodyPr/>
                    <a:lstStyle/>
                    <a:p>
                      <a:r>
                        <a:rPr lang="" sz="1800" b="1">
                          <a:solidFill>
                            <a:schemeClr val="tx1"/>
                          </a:solidFill>
                          <a:effectLst/>
                        </a:rPr>
                        <a:t>Upper_95_CI</a:t>
                      </a:r>
                      <a:endParaRPr lang="LID4096" b="1">
                        <a:solidFill>
                          <a:schemeClr val="tx1"/>
                        </a:solidFill>
                      </a:endParaRPr>
                    </a:p>
                  </a:txBody>
                  <a:tcPr/>
                </a:tc>
                <a:extLst>
                  <a:ext uri="{0D108BD9-81ED-4DB2-BD59-A6C34878D82A}">
                    <a16:rowId xmlns:a16="http://schemas.microsoft.com/office/drawing/2014/main" val="2952225103"/>
                  </a:ext>
                </a:extLst>
              </a:tr>
              <a:tr h="370840">
                <a:tc>
                  <a:txBody>
                    <a:bodyPr/>
                    <a:lstStyle/>
                    <a:p>
                      <a:r>
                        <a:rPr lang="" sz="1800" b="0">
                          <a:solidFill>
                            <a:schemeClr val="tx1"/>
                          </a:solidFill>
                          <a:effectLst/>
                        </a:rPr>
                        <a:t>Location (mu) </a:t>
                      </a:r>
                      <a:endParaRPr lang="LID4096"/>
                    </a:p>
                  </a:txBody>
                  <a:tcPr/>
                </a:tc>
                <a:tc>
                  <a:txBody>
                    <a:bodyPr/>
                    <a:lstStyle/>
                    <a:p>
                      <a:r>
                        <a:rPr lang="" sz="1800" b="0">
                          <a:solidFill>
                            <a:schemeClr val="tx1"/>
                          </a:solidFill>
                          <a:effectLst/>
                        </a:rPr>
                        <a:t>27.099791022</a:t>
                      </a:r>
                      <a:endParaRPr lang="LID4096"/>
                    </a:p>
                  </a:txBody>
                  <a:tcPr/>
                </a:tc>
                <a:tc>
                  <a:txBody>
                    <a:bodyPr/>
                    <a:lstStyle/>
                    <a:p>
                      <a:r>
                        <a:rPr lang="" sz="1800" b="0">
                          <a:solidFill>
                            <a:schemeClr val="tx1"/>
                          </a:solidFill>
                          <a:effectLst/>
                        </a:rPr>
                        <a:t>0.3672186</a:t>
                      </a:r>
                      <a:endParaRPr lang="LID4096"/>
                    </a:p>
                  </a:txBody>
                  <a:tcPr/>
                </a:tc>
                <a:tc>
                  <a:txBody>
                    <a:bodyPr/>
                    <a:lstStyle/>
                    <a:p>
                      <a:r>
                        <a:rPr lang="" sz="1800" b="0">
                          <a:solidFill>
                            <a:schemeClr val="tx1"/>
                          </a:solidFill>
                          <a:effectLst/>
                        </a:rPr>
                        <a:t>26.3800425</a:t>
                      </a:r>
                      <a:endParaRPr lang="LID4096"/>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 sz="1800" b="0">
                          <a:solidFill>
                            <a:schemeClr val="tx1"/>
                          </a:solidFill>
                          <a:effectLst/>
                        </a:rPr>
                        <a:t>27.8195395</a:t>
                      </a:r>
                    </a:p>
                  </a:txBody>
                  <a:tcPr/>
                </a:tc>
                <a:extLst>
                  <a:ext uri="{0D108BD9-81ED-4DB2-BD59-A6C34878D82A}">
                    <a16:rowId xmlns:a16="http://schemas.microsoft.com/office/drawing/2014/main" val="1158127129"/>
                  </a:ext>
                </a:extLst>
              </a:tr>
              <a:tr h="370840">
                <a:tc>
                  <a:txBody>
                    <a:bodyPr/>
                    <a:lstStyle/>
                    <a:p>
                      <a:r>
                        <a:rPr lang="" sz="1800" b="0">
                          <a:solidFill>
                            <a:schemeClr val="tx1"/>
                          </a:solidFill>
                          <a:effectLst/>
                        </a:rPr>
                        <a:t>Scale (sigma) </a:t>
                      </a:r>
                      <a:endParaRPr lang="LID4096"/>
                    </a:p>
                  </a:txBody>
                  <a:tcPr/>
                </a:tc>
                <a:tc>
                  <a:txBody>
                    <a:bodyPr/>
                    <a:lstStyle/>
                    <a:p>
                      <a:r>
                        <a:rPr lang="" sz="1800" b="0">
                          <a:solidFill>
                            <a:schemeClr val="tx1"/>
                          </a:solidFill>
                          <a:effectLst/>
                        </a:rPr>
                        <a:t>1.593513411</a:t>
                      </a:r>
                      <a:endParaRPr lang="LID4096"/>
                    </a:p>
                  </a:txBody>
                  <a:tcPr/>
                </a:tc>
                <a:tc>
                  <a:txBody>
                    <a:bodyPr/>
                    <a:lstStyle/>
                    <a:p>
                      <a:r>
                        <a:rPr lang="" sz="1800" b="0">
                          <a:solidFill>
                            <a:schemeClr val="tx1"/>
                          </a:solidFill>
                          <a:effectLst/>
                        </a:rPr>
                        <a:t>0.2713159</a:t>
                      </a:r>
                      <a:endParaRPr lang="LID4096"/>
                    </a:p>
                  </a:txBody>
                  <a:tcPr/>
                </a:tc>
                <a:tc>
                  <a:txBody>
                    <a:bodyPr/>
                    <a:lstStyle/>
                    <a:p>
                      <a:r>
                        <a:rPr lang="" sz="1800" b="0">
                          <a:solidFill>
                            <a:schemeClr val="tx1"/>
                          </a:solidFill>
                          <a:effectLst/>
                        </a:rPr>
                        <a:t>1.0617343</a:t>
                      </a:r>
                      <a:endParaRPr lang="LID4096"/>
                    </a:p>
                  </a:txBody>
                  <a:tcPr/>
                </a:tc>
                <a:tc>
                  <a:txBody>
                    <a:bodyPr/>
                    <a:lstStyle/>
                    <a:p>
                      <a:r>
                        <a:rPr lang="" sz="1800" b="0">
                          <a:solidFill>
                            <a:schemeClr val="tx1"/>
                          </a:solidFill>
                          <a:effectLst/>
                        </a:rPr>
                        <a:t>2.1252925</a:t>
                      </a:r>
                      <a:endParaRPr lang="LID4096"/>
                    </a:p>
                  </a:txBody>
                  <a:tcPr/>
                </a:tc>
                <a:extLst>
                  <a:ext uri="{0D108BD9-81ED-4DB2-BD59-A6C34878D82A}">
                    <a16:rowId xmlns:a16="http://schemas.microsoft.com/office/drawing/2014/main" val="3771467229"/>
                  </a:ext>
                </a:extLst>
              </a:tr>
              <a:tr h="370840">
                <a:tc>
                  <a:txBody>
                    <a:bodyPr/>
                    <a:lstStyle/>
                    <a:p>
                      <a:r>
                        <a:rPr lang="" sz="1800" b="0">
                          <a:solidFill>
                            <a:schemeClr val="tx1"/>
                          </a:solidFill>
                          <a:effectLst/>
                        </a:rPr>
                        <a:t>Shape (gamma) </a:t>
                      </a:r>
                      <a:endParaRPr lang="LID4096"/>
                    </a:p>
                  </a:txBody>
                  <a:tcPr/>
                </a:tc>
                <a:tc>
                  <a:txBody>
                    <a:bodyPr/>
                    <a:lstStyle/>
                    <a:p>
                      <a:r>
                        <a:rPr lang="" sz="1800" b="0">
                          <a:solidFill>
                            <a:schemeClr val="tx1"/>
                          </a:solidFill>
                          <a:effectLst/>
                        </a:rPr>
                        <a:t>-0.002410794 </a:t>
                      </a:r>
                      <a:endParaRPr lang="LID4096"/>
                    </a:p>
                  </a:txBody>
                  <a:tcPr/>
                </a:tc>
                <a:tc>
                  <a:txBody>
                    <a:bodyPr/>
                    <a:lstStyle/>
                    <a:p>
                      <a:r>
                        <a:rPr lang="" sz="1800" b="0">
                          <a:solidFill>
                            <a:schemeClr val="tx1"/>
                          </a:solidFill>
                          <a:effectLst/>
                        </a:rPr>
                        <a:t>0.1734038</a:t>
                      </a:r>
                      <a:endParaRPr lang="LID4096"/>
                    </a:p>
                  </a:txBody>
                  <a:tcPr/>
                </a:tc>
                <a:tc>
                  <a:txBody>
                    <a:bodyPr/>
                    <a:lstStyle/>
                    <a:p>
                      <a:r>
                        <a:rPr lang="" sz="1800" b="0">
                          <a:solidFill>
                            <a:schemeClr val="tx1"/>
                          </a:solidFill>
                          <a:effectLst/>
                        </a:rPr>
                        <a:t>-0.3422822 </a:t>
                      </a:r>
                      <a:endParaRPr lang="LID4096"/>
                    </a:p>
                  </a:txBody>
                  <a:tcPr/>
                </a:tc>
                <a:tc>
                  <a:txBody>
                    <a:bodyPr/>
                    <a:lstStyle/>
                    <a:p>
                      <a:r>
                        <a:rPr lang="" sz="1800" b="0">
                          <a:solidFill>
                            <a:schemeClr val="tx1"/>
                          </a:solidFill>
                          <a:effectLst/>
                        </a:rPr>
                        <a:t>0.3374606</a:t>
                      </a:r>
                      <a:endParaRPr lang="LID4096"/>
                    </a:p>
                  </a:txBody>
                  <a:tcPr/>
                </a:tc>
                <a:extLst>
                  <a:ext uri="{0D108BD9-81ED-4DB2-BD59-A6C34878D82A}">
                    <a16:rowId xmlns:a16="http://schemas.microsoft.com/office/drawing/2014/main" val="4198131139"/>
                  </a:ext>
                </a:extLst>
              </a:tr>
            </a:tbl>
          </a:graphicData>
        </a:graphic>
      </p:graphicFrame>
      <p:sp>
        <p:nvSpPr>
          <p:cNvPr id="12" name="TextBox 11">
            <a:extLst>
              <a:ext uri="{FF2B5EF4-FFF2-40B4-BE49-F238E27FC236}">
                <a16:creationId xmlns:a16="http://schemas.microsoft.com/office/drawing/2014/main" id="{1D49DF80-F4A3-5B49-F4AA-99CD0852CBEE}"/>
              </a:ext>
            </a:extLst>
          </p:cNvPr>
          <p:cNvSpPr txBox="1"/>
          <p:nvPr/>
        </p:nvSpPr>
        <p:spPr>
          <a:xfrm>
            <a:off x="6232124" y="1544715"/>
            <a:ext cx="5228948" cy="2308324"/>
          </a:xfrm>
          <a:prstGeom prst="rect">
            <a:avLst/>
          </a:prstGeom>
          <a:noFill/>
        </p:spPr>
        <p:txBody>
          <a:bodyPr wrap="square" rtlCol="0">
            <a:spAutoFit/>
          </a:bodyPr>
          <a:lstStyle/>
          <a:p>
            <a:r>
              <a:rPr lang=""/>
              <a:t>The shape parameter is essentially zero, suggesting that annual temperature extremes follow a Gumbel-type behaviour.</a:t>
            </a:r>
          </a:p>
          <a:p>
            <a:endParaRPr lang=""/>
          </a:p>
          <a:p>
            <a:r>
              <a:rPr lang=""/>
              <a:t>Very predictable behaviour.</a:t>
            </a:r>
          </a:p>
          <a:p>
            <a:endParaRPr lang=""/>
          </a:p>
          <a:p>
            <a:r>
              <a:rPr lang=""/>
              <a:t>Do not increase at a very fast rate.</a:t>
            </a:r>
          </a:p>
          <a:p>
            <a:endParaRPr lang="LID4096"/>
          </a:p>
        </p:txBody>
      </p:sp>
    </p:spTree>
    <p:extLst>
      <p:ext uri="{BB962C8B-B14F-4D97-AF65-F5344CB8AC3E}">
        <p14:creationId xmlns:p14="http://schemas.microsoft.com/office/powerpoint/2010/main" val="26537434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5426E90-657B-B425-E04A-72A5C1ABBE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1" y="1094282"/>
            <a:ext cx="8004716" cy="5746062"/>
          </a:xfrm>
          <a:prstGeom prst="rect">
            <a:avLst/>
          </a:prstGeom>
        </p:spPr>
      </p:pic>
      <p:sp>
        <p:nvSpPr>
          <p:cNvPr id="6" name="Title 1">
            <a:extLst>
              <a:ext uri="{FF2B5EF4-FFF2-40B4-BE49-F238E27FC236}">
                <a16:creationId xmlns:a16="http://schemas.microsoft.com/office/drawing/2014/main" id="{1BE9FB65-C7D8-C928-4C14-8154EAEE05A3}"/>
              </a:ext>
            </a:extLst>
          </p:cNvPr>
          <p:cNvSpPr>
            <a:spLocks noGrp="1"/>
          </p:cNvSpPr>
          <p:nvPr>
            <p:ph type="title"/>
          </p:nvPr>
        </p:nvSpPr>
        <p:spPr>
          <a:xfrm>
            <a:off x="838201" y="365125"/>
            <a:ext cx="6986666" cy="729157"/>
          </a:xfrm>
        </p:spPr>
        <p:txBody>
          <a:bodyPr>
            <a:normAutofit/>
          </a:bodyPr>
          <a:lstStyle/>
          <a:p>
            <a:r>
              <a:rPr lang="es-ES" sz="4000" b="1">
                <a:solidFill>
                  <a:schemeClr val="accent2">
                    <a:lumMod val="75000"/>
                  </a:schemeClr>
                </a:solidFill>
              </a:rPr>
              <a:t>Block Maxima – </a:t>
            </a:r>
            <a:r>
              <a:rPr lang="es-ES" sz="3200">
                <a:solidFill>
                  <a:schemeClr val="accent2">
                    <a:lumMod val="75000"/>
                  </a:schemeClr>
                </a:solidFill>
              </a:rPr>
              <a:t>Diagnostic Analysis</a:t>
            </a:r>
            <a:endParaRPr lang="LID4096" sz="3200">
              <a:solidFill>
                <a:schemeClr val="accent2">
                  <a:lumMod val="75000"/>
                </a:schemeClr>
              </a:solidFill>
            </a:endParaRPr>
          </a:p>
        </p:txBody>
      </p:sp>
    </p:spTree>
    <p:extLst>
      <p:ext uri="{BB962C8B-B14F-4D97-AF65-F5344CB8AC3E}">
        <p14:creationId xmlns:p14="http://schemas.microsoft.com/office/powerpoint/2010/main" val="31759733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AAB3E-6E2C-BA0B-4286-377194C87A0E}"/>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7CE59319-F0A1-E2B2-0272-CFB041803899}"/>
              </a:ext>
            </a:extLst>
          </p:cNvPr>
          <p:cNvSpPr>
            <a:spLocks noGrp="1"/>
          </p:cNvSpPr>
          <p:nvPr>
            <p:ph type="title"/>
          </p:nvPr>
        </p:nvSpPr>
        <p:spPr>
          <a:xfrm>
            <a:off x="838201" y="365125"/>
            <a:ext cx="6986666" cy="729157"/>
          </a:xfrm>
        </p:spPr>
        <p:txBody>
          <a:bodyPr>
            <a:normAutofit fontScale="90000"/>
          </a:bodyPr>
          <a:lstStyle/>
          <a:p>
            <a:r>
              <a:rPr lang="es-ES" sz="4000" b="1"/>
              <a:t>Block Maxima – </a:t>
            </a:r>
            <a:r>
              <a:rPr lang="es-ES" sz="3200"/>
              <a:t>Non – Stationary models</a:t>
            </a:r>
            <a:endParaRPr lang="LID4096" sz="3200"/>
          </a:p>
        </p:txBody>
      </p:sp>
      <p:pic>
        <p:nvPicPr>
          <p:cNvPr id="3" name="Picture 2">
            <a:extLst>
              <a:ext uri="{FF2B5EF4-FFF2-40B4-BE49-F238E27FC236}">
                <a16:creationId xmlns:a16="http://schemas.microsoft.com/office/drawing/2014/main" id="{0220BC3D-83EA-9269-C019-7E7A29D12B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6952" y="1143243"/>
            <a:ext cx="6641891" cy="5469078"/>
          </a:xfrm>
          <a:prstGeom prst="rect">
            <a:avLst/>
          </a:prstGeom>
        </p:spPr>
      </p:pic>
      <p:graphicFrame>
        <p:nvGraphicFramePr>
          <p:cNvPr id="8" name="Table 7">
            <a:extLst>
              <a:ext uri="{FF2B5EF4-FFF2-40B4-BE49-F238E27FC236}">
                <a16:creationId xmlns:a16="http://schemas.microsoft.com/office/drawing/2014/main" id="{333A2387-7287-E2AE-86C3-34F2A1EC7AC6}"/>
              </a:ext>
            </a:extLst>
          </p:cNvPr>
          <p:cNvGraphicFramePr>
            <a:graphicFrameLocks noGrp="1"/>
          </p:cNvGraphicFramePr>
          <p:nvPr>
            <p:extLst>
              <p:ext uri="{D42A27DB-BD31-4B8C-83A1-F6EECF244321}">
                <p14:modId xmlns:p14="http://schemas.microsoft.com/office/powerpoint/2010/main" val="3214095850"/>
              </p:ext>
            </p:extLst>
          </p:nvPr>
        </p:nvGraphicFramePr>
        <p:xfrm>
          <a:off x="7270069" y="1900324"/>
          <a:ext cx="4443126" cy="1752600"/>
        </p:xfrm>
        <a:graphic>
          <a:graphicData uri="http://schemas.openxmlformats.org/drawingml/2006/table">
            <a:tbl>
              <a:tblPr firstRow="1" bandRow="1">
                <a:tableStyleId>{5940675A-B579-460E-94D1-54222C63F5DA}</a:tableStyleId>
              </a:tblPr>
              <a:tblGrid>
                <a:gridCol w="1798115">
                  <a:extLst>
                    <a:ext uri="{9D8B030D-6E8A-4147-A177-3AD203B41FA5}">
                      <a16:colId xmlns:a16="http://schemas.microsoft.com/office/drawing/2014/main" val="1059209927"/>
                    </a:ext>
                  </a:extLst>
                </a:gridCol>
                <a:gridCol w="1454449">
                  <a:extLst>
                    <a:ext uri="{9D8B030D-6E8A-4147-A177-3AD203B41FA5}">
                      <a16:colId xmlns:a16="http://schemas.microsoft.com/office/drawing/2014/main" val="3457565550"/>
                    </a:ext>
                  </a:extLst>
                </a:gridCol>
                <a:gridCol w="1190562">
                  <a:extLst>
                    <a:ext uri="{9D8B030D-6E8A-4147-A177-3AD203B41FA5}">
                      <a16:colId xmlns:a16="http://schemas.microsoft.com/office/drawing/2014/main" val="739475291"/>
                    </a:ext>
                  </a:extLst>
                </a:gridCol>
              </a:tblGrid>
              <a:tr h="370840">
                <a:tc>
                  <a:txBody>
                    <a:bodyPr/>
                    <a:lstStyle/>
                    <a:p>
                      <a:r>
                        <a:rPr lang="" sz="1800" b="0">
                          <a:solidFill>
                            <a:schemeClr val="tx1"/>
                          </a:solidFill>
                          <a:effectLst/>
                        </a:rPr>
                        <a:t>Model Parameters</a:t>
                      </a:r>
                      <a:endParaRPr lang="LID4096"/>
                    </a:p>
                  </a:txBody>
                  <a:tcPr/>
                </a:tc>
                <a:tc>
                  <a:txBody>
                    <a:bodyPr/>
                    <a:lstStyle/>
                    <a:p>
                      <a:r>
                        <a:rPr lang="es-ES" b="0">
                          <a:solidFill>
                            <a:schemeClr val="tx1"/>
                          </a:solidFill>
                        </a:rPr>
                        <a:t>Parameters</a:t>
                      </a:r>
                      <a:endParaRPr lang="LID4096" b="0">
                        <a:solidFill>
                          <a:schemeClr val="tx1"/>
                        </a:solidFill>
                      </a:endParaRPr>
                    </a:p>
                  </a:txBody>
                  <a:tcPr/>
                </a:tc>
                <a:tc>
                  <a:txBody>
                    <a:bodyPr/>
                    <a:lstStyle/>
                    <a:p>
                      <a:r>
                        <a:rPr lang="" sz="1800" b="0">
                          <a:solidFill>
                            <a:schemeClr val="tx1"/>
                          </a:solidFill>
                          <a:effectLst/>
                        </a:rPr>
                        <a:t>AIC</a:t>
                      </a:r>
                      <a:endParaRPr lang="LID4096"/>
                    </a:p>
                  </a:txBody>
                  <a:tcPr/>
                </a:tc>
                <a:extLst>
                  <a:ext uri="{0D108BD9-81ED-4DB2-BD59-A6C34878D82A}">
                    <a16:rowId xmlns:a16="http://schemas.microsoft.com/office/drawing/2014/main" val="488521130"/>
                  </a:ext>
                </a:extLst>
              </a:tr>
              <a:tr h="370840">
                <a:tc>
                  <a:txBody>
                    <a:bodyPr/>
                    <a:lstStyle/>
                    <a:p>
                      <a:r>
                        <a:rPr lang="" sz="1800" b="0">
                          <a:solidFill>
                            <a:schemeClr val="tx1"/>
                          </a:solidFill>
                          <a:effectLst/>
                        </a:rPr>
                        <a:t>Quadratic GEV </a:t>
                      </a:r>
                      <a:endParaRPr lang="LID4096"/>
                    </a:p>
                  </a:txBody>
                  <a:tcPr/>
                </a:tc>
                <a:tc>
                  <a:txBody>
                    <a:bodyPr/>
                    <a:lstStyle/>
                    <a:p>
                      <a:r>
                        <a:rPr lang="es-ES"/>
                        <a:t>5</a:t>
                      </a:r>
                      <a:endParaRPr lang="LID4096"/>
                    </a:p>
                  </a:txBody>
                  <a:tcPr/>
                </a:tc>
                <a:tc>
                  <a:txBody>
                    <a:bodyPr/>
                    <a:lstStyle/>
                    <a:p>
                      <a:r>
                        <a:rPr lang="" sz="1800" b="0">
                          <a:solidFill>
                            <a:schemeClr val="tx1"/>
                          </a:solidFill>
                          <a:effectLst/>
                        </a:rPr>
                        <a:t>104.7288</a:t>
                      </a:r>
                      <a:endParaRPr lang="LID4096"/>
                    </a:p>
                  </a:txBody>
                  <a:tcPr/>
                </a:tc>
                <a:extLst>
                  <a:ext uri="{0D108BD9-81ED-4DB2-BD59-A6C34878D82A}">
                    <a16:rowId xmlns:a16="http://schemas.microsoft.com/office/drawing/2014/main" val="2554037179"/>
                  </a:ext>
                </a:extLst>
              </a:tr>
              <a:tr h="370840">
                <a:tc>
                  <a:txBody>
                    <a:bodyPr/>
                    <a:lstStyle/>
                    <a:p>
                      <a:r>
                        <a:rPr lang="" sz="1800" b="0">
                          <a:solidFill>
                            <a:schemeClr val="tx1"/>
                          </a:solidFill>
                          <a:effectLst/>
                        </a:rPr>
                        <a:t>Stationary GEV </a:t>
                      </a:r>
                      <a:endParaRPr lang="LID4096"/>
                    </a:p>
                  </a:txBody>
                  <a:tcPr/>
                </a:tc>
                <a:tc>
                  <a:txBody>
                    <a:bodyPr/>
                    <a:lstStyle/>
                    <a:p>
                      <a:r>
                        <a:rPr lang="es-ES"/>
                        <a:t>3</a:t>
                      </a:r>
                      <a:endParaRPr lang="LID4096"/>
                    </a:p>
                  </a:txBody>
                  <a:tcPr/>
                </a:tc>
                <a:tc>
                  <a:txBody>
                    <a:bodyPr/>
                    <a:lstStyle/>
                    <a:p>
                      <a:r>
                        <a:rPr lang="" sz="1800" b="0">
                          <a:solidFill>
                            <a:schemeClr val="tx1"/>
                          </a:solidFill>
                          <a:effectLst/>
                        </a:rPr>
                        <a:t>108.3451</a:t>
                      </a:r>
                      <a:endParaRPr lang="LID4096"/>
                    </a:p>
                  </a:txBody>
                  <a:tcPr/>
                </a:tc>
                <a:extLst>
                  <a:ext uri="{0D108BD9-81ED-4DB2-BD59-A6C34878D82A}">
                    <a16:rowId xmlns:a16="http://schemas.microsoft.com/office/drawing/2014/main" val="1326136743"/>
                  </a:ext>
                </a:extLst>
              </a:tr>
              <a:tr h="370840">
                <a:tc>
                  <a:txBody>
                    <a:bodyPr/>
                    <a:lstStyle/>
                    <a:p>
                      <a:r>
                        <a:rPr lang="" sz="1800" b="0">
                          <a:solidFill>
                            <a:schemeClr val="tx1"/>
                          </a:solidFill>
                          <a:effectLst/>
                        </a:rPr>
                        <a:t>Linear GEV </a:t>
                      </a:r>
                      <a:endParaRPr lang="LID4096"/>
                    </a:p>
                  </a:txBody>
                  <a:tcPr/>
                </a:tc>
                <a:tc>
                  <a:txBody>
                    <a:bodyPr/>
                    <a:lstStyle/>
                    <a:p>
                      <a:r>
                        <a:rPr lang="es-ES"/>
                        <a:t>4</a:t>
                      </a:r>
                      <a:endParaRPr lang="LID4096"/>
                    </a:p>
                  </a:txBody>
                  <a:tcPr/>
                </a:tc>
                <a:tc>
                  <a:txBody>
                    <a:bodyPr/>
                    <a:lstStyle/>
                    <a:p>
                      <a:r>
                        <a:rPr lang="" sz="1800" b="0">
                          <a:solidFill>
                            <a:schemeClr val="tx1"/>
                          </a:solidFill>
                          <a:effectLst/>
                        </a:rPr>
                        <a:t>110.1437</a:t>
                      </a:r>
                      <a:endParaRPr lang="LID4096"/>
                    </a:p>
                  </a:txBody>
                  <a:tcPr/>
                </a:tc>
                <a:extLst>
                  <a:ext uri="{0D108BD9-81ED-4DB2-BD59-A6C34878D82A}">
                    <a16:rowId xmlns:a16="http://schemas.microsoft.com/office/drawing/2014/main" val="2265857591"/>
                  </a:ext>
                </a:extLst>
              </a:tr>
            </a:tbl>
          </a:graphicData>
        </a:graphic>
      </p:graphicFrame>
      <p:sp>
        <p:nvSpPr>
          <p:cNvPr id="9" name="TextBox 8">
            <a:extLst>
              <a:ext uri="{FF2B5EF4-FFF2-40B4-BE49-F238E27FC236}">
                <a16:creationId xmlns:a16="http://schemas.microsoft.com/office/drawing/2014/main" id="{02C7FCDF-13BA-B5B6-E454-4CFF5B4AB3D8}"/>
              </a:ext>
            </a:extLst>
          </p:cNvPr>
          <p:cNvSpPr txBox="1"/>
          <p:nvPr/>
        </p:nvSpPr>
        <p:spPr>
          <a:xfrm>
            <a:off x="7146588" y="3958146"/>
            <a:ext cx="4298460" cy="2031325"/>
          </a:xfrm>
          <a:prstGeom prst="rect">
            <a:avLst/>
          </a:prstGeom>
          <a:noFill/>
        </p:spPr>
        <p:txBody>
          <a:bodyPr wrap="square" rtlCol="0">
            <a:spAutoFit/>
          </a:bodyPr>
          <a:lstStyle/>
          <a:p>
            <a:r>
              <a:rPr lang=""/>
              <a:t>The quadratic model provides the best fit because it has the lowest AIC value. </a:t>
            </a:r>
          </a:p>
          <a:p>
            <a:endParaRPr lang=""/>
          </a:p>
          <a:p>
            <a:r>
              <a:rPr lang=""/>
              <a:t>This suggests that allowing a curved trend over time better describes the annual maximum temperatures.</a:t>
            </a:r>
          </a:p>
          <a:p>
            <a:endParaRPr lang="LID4096"/>
          </a:p>
        </p:txBody>
      </p:sp>
    </p:spTree>
    <p:extLst>
      <p:ext uri="{BB962C8B-B14F-4D97-AF65-F5344CB8AC3E}">
        <p14:creationId xmlns:p14="http://schemas.microsoft.com/office/powerpoint/2010/main" val="33407053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30549-F593-2120-A624-269DBCAAB708}"/>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328E049B-F63D-F2F5-6EE7-C6BF82F82B9B}"/>
              </a:ext>
            </a:extLst>
          </p:cNvPr>
          <p:cNvSpPr>
            <a:spLocks noGrp="1"/>
          </p:cNvSpPr>
          <p:nvPr>
            <p:ph type="title"/>
          </p:nvPr>
        </p:nvSpPr>
        <p:spPr>
          <a:xfrm>
            <a:off x="838201" y="365125"/>
            <a:ext cx="8643078" cy="729157"/>
          </a:xfrm>
        </p:spPr>
        <p:txBody>
          <a:bodyPr>
            <a:normAutofit/>
          </a:bodyPr>
          <a:lstStyle/>
          <a:p>
            <a:r>
              <a:rPr lang="es-ES" sz="4000" b="1"/>
              <a:t>Block Maxima – </a:t>
            </a:r>
            <a:r>
              <a:rPr lang="es-ES" sz="3200"/>
              <a:t>Analysis of Shape Parameter</a:t>
            </a:r>
            <a:endParaRPr lang="LID4096" sz="3200"/>
          </a:p>
        </p:txBody>
      </p:sp>
      <p:graphicFrame>
        <p:nvGraphicFramePr>
          <p:cNvPr id="7" name="Table 6">
            <a:extLst>
              <a:ext uri="{FF2B5EF4-FFF2-40B4-BE49-F238E27FC236}">
                <a16:creationId xmlns:a16="http://schemas.microsoft.com/office/drawing/2014/main" id="{08E34CEB-73F9-4CC1-9293-9542729BABAC}"/>
              </a:ext>
            </a:extLst>
          </p:cNvPr>
          <p:cNvGraphicFramePr>
            <a:graphicFrameLocks noGrp="1"/>
          </p:cNvGraphicFramePr>
          <p:nvPr>
            <p:extLst>
              <p:ext uri="{D42A27DB-BD31-4B8C-83A1-F6EECF244321}">
                <p14:modId xmlns:p14="http://schemas.microsoft.com/office/powerpoint/2010/main" val="1738876811"/>
              </p:ext>
            </p:extLst>
          </p:nvPr>
        </p:nvGraphicFramePr>
        <p:xfrm>
          <a:off x="893182" y="1394601"/>
          <a:ext cx="8588097" cy="1381760"/>
        </p:xfrm>
        <a:graphic>
          <a:graphicData uri="http://schemas.openxmlformats.org/drawingml/2006/table">
            <a:tbl>
              <a:tblPr firstRow="1" bandRow="1">
                <a:tableStyleId>{5940675A-B579-460E-94D1-54222C63F5DA}</a:tableStyleId>
              </a:tblPr>
              <a:tblGrid>
                <a:gridCol w="1391420">
                  <a:extLst>
                    <a:ext uri="{9D8B030D-6E8A-4147-A177-3AD203B41FA5}">
                      <a16:colId xmlns:a16="http://schemas.microsoft.com/office/drawing/2014/main" val="2987130574"/>
                    </a:ext>
                  </a:extLst>
                </a:gridCol>
                <a:gridCol w="1648908">
                  <a:extLst>
                    <a:ext uri="{9D8B030D-6E8A-4147-A177-3AD203B41FA5}">
                      <a16:colId xmlns:a16="http://schemas.microsoft.com/office/drawing/2014/main" val="3897859493"/>
                    </a:ext>
                  </a:extLst>
                </a:gridCol>
                <a:gridCol w="1951539">
                  <a:extLst>
                    <a:ext uri="{9D8B030D-6E8A-4147-A177-3AD203B41FA5}">
                      <a16:colId xmlns:a16="http://schemas.microsoft.com/office/drawing/2014/main" val="1040941871"/>
                    </a:ext>
                  </a:extLst>
                </a:gridCol>
                <a:gridCol w="1785841">
                  <a:extLst>
                    <a:ext uri="{9D8B030D-6E8A-4147-A177-3AD203B41FA5}">
                      <a16:colId xmlns:a16="http://schemas.microsoft.com/office/drawing/2014/main" val="4150269099"/>
                    </a:ext>
                  </a:extLst>
                </a:gridCol>
                <a:gridCol w="1810389">
                  <a:extLst>
                    <a:ext uri="{9D8B030D-6E8A-4147-A177-3AD203B41FA5}">
                      <a16:colId xmlns:a16="http://schemas.microsoft.com/office/drawing/2014/main" val="1262490676"/>
                    </a:ext>
                  </a:extLst>
                </a:gridCol>
              </a:tblGrid>
              <a:tr h="370840">
                <a:tc gridSpan="5">
                  <a:txBody>
                    <a:bodyPr/>
                    <a:lstStyle/>
                    <a:p>
                      <a:pPr algn="ctr"/>
                      <a:r>
                        <a:rPr lang="es-ES" b="1">
                          <a:solidFill>
                            <a:schemeClr val="tx1"/>
                          </a:solidFill>
                        </a:rPr>
                        <a:t>Analysis of Shape Parameter</a:t>
                      </a:r>
                      <a:endParaRPr lang="LID4096" b="1">
                        <a:solidFill>
                          <a:schemeClr val="tx1"/>
                        </a:solidFill>
                      </a:endParaRPr>
                    </a:p>
                  </a:txBody>
                  <a:tcPr/>
                </a:tc>
                <a:tc hMerge="1">
                  <a:txBody>
                    <a:bodyPr/>
                    <a:lstStyle/>
                    <a:p>
                      <a:endParaRPr lang="LID4096" b="1">
                        <a:solidFill>
                          <a:schemeClr val="tx1"/>
                        </a:solidFill>
                      </a:endParaRPr>
                    </a:p>
                  </a:txBody>
                  <a:tcPr/>
                </a:tc>
                <a:tc hMerge="1">
                  <a:txBody>
                    <a:bodyPr/>
                    <a:lstStyle/>
                    <a:p>
                      <a:endParaRPr lang="LID4096" b="1">
                        <a:solidFill>
                          <a:schemeClr val="tx1"/>
                        </a:solidFill>
                      </a:endParaRPr>
                    </a:p>
                  </a:txBody>
                  <a:tcPr/>
                </a:tc>
                <a:tc hMerge="1">
                  <a:txBody>
                    <a:bodyPr/>
                    <a:lstStyle/>
                    <a:p>
                      <a:endParaRPr lang="LID4096" b="1">
                        <a:solidFill>
                          <a:schemeClr val="tx1"/>
                        </a:solidFill>
                      </a:endParaRPr>
                    </a:p>
                  </a:txBody>
                  <a:tcPr/>
                </a:tc>
                <a:tc hMerge="1">
                  <a:txBody>
                    <a:bodyPr/>
                    <a:lstStyle/>
                    <a:p>
                      <a:endParaRPr lang="LID4096" b="1">
                        <a:solidFill>
                          <a:schemeClr val="tx1"/>
                        </a:solidFill>
                      </a:endParaRPr>
                    </a:p>
                  </a:txBody>
                  <a:tcPr/>
                </a:tc>
                <a:extLst>
                  <a:ext uri="{0D108BD9-81ED-4DB2-BD59-A6C34878D82A}">
                    <a16:rowId xmlns:a16="http://schemas.microsoft.com/office/drawing/2014/main" val="1998109575"/>
                  </a:ext>
                </a:extLst>
              </a:tr>
              <a:tr h="370840">
                <a:tc>
                  <a:txBody>
                    <a:bodyPr/>
                    <a:lstStyle/>
                    <a:p>
                      <a:r>
                        <a:rPr lang="" sz="1800" b="1">
                          <a:solidFill>
                            <a:schemeClr val="tx1"/>
                          </a:solidFill>
                          <a:effectLst/>
                        </a:rPr>
                        <a:t>Parameter</a:t>
                      </a:r>
                      <a:endParaRPr lang="LID4096" b="1">
                        <a:solidFill>
                          <a:schemeClr val="tx1"/>
                        </a:solidFill>
                      </a:endParaRPr>
                    </a:p>
                  </a:txBody>
                  <a:tcPr/>
                </a:tc>
                <a:tc>
                  <a:txBody>
                    <a:bodyPr/>
                    <a:lstStyle/>
                    <a:p>
                      <a:r>
                        <a:rPr lang="" sz="1800" b="1">
                          <a:solidFill>
                            <a:schemeClr val="tx1"/>
                          </a:solidFill>
                          <a:effectLst/>
                        </a:rPr>
                        <a:t>Estimate</a:t>
                      </a:r>
                      <a:endParaRPr lang="LID4096" b="1">
                        <a:solidFill>
                          <a:schemeClr val="tx1"/>
                        </a:solidFill>
                      </a:endParaRPr>
                    </a:p>
                  </a:txBody>
                  <a:tcPr/>
                </a:tc>
                <a:tc>
                  <a:txBody>
                    <a:bodyPr/>
                    <a:lstStyle/>
                    <a:p>
                      <a:r>
                        <a:rPr lang="" sz="1800" b="1">
                          <a:solidFill>
                            <a:schemeClr val="tx1"/>
                          </a:solidFill>
                          <a:effectLst/>
                        </a:rPr>
                        <a:t>Standard_Error</a:t>
                      </a:r>
                      <a:endParaRPr lang="LID4096" b="1">
                        <a:solidFill>
                          <a:schemeClr val="tx1"/>
                        </a:solidFill>
                      </a:endParaRPr>
                    </a:p>
                  </a:txBody>
                  <a:tcPr/>
                </a:tc>
                <a:tc>
                  <a:txBody>
                    <a:bodyPr/>
                    <a:lstStyle/>
                    <a:p>
                      <a:r>
                        <a:rPr lang="" sz="1800" b="1" i="0">
                          <a:solidFill>
                            <a:schemeClr val="tx1"/>
                          </a:solidFill>
                          <a:effectLst/>
                          <a:latin typeface="+mn-lt"/>
                        </a:rPr>
                        <a:t>z_statistic </a:t>
                      </a:r>
                      <a:endParaRPr lang="LID4096" b="1">
                        <a:solidFill>
                          <a:schemeClr val="tx1"/>
                        </a:solidFill>
                      </a:endParaRPr>
                    </a:p>
                  </a:txBody>
                  <a:tcPr/>
                </a:tc>
                <a:tc>
                  <a:txBody>
                    <a:bodyPr/>
                    <a:lstStyle/>
                    <a:p>
                      <a:r>
                        <a:rPr lang="" sz="1800" b="1">
                          <a:solidFill>
                            <a:schemeClr val="tx1"/>
                          </a:solidFill>
                          <a:effectLst/>
                        </a:rPr>
                        <a:t>P_Value</a:t>
                      </a:r>
                      <a:endParaRPr lang="LID4096" b="1">
                        <a:solidFill>
                          <a:schemeClr val="tx1"/>
                        </a:solidFill>
                      </a:endParaRPr>
                    </a:p>
                  </a:txBody>
                  <a:tcPr/>
                </a:tc>
                <a:extLst>
                  <a:ext uri="{0D108BD9-81ED-4DB2-BD59-A6C34878D82A}">
                    <a16:rowId xmlns:a16="http://schemas.microsoft.com/office/drawing/2014/main" val="2952225103"/>
                  </a:ext>
                </a:extLst>
              </a:tr>
              <a:tr h="370840">
                <a:tc>
                  <a:txBody>
                    <a:bodyPr/>
                    <a:lstStyle/>
                    <a:p>
                      <a:r>
                        <a:rPr lang="" sz="1800" b="0">
                          <a:solidFill>
                            <a:schemeClr val="tx1"/>
                          </a:solidFill>
                          <a:effectLst/>
                        </a:rPr>
                        <a:t>Shape (Gamma) </a:t>
                      </a:r>
                      <a:endParaRPr lang="LID4096"/>
                    </a:p>
                  </a:txBody>
                  <a:tcPr/>
                </a:tc>
                <a:tc>
                  <a:txBody>
                    <a:bodyPr/>
                    <a:lstStyle/>
                    <a:p>
                      <a:r>
                        <a:rPr lang="" sz="1800" b="0" i="0">
                          <a:solidFill>
                            <a:schemeClr val="tx1"/>
                          </a:solidFill>
                          <a:effectLst/>
                          <a:latin typeface="+mn-lt"/>
                        </a:rPr>
                        <a:t>-0.002410794 </a:t>
                      </a:r>
                      <a:endParaRPr lang="LID4096"/>
                    </a:p>
                  </a:txBody>
                  <a:tcPr/>
                </a:tc>
                <a:tc>
                  <a:txBody>
                    <a:bodyPr/>
                    <a:lstStyle/>
                    <a:p>
                      <a:r>
                        <a:rPr lang="" sz="1800" b="0" i="0">
                          <a:solidFill>
                            <a:schemeClr val="tx1"/>
                          </a:solidFill>
                          <a:effectLst/>
                          <a:latin typeface="+mn-lt"/>
                        </a:rPr>
                        <a:t>0.173403780</a:t>
                      </a:r>
                      <a:endParaRPr lang="LID4096"/>
                    </a:p>
                  </a:txBody>
                  <a:tcPr/>
                </a:tc>
                <a:tc>
                  <a:txBody>
                    <a:bodyPr/>
                    <a:lstStyle/>
                    <a:p>
                      <a:r>
                        <a:rPr lang="" sz="1800" b="0" i="0">
                          <a:solidFill>
                            <a:schemeClr val="tx1"/>
                          </a:solidFill>
                          <a:effectLst/>
                          <a:latin typeface="+mn-lt"/>
                        </a:rPr>
                        <a:t>-0.013902775 </a:t>
                      </a:r>
                      <a:endParaRPr lang="LID4096"/>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 sz="1800" b="0" i="0">
                          <a:solidFill>
                            <a:schemeClr val="tx1"/>
                          </a:solidFill>
                          <a:effectLst/>
                          <a:latin typeface="+mn-lt"/>
                        </a:rPr>
                        <a:t>0.988907547 </a:t>
                      </a:r>
                      <a:endParaRPr lang="" sz="1800" b="0">
                        <a:solidFill>
                          <a:schemeClr val="tx1"/>
                        </a:solidFill>
                        <a:effectLst/>
                      </a:endParaRPr>
                    </a:p>
                  </a:txBody>
                  <a:tcPr/>
                </a:tc>
                <a:extLst>
                  <a:ext uri="{0D108BD9-81ED-4DB2-BD59-A6C34878D82A}">
                    <a16:rowId xmlns:a16="http://schemas.microsoft.com/office/drawing/2014/main" val="1158127129"/>
                  </a:ext>
                </a:extLst>
              </a:tr>
            </a:tbl>
          </a:graphicData>
        </a:graphic>
      </p:graphicFrame>
      <p:sp>
        <p:nvSpPr>
          <p:cNvPr id="8" name="TextBox 7">
            <a:extLst>
              <a:ext uri="{FF2B5EF4-FFF2-40B4-BE49-F238E27FC236}">
                <a16:creationId xmlns:a16="http://schemas.microsoft.com/office/drawing/2014/main" id="{BE62F183-FD5F-E710-A6CB-44828AA0914B}"/>
              </a:ext>
            </a:extLst>
          </p:cNvPr>
          <p:cNvSpPr txBox="1"/>
          <p:nvPr/>
        </p:nvSpPr>
        <p:spPr>
          <a:xfrm>
            <a:off x="838201" y="3309725"/>
            <a:ext cx="8643078" cy="2031325"/>
          </a:xfrm>
          <a:prstGeom prst="rect">
            <a:avLst/>
          </a:prstGeom>
          <a:noFill/>
        </p:spPr>
        <p:txBody>
          <a:bodyPr wrap="square" rtlCol="0">
            <a:spAutoFit/>
          </a:bodyPr>
          <a:lstStyle/>
          <a:p>
            <a:r>
              <a:rPr lang="en-GB"/>
              <a:t>The estimated gamma value is </a:t>
            </a:r>
            <a:r>
              <a:rPr lang="en-GB" b="1"/>
              <a:t>-0.002410794</a:t>
            </a:r>
            <a:r>
              <a:rPr lang="en-GB"/>
              <a:t>, which is very </a:t>
            </a:r>
            <a:r>
              <a:rPr lang="en-GB" b="1"/>
              <a:t>close to zero</a:t>
            </a:r>
            <a:r>
              <a:rPr lang="en-GB"/>
              <a:t>.</a:t>
            </a:r>
          </a:p>
          <a:p>
            <a:r>
              <a:rPr lang="en-GB"/>
              <a:t>This suggests that the fitted GEV distribution is close to the Gumbel case.</a:t>
            </a:r>
          </a:p>
          <a:p>
            <a:endParaRPr lang="en-GB"/>
          </a:p>
          <a:p>
            <a:r>
              <a:rPr lang="en-GB"/>
              <a:t>The p-value </a:t>
            </a:r>
            <a:r>
              <a:rPr lang="en-GB" b="1"/>
              <a:t>is 0.988907547</a:t>
            </a:r>
            <a:r>
              <a:rPr lang="en-GB"/>
              <a:t>, which is greater than </a:t>
            </a:r>
            <a:r>
              <a:rPr lang="en-GB" b="1"/>
              <a:t>0.05</a:t>
            </a:r>
            <a:r>
              <a:rPr lang="en-GB"/>
              <a:t>.</a:t>
            </a:r>
          </a:p>
          <a:p>
            <a:r>
              <a:rPr lang="en-GB"/>
              <a:t>Therefore, we </a:t>
            </a:r>
            <a:r>
              <a:rPr lang="en-GB" b="1"/>
              <a:t>do not reject the null hypothesis</a:t>
            </a:r>
            <a:r>
              <a:rPr lang="en-GB"/>
              <a:t>.</a:t>
            </a:r>
          </a:p>
          <a:p>
            <a:r>
              <a:rPr lang="en-GB"/>
              <a:t>This means that our analysis does not provide sufficient evidence that the shape parameter differs from zero.</a:t>
            </a:r>
            <a:endParaRPr lang="LID4096"/>
          </a:p>
        </p:txBody>
      </p:sp>
    </p:spTree>
    <p:extLst>
      <p:ext uri="{BB962C8B-B14F-4D97-AF65-F5344CB8AC3E}">
        <p14:creationId xmlns:p14="http://schemas.microsoft.com/office/powerpoint/2010/main" val="28786722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1D8EC12-B4F6-1C40-B575-EC38CFE1F3B0}"/>
              </a:ext>
            </a:extLst>
          </p:cNvPr>
          <p:cNvSpPr>
            <a:spLocks noGrp="1"/>
          </p:cNvSpPr>
          <p:nvPr>
            <p:ph type="title"/>
          </p:nvPr>
        </p:nvSpPr>
        <p:spPr>
          <a:xfrm>
            <a:off x="838201" y="365125"/>
            <a:ext cx="8643078" cy="729157"/>
          </a:xfrm>
        </p:spPr>
        <p:txBody>
          <a:bodyPr>
            <a:normAutofit/>
          </a:bodyPr>
          <a:lstStyle/>
          <a:p>
            <a:r>
              <a:rPr lang="es-ES" sz="4000" b="1"/>
              <a:t>Block Maxima – </a:t>
            </a:r>
            <a:r>
              <a:rPr lang="es-ES" sz="3200" err="1"/>
              <a:t>Return</a:t>
            </a:r>
            <a:r>
              <a:rPr lang="es-ES" sz="3200"/>
              <a:t> Level</a:t>
            </a:r>
            <a:endParaRPr lang="LID4096" sz="3200"/>
          </a:p>
        </p:txBody>
      </p:sp>
      <p:graphicFrame>
        <p:nvGraphicFramePr>
          <p:cNvPr id="8" name="Table 7">
            <a:extLst>
              <a:ext uri="{FF2B5EF4-FFF2-40B4-BE49-F238E27FC236}">
                <a16:creationId xmlns:a16="http://schemas.microsoft.com/office/drawing/2014/main" id="{25E96EC6-EA41-88CE-0D9D-6C336D67EE97}"/>
              </a:ext>
            </a:extLst>
          </p:cNvPr>
          <p:cNvGraphicFramePr>
            <a:graphicFrameLocks noGrp="1"/>
          </p:cNvGraphicFramePr>
          <p:nvPr>
            <p:extLst>
              <p:ext uri="{D42A27DB-BD31-4B8C-83A1-F6EECF244321}">
                <p14:modId xmlns:p14="http://schemas.microsoft.com/office/powerpoint/2010/main" val="3859094113"/>
              </p:ext>
            </p:extLst>
          </p:nvPr>
        </p:nvGraphicFramePr>
        <p:xfrm>
          <a:off x="893182" y="1394601"/>
          <a:ext cx="4991867" cy="2494280"/>
        </p:xfrm>
        <a:graphic>
          <a:graphicData uri="http://schemas.openxmlformats.org/drawingml/2006/table">
            <a:tbl>
              <a:tblPr firstRow="1" bandRow="1">
                <a:tableStyleId>{5940675A-B579-460E-94D1-54222C63F5DA}</a:tableStyleId>
              </a:tblPr>
              <a:tblGrid>
                <a:gridCol w="1391420">
                  <a:extLst>
                    <a:ext uri="{9D8B030D-6E8A-4147-A177-3AD203B41FA5}">
                      <a16:colId xmlns:a16="http://schemas.microsoft.com/office/drawing/2014/main" val="2987130574"/>
                    </a:ext>
                  </a:extLst>
                </a:gridCol>
                <a:gridCol w="1648908">
                  <a:extLst>
                    <a:ext uri="{9D8B030D-6E8A-4147-A177-3AD203B41FA5}">
                      <a16:colId xmlns:a16="http://schemas.microsoft.com/office/drawing/2014/main" val="3897859493"/>
                    </a:ext>
                  </a:extLst>
                </a:gridCol>
                <a:gridCol w="1951539">
                  <a:extLst>
                    <a:ext uri="{9D8B030D-6E8A-4147-A177-3AD203B41FA5}">
                      <a16:colId xmlns:a16="http://schemas.microsoft.com/office/drawing/2014/main" val="1040941871"/>
                    </a:ext>
                  </a:extLst>
                </a:gridCol>
              </a:tblGrid>
              <a:tr h="370840">
                <a:tc gridSpan="3">
                  <a:txBody>
                    <a:bodyPr/>
                    <a:lstStyle/>
                    <a:p>
                      <a:pPr algn="ctr"/>
                      <a:r>
                        <a:rPr lang="es-ES" b="1">
                          <a:solidFill>
                            <a:schemeClr val="tx1"/>
                          </a:solidFill>
                        </a:rPr>
                        <a:t>GEV Return Table</a:t>
                      </a:r>
                      <a:endParaRPr lang="LID4096" b="1">
                        <a:solidFill>
                          <a:schemeClr val="tx1"/>
                        </a:solidFill>
                      </a:endParaRPr>
                    </a:p>
                  </a:txBody>
                  <a:tcPr/>
                </a:tc>
                <a:tc hMerge="1">
                  <a:txBody>
                    <a:bodyPr/>
                    <a:lstStyle/>
                    <a:p>
                      <a:endParaRPr lang="LID4096" b="1">
                        <a:solidFill>
                          <a:schemeClr val="tx1"/>
                        </a:solidFill>
                      </a:endParaRPr>
                    </a:p>
                  </a:txBody>
                  <a:tcPr/>
                </a:tc>
                <a:tc hMerge="1">
                  <a:txBody>
                    <a:bodyPr/>
                    <a:lstStyle/>
                    <a:p>
                      <a:endParaRPr lang="LID4096" b="1">
                        <a:solidFill>
                          <a:schemeClr val="tx1"/>
                        </a:solidFill>
                      </a:endParaRPr>
                    </a:p>
                  </a:txBody>
                  <a:tcPr/>
                </a:tc>
                <a:extLst>
                  <a:ext uri="{0D108BD9-81ED-4DB2-BD59-A6C34878D82A}">
                    <a16:rowId xmlns:a16="http://schemas.microsoft.com/office/drawing/2014/main" val="1998109575"/>
                  </a:ext>
                </a:extLst>
              </a:tr>
              <a:tr h="370840">
                <a:tc>
                  <a:txBody>
                    <a:bodyPr/>
                    <a:lstStyle/>
                    <a:p>
                      <a:r>
                        <a:rPr lang="" sz="1800" b="1" i="0">
                          <a:solidFill>
                            <a:schemeClr val="tx1"/>
                          </a:solidFill>
                          <a:effectLst/>
                          <a:latin typeface="+mn-lt"/>
                        </a:rPr>
                        <a:t>Return Period</a:t>
                      </a:r>
                      <a:endParaRPr lang="LID4096" b="1">
                        <a:solidFill>
                          <a:schemeClr val="tx1"/>
                        </a:solidFill>
                      </a:endParaRPr>
                    </a:p>
                  </a:txBody>
                  <a:tcPr/>
                </a:tc>
                <a:tc>
                  <a:txBody>
                    <a:bodyPr/>
                    <a:lstStyle/>
                    <a:p>
                      <a:r>
                        <a:rPr lang="" sz="1800" b="1" i="0">
                          <a:solidFill>
                            <a:schemeClr val="tx1"/>
                          </a:solidFill>
                          <a:effectLst/>
                          <a:latin typeface="+mn-lt"/>
                        </a:rPr>
                        <a:t>Years</a:t>
                      </a:r>
                      <a:endParaRPr lang="LID4096" b="1">
                        <a:solidFill>
                          <a:schemeClr val="tx1"/>
                        </a:solidFill>
                      </a:endParaRPr>
                    </a:p>
                  </a:txBody>
                  <a:tcPr/>
                </a:tc>
                <a:tc>
                  <a:txBody>
                    <a:bodyPr/>
                    <a:lstStyle/>
                    <a:p>
                      <a:r>
                        <a:rPr lang="" sz="1800" b="1" i="0">
                          <a:solidFill>
                            <a:schemeClr val="tx1"/>
                          </a:solidFill>
                          <a:effectLst/>
                          <a:latin typeface="+mn-lt"/>
                        </a:rPr>
                        <a:t>Return Level</a:t>
                      </a:r>
                      <a:endParaRPr lang="LID4096" b="1">
                        <a:solidFill>
                          <a:schemeClr val="tx1"/>
                        </a:solidFill>
                      </a:endParaRPr>
                    </a:p>
                  </a:txBody>
                  <a:tcPr/>
                </a:tc>
                <a:extLst>
                  <a:ext uri="{0D108BD9-81ED-4DB2-BD59-A6C34878D82A}">
                    <a16:rowId xmlns:a16="http://schemas.microsoft.com/office/drawing/2014/main" val="2952225103"/>
                  </a:ext>
                </a:extLst>
              </a:tr>
              <a:tr h="370840">
                <a:tc>
                  <a:txBody>
                    <a:bodyPr/>
                    <a:lstStyle/>
                    <a:p>
                      <a:r>
                        <a:rPr lang="" sz="1800" b="0">
                          <a:solidFill>
                            <a:schemeClr val="tx1"/>
                          </a:solidFill>
                          <a:effectLst/>
                        </a:rPr>
                        <a:t>1</a:t>
                      </a:r>
                      <a:endParaRPr lang="LID4096"/>
                    </a:p>
                  </a:txBody>
                  <a:tcPr/>
                </a:tc>
                <a:tc>
                  <a:txBody>
                    <a:bodyPr/>
                    <a:lstStyle/>
                    <a:p>
                      <a:r>
                        <a:rPr lang="" sz="1800" b="0" i="0">
                          <a:solidFill>
                            <a:schemeClr val="tx1"/>
                          </a:solidFill>
                          <a:effectLst/>
                          <a:latin typeface="+mn-lt"/>
                        </a:rPr>
                        <a:t>100</a:t>
                      </a:r>
                      <a:endParaRPr lang="LID4096"/>
                    </a:p>
                  </a:txBody>
                  <a:tcPr/>
                </a:tc>
                <a:tc>
                  <a:txBody>
                    <a:bodyPr/>
                    <a:lstStyle/>
                    <a:p>
                      <a:pPr marL="0" marR="0" indent="0" algn="l" latinLnBrk="1">
                        <a:lnSpc>
                          <a:spcPct val="100000"/>
                        </a:lnSpc>
                        <a:buNone/>
                      </a:pPr>
                      <a:r>
                        <a:rPr lang="" sz="1800" b="0" i="0">
                          <a:solidFill>
                            <a:schemeClr val="tx1"/>
                          </a:solidFill>
                          <a:effectLst/>
                          <a:latin typeface="+mn-lt"/>
                        </a:rPr>
                        <a:t>34.39</a:t>
                      </a:r>
                    </a:p>
                  </a:txBody>
                  <a:tcPr/>
                </a:tc>
                <a:extLst>
                  <a:ext uri="{0D108BD9-81ED-4DB2-BD59-A6C34878D82A}">
                    <a16:rowId xmlns:a16="http://schemas.microsoft.com/office/drawing/2014/main" val="1158127129"/>
                  </a:ext>
                </a:extLst>
              </a:tr>
              <a:tr h="370840">
                <a:tc>
                  <a:txBody>
                    <a:bodyPr/>
                    <a:lstStyle/>
                    <a:p>
                      <a:r>
                        <a:rPr lang="es-ES"/>
                        <a:t>2</a:t>
                      </a:r>
                      <a:endParaRPr lang="LID4096"/>
                    </a:p>
                  </a:txBody>
                  <a:tcPr/>
                </a:tc>
                <a:tc>
                  <a:txBody>
                    <a:bodyPr/>
                    <a:lstStyle/>
                    <a:p>
                      <a:r>
                        <a:rPr lang="es-ES"/>
                        <a:t>200</a:t>
                      </a:r>
                      <a:endParaRPr lang="LID4096"/>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 sz="1800" b="0" i="0">
                          <a:solidFill>
                            <a:schemeClr val="tx1"/>
                          </a:solidFill>
                          <a:effectLst/>
                          <a:latin typeface="+mn-lt"/>
                        </a:rPr>
                        <a:t>35.49</a:t>
                      </a:r>
                    </a:p>
                  </a:txBody>
                  <a:tcPr/>
                </a:tc>
                <a:extLst>
                  <a:ext uri="{0D108BD9-81ED-4DB2-BD59-A6C34878D82A}">
                    <a16:rowId xmlns:a16="http://schemas.microsoft.com/office/drawing/2014/main" val="1797318505"/>
                  </a:ext>
                </a:extLst>
              </a:tr>
              <a:tr h="370840">
                <a:tc>
                  <a:txBody>
                    <a:bodyPr/>
                    <a:lstStyle/>
                    <a:p>
                      <a:r>
                        <a:rPr lang="es-ES"/>
                        <a:t>3</a:t>
                      </a:r>
                      <a:endParaRPr lang="LID4096"/>
                    </a:p>
                  </a:txBody>
                  <a:tcPr/>
                </a:tc>
                <a:tc>
                  <a:txBody>
                    <a:bodyPr/>
                    <a:lstStyle/>
                    <a:p>
                      <a:r>
                        <a:rPr lang="es-ES"/>
                        <a:t>500</a:t>
                      </a:r>
                      <a:endParaRPr lang="LID4096"/>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 sz="1800" b="0" i="0">
                          <a:solidFill>
                            <a:schemeClr val="tx1"/>
                          </a:solidFill>
                          <a:effectLst/>
                          <a:latin typeface="+mn-lt"/>
                        </a:rPr>
                        <a:t>36.93</a:t>
                      </a:r>
                    </a:p>
                  </a:txBody>
                  <a:tcPr/>
                </a:tc>
                <a:extLst>
                  <a:ext uri="{0D108BD9-81ED-4DB2-BD59-A6C34878D82A}">
                    <a16:rowId xmlns:a16="http://schemas.microsoft.com/office/drawing/2014/main" val="806201723"/>
                  </a:ext>
                </a:extLst>
              </a:tr>
              <a:tr h="370840">
                <a:tc>
                  <a:txBody>
                    <a:bodyPr/>
                    <a:lstStyle/>
                    <a:p>
                      <a:r>
                        <a:rPr lang="es-ES"/>
                        <a:t>4</a:t>
                      </a:r>
                      <a:endParaRPr lang="LID4096"/>
                    </a:p>
                  </a:txBody>
                  <a:tcPr/>
                </a:tc>
                <a:tc>
                  <a:txBody>
                    <a:bodyPr/>
                    <a:lstStyle/>
                    <a:p>
                      <a:r>
                        <a:rPr lang="es-ES"/>
                        <a:t>1000</a:t>
                      </a:r>
                      <a:endParaRPr lang="LID4096"/>
                    </a:p>
                  </a:txBody>
                  <a:tcPr/>
                </a:tc>
                <a:tc>
                  <a:txBody>
                    <a:bodyPr/>
                    <a:lstStyle/>
                    <a:p>
                      <a:r>
                        <a:rPr lang="" sz="1800" b="0" i="0">
                          <a:solidFill>
                            <a:schemeClr val="tx1"/>
                          </a:solidFill>
                          <a:effectLst/>
                          <a:latin typeface="+mn-lt"/>
                        </a:rPr>
                        <a:t>38.02</a:t>
                      </a:r>
                      <a:endParaRPr lang="LID4096"/>
                    </a:p>
                  </a:txBody>
                  <a:tcPr/>
                </a:tc>
                <a:extLst>
                  <a:ext uri="{0D108BD9-81ED-4DB2-BD59-A6C34878D82A}">
                    <a16:rowId xmlns:a16="http://schemas.microsoft.com/office/drawing/2014/main" val="1543497924"/>
                  </a:ext>
                </a:extLst>
              </a:tr>
            </a:tbl>
          </a:graphicData>
        </a:graphic>
      </p:graphicFrame>
      <p:pic>
        <p:nvPicPr>
          <p:cNvPr id="10" name="Picture 9">
            <a:extLst>
              <a:ext uri="{FF2B5EF4-FFF2-40B4-BE49-F238E27FC236}">
                <a16:creationId xmlns:a16="http://schemas.microsoft.com/office/drawing/2014/main" id="{68B002E5-683B-647A-863A-45E879CFC9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70107" y="938948"/>
            <a:ext cx="5371242" cy="4194580"/>
          </a:xfrm>
          <a:prstGeom prst="rect">
            <a:avLst/>
          </a:prstGeom>
        </p:spPr>
      </p:pic>
      <p:sp>
        <p:nvSpPr>
          <p:cNvPr id="3" name="TextBox 2">
            <a:extLst>
              <a:ext uri="{FF2B5EF4-FFF2-40B4-BE49-F238E27FC236}">
                <a16:creationId xmlns:a16="http://schemas.microsoft.com/office/drawing/2014/main" id="{C263A53D-2453-1DBC-4C8B-BCB2A696B769}"/>
              </a:ext>
            </a:extLst>
          </p:cNvPr>
          <p:cNvSpPr txBox="1"/>
          <p:nvPr/>
        </p:nvSpPr>
        <p:spPr>
          <a:xfrm>
            <a:off x="657084" y="4301691"/>
            <a:ext cx="6094140" cy="2308324"/>
          </a:xfrm>
          <a:prstGeom prst="rect">
            <a:avLst/>
          </a:prstGeom>
          <a:noFill/>
        </p:spPr>
        <p:txBody>
          <a:bodyPr wrap="square">
            <a:spAutoFit/>
          </a:bodyPr>
          <a:lstStyle/>
          <a:p>
            <a:pPr marL="342900" lvl="0" indent="-342900" fontAlgn="t">
              <a:lnSpc>
                <a:spcPct val="100000"/>
              </a:lnSpc>
              <a:buFont typeface="Arial" panose="020B0604020202020204" pitchFamily="34" charset="0"/>
              <a:buChar char="•"/>
            </a:pPr>
            <a:r>
              <a:rPr lang="en-US" b="1"/>
              <a:t>100-year return level: </a:t>
            </a:r>
            <a:r>
              <a:rPr lang="en-US"/>
              <a:t>annual exceedance probability of approximately 1%</a:t>
            </a:r>
            <a:endParaRPr lang="en-US" b="1"/>
          </a:p>
          <a:p>
            <a:pPr marL="342900" lvl="0" indent="-342900" fontAlgn="t">
              <a:lnSpc>
                <a:spcPct val="100000"/>
              </a:lnSpc>
              <a:buFont typeface="Arial" panose="020B0604020202020204" pitchFamily="34" charset="0"/>
              <a:buChar char="•"/>
            </a:pPr>
            <a:r>
              <a:rPr lang="en-US" b="1"/>
              <a:t>200-year return level:</a:t>
            </a:r>
            <a:r>
              <a:rPr lang="en-US"/>
              <a:t> annual exceedance probability of approximately </a:t>
            </a:r>
            <a:r>
              <a:rPr lang="en-US" b="1"/>
              <a:t>0.5%</a:t>
            </a:r>
          </a:p>
          <a:p>
            <a:pPr marL="342900" indent="-342900" fontAlgn="t">
              <a:buFont typeface="Arial" panose="020B0604020202020204" pitchFamily="34" charset="0"/>
              <a:buChar char="•"/>
            </a:pPr>
            <a:r>
              <a:rPr lang="en-US" b="1"/>
              <a:t>500-year return level:</a:t>
            </a:r>
            <a:r>
              <a:rPr lang="en-US"/>
              <a:t> annual exceedance probability of approximately </a:t>
            </a:r>
            <a:r>
              <a:rPr lang="en-US" b="1"/>
              <a:t>0.2%</a:t>
            </a:r>
            <a:endParaRPr lang="en-US"/>
          </a:p>
          <a:p>
            <a:pPr marL="342900" indent="-342900" fontAlgn="t">
              <a:buFont typeface="Arial" panose="020B0604020202020204" pitchFamily="34" charset="0"/>
              <a:buChar char="•"/>
            </a:pPr>
            <a:r>
              <a:rPr lang="en-US" b="1"/>
              <a:t>1000-year return level:</a:t>
            </a:r>
            <a:r>
              <a:rPr lang="en-US"/>
              <a:t> annual exceedance probability of approximately </a:t>
            </a:r>
            <a:r>
              <a:rPr lang="en-US" b="1"/>
              <a:t>0.1%</a:t>
            </a:r>
            <a:endParaRPr lang="en-US"/>
          </a:p>
        </p:txBody>
      </p:sp>
    </p:spTree>
    <p:extLst>
      <p:ext uri="{BB962C8B-B14F-4D97-AF65-F5344CB8AC3E}">
        <p14:creationId xmlns:p14="http://schemas.microsoft.com/office/powerpoint/2010/main" val="9951341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7ECA8-A506-CD7C-CD97-9D711025CEF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C298669-8786-3BD8-8DCE-9ABA77EEA2B0}"/>
              </a:ext>
            </a:extLst>
          </p:cNvPr>
          <p:cNvSpPr>
            <a:spLocks noGrp="1"/>
          </p:cNvSpPr>
          <p:nvPr>
            <p:ph type="title"/>
          </p:nvPr>
        </p:nvSpPr>
        <p:spPr>
          <a:xfrm>
            <a:off x="838200" y="365125"/>
            <a:ext cx="6758835" cy="729157"/>
          </a:xfrm>
        </p:spPr>
        <p:txBody>
          <a:bodyPr>
            <a:normAutofit/>
          </a:bodyPr>
          <a:lstStyle/>
          <a:p>
            <a:r>
              <a:rPr lang="es-ES" sz="4000" b="1"/>
              <a:t>POT Method – </a:t>
            </a:r>
            <a:r>
              <a:rPr lang="es-ES" sz="3200"/>
              <a:t>Threshold Selection</a:t>
            </a:r>
            <a:endParaRPr lang="LID4096" sz="3200"/>
          </a:p>
        </p:txBody>
      </p:sp>
      <p:pic>
        <p:nvPicPr>
          <p:cNvPr id="5" name="Picture 4">
            <a:extLst>
              <a:ext uri="{FF2B5EF4-FFF2-40B4-BE49-F238E27FC236}">
                <a16:creationId xmlns:a16="http://schemas.microsoft.com/office/drawing/2014/main" id="{C1D2F53C-B5D3-1534-EAE1-BB54AC7406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525" y="1166556"/>
            <a:ext cx="6131029" cy="5255168"/>
          </a:xfrm>
          <a:prstGeom prst="rect">
            <a:avLst/>
          </a:prstGeom>
        </p:spPr>
      </p:pic>
      <p:sp>
        <p:nvSpPr>
          <p:cNvPr id="8" name="TextBox 7">
            <a:extLst>
              <a:ext uri="{FF2B5EF4-FFF2-40B4-BE49-F238E27FC236}">
                <a16:creationId xmlns:a16="http://schemas.microsoft.com/office/drawing/2014/main" id="{142690A0-9EAB-0163-F828-1384947B9F6A}"/>
              </a:ext>
            </a:extLst>
          </p:cNvPr>
          <p:cNvSpPr txBox="1"/>
          <p:nvPr/>
        </p:nvSpPr>
        <p:spPr>
          <a:xfrm>
            <a:off x="7061111" y="1770237"/>
            <a:ext cx="3806628" cy="1015663"/>
          </a:xfrm>
          <a:prstGeom prst="rect">
            <a:avLst/>
          </a:prstGeom>
          <a:noFill/>
        </p:spPr>
        <p:txBody>
          <a:bodyPr wrap="square">
            <a:spAutoFit/>
          </a:bodyPr>
          <a:lstStyle/>
          <a:p>
            <a:pPr fontAlgn="t"/>
            <a:r>
              <a:rPr lang="" sz="2000" b="0" i="0" kern="1200">
                <a:solidFill>
                  <a:schemeClr val="tx1"/>
                </a:solidFill>
                <a:effectLst/>
                <a:latin typeface="+mn-lt"/>
                <a:ea typeface="+mn-ea"/>
                <a:cs typeface="+mn-cs"/>
              </a:rPr>
              <a:t>Between 20 </a:t>
            </a:r>
            <a:r>
              <a:rPr lang="" sz="2000"/>
              <a:t>and 23°C</a:t>
            </a:r>
          </a:p>
          <a:p>
            <a:pPr fontAlgn="t"/>
            <a:r>
              <a:rPr lang="" sz="2000"/>
              <a:t>The plot appears reasonably stable.</a:t>
            </a:r>
          </a:p>
        </p:txBody>
      </p:sp>
      <p:cxnSp>
        <p:nvCxnSpPr>
          <p:cNvPr id="10" name="Straight Connector 9">
            <a:extLst>
              <a:ext uri="{FF2B5EF4-FFF2-40B4-BE49-F238E27FC236}">
                <a16:creationId xmlns:a16="http://schemas.microsoft.com/office/drawing/2014/main" id="{B3F99F01-9852-4BB1-50AF-17E11791CD89}"/>
              </a:ext>
            </a:extLst>
          </p:cNvPr>
          <p:cNvCxnSpPr/>
          <p:nvPr/>
        </p:nvCxnSpPr>
        <p:spPr>
          <a:xfrm flipV="1">
            <a:off x="4971496" y="4403324"/>
            <a:ext cx="0" cy="1225118"/>
          </a:xfrm>
          <a:prstGeom prst="line">
            <a:avLst/>
          </a:prstGeom>
          <a:ln w="38100">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572193FC-D064-F65C-9555-4FE24D2EF416}"/>
              </a:ext>
            </a:extLst>
          </p:cNvPr>
          <p:cNvCxnSpPr/>
          <p:nvPr/>
        </p:nvCxnSpPr>
        <p:spPr>
          <a:xfrm flipV="1">
            <a:off x="5345831" y="4413676"/>
            <a:ext cx="0" cy="1225118"/>
          </a:xfrm>
          <a:prstGeom prst="line">
            <a:avLst/>
          </a:prstGeom>
          <a:ln w="38100">
            <a:solidFill>
              <a:srgbClr val="C00000"/>
            </a:solidFill>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F1524587-FFBF-AEB9-4E19-E3F6AE567D18}"/>
              </a:ext>
            </a:extLst>
          </p:cNvPr>
          <p:cNvSpPr txBox="1"/>
          <p:nvPr/>
        </p:nvSpPr>
        <p:spPr>
          <a:xfrm>
            <a:off x="5175678" y="5720387"/>
            <a:ext cx="348172" cy="276999"/>
          </a:xfrm>
          <a:prstGeom prst="rect">
            <a:avLst/>
          </a:prstGeom>
          <a:noFill/>
        </p:spPr>
        <p:txBody>
          <a:bodyPr wrap="none" rtlCol="0">
            <a:spAutoFit/>
          </a:bodyPr>
          <a:lstStyle/>
          <a:p>
            <a:r>
              <a:rPr lang="es-ES" sz="1200"/>
              <a:t>23</a:t>
            </a:r>
            <a:endParaRPr lang="LID4096" sz="1200"/>
          </a:p>
        </p:txBody>
      </p:sp>
      <p:graphicFrame>
        <p:nvGraphicFramePr>
          <p:cNvPr id="13" name="Table 12">
            <a:extLst>
              <a:ext uri="{FF2B5EF4-FFF2-40B4-BE49-F238E27FC236}">
                <a16:creationId xmlns:a16="http://schemas.microsoft.com/office/drawing/2014/main" id="{C79DD68A-C632-8D14-8A94-D37F3DFF095A}"/>
              </a:ext>
            </a:extLst>
          </p:cNvPr>
          <p:cNvGraphicFramePr>
            <a:graphicFrameLocks noGrp="1"/>
          </p:cNvGraphicFramePr>
          <p:nvPr>
            <p:extLst>
              <p:ext uri="{D42A27DB-BD31-4B8C-83A1-F6EECF244321}">
                <p14:modId xmlns:p14="http://schemas.microsoft.com/office/powerpoint/2010/main" val="530433597"/>
              </p:ext>
            </p:extLst>
          </p:nvPr>
        </p:nvGraphicFramePr>
        <p:xfrm>
          <a:off x="7149888" y="3606602"/>
          <a:ext cx="3982710" cy="2021840"/>
        </p:xfrm>
        <a:graphic>
          <a:graphicData uri="http://schemas.openxmlformats.org/drawingml/2006/table">
            <a:tbl>
              <a:tblPr firstRow="1" bandRow="1">
                <a:tableStyleId>{5940675A-B579-460E-94D1-54222C63F5DA}</a:tableStyleId>
              </a:tblPr>
              <a:tblGrid>
                <a:gridCol w="2362102">
                  <a:extLst>
                    <a:ext uri="{9D8B030D-6E8A-4147-A177-3AD203B41FA5}">
                      <a16:colId xmlns:a16="http://schemas.microsoft.com/office/drawing/2014/main" val="2334456561"/>
                    </a:ext>
                  </a:extLst>
                </a:gridCol>
                <a:gridCol w="1620608">
                  <a:extLst>
                    <a:ext uri="{9D8B030D-6E8A-4147-A177-3AD203B41FA5}">
                      <a16:colId xmlns:a16="http://schemas.microsoft.com/office/drawing/2014/main" val="1546890547"/>
                    </a:ext>
                  </a:extLst>
                </a:gridCol>
              </a:tblGrid>
              <a:tr h="370840">
                <a:tc gridSpan="2">
                  <a:txBody>
                    <a:bodyPr/>
                    <a:lstStyle/>
                    <a:p>
                      <a:r>
                        <a:rPr lang="es-ES"/>
                        <a:t>Results</a:t>
                      </a:r>
                      <a:endParaRPr lang="LID4096"/>
                    </a:p>
                  </a:txBody>
                  <a:tcPr/>
                </a:tc>
                <a:tc hMerge="1">
                  <a:txBody>
                    <a:bodyPr/>
                    <a:lstStyle/>
                    <a:p>
                      <a:endParaRPr lang="LID4096"/>
                    </a:p>
                  </a:txBody>
                  <a:tcPr/>
                </a:tc>
                <a:extLst>
                  <a:ext uri="{0D108BD9-81ED-4DB2-BD59-A6C34878D82A}">
                    <a16:rowId xmlns:a16="http://schemas.microsoft.com/office/drawing/2014/main" val="2929664877"/>
                  </a:ext>
                </a:extLst>
              </a:tr>
              <a:tr h="370840">
                <a:tc>
                  <a:txBody>
                    <a:bodyPr/>
                    <a:lstStyle/>
                    <a:p>
                      <a:r>
                        <a:rPr lang="" sz="1800"/>
                        <a:t>Selected Threshold</a:t>
                      </a:r>
                      <a:endParaRPr lang="LID4096"/>
                    </a:p>
                  </a:txBody>
                  <a:tcPr/>
                </a:tc>
                <a:tc>
                  <a:txBody>
                    <a:bodyPr/>
                    <a:lstStyle/>
                    <a:p>
                      <a:r>
                        <a:rPr lang="" sz="1800" kern="1200">
                          <a:solidFill>
                            <a:schemeClr val="tx1"/>
                          </a:solidFill>
                          <a:effectLst/>
                        </a:rPr>
                        <a:t>22.65°C</a:t>
                      </a:r>
                      <a:endParaRPr lang="LID4096"/>
                    </a:p>
                  </a:txBody>
                  <a:tcPr/>
                </a:tc>
                <a:extLst>
                  <a:ext uri="{0D108BD9-81ED-4DB2-BD59-A6C34878D82A}">
                    <a16:rowId xmlns:a16="http://schemas.microsoft.com/office/drawing/2014/main" val="3796437504"/>
                  </a:ext>
                </a:extLst>
              </a:tr>
              <a:tr h="370840">
                <a:tc>
                  <a:txBody>
                    <a:bodyPr/>
                    <a:lstStyle/>
                    <a:p>
                      <a:r>
                        <a:rPr lang="LID4096" sz="1800"/>
                        <a:t>Number </a:t>
                      </a:r>
                      <a:r>
                        <a:rPr lang="en-US" sz="1800"/>
                        <a:t>of exceedances</a:t>
                      </a:r>
                      <a:endParaRPr lang="LID4096"/>
                    </a:p>
                  </a:txBody>
                  <a:tcPr/>
                </a:tc>
                <a:tc>
                  <a:txBody>
                    <a:bodyPr/>
                    <a:lstStyle/>
                    <a:p>
                      <a:r>
                        <a:rPr lang="LID4096" sz="1800"/>
                        <a:t>454 </a:t>
                      </a:r>
                      <a:endParaRPr lang="LID4096"/>
                    </a:p>
                  </a:txBody>
                  <a:tcPr/>
                </a:tc>
                <a:extLst>
                  <a:ext uri="{0D108BD9-81ED-4DB2-BD59-A6C34878D82A}">
                    <a16:rowId xmlns:a16="http://schemas.microsoft.com/office/drawing/2014/main" val="777069919"/>
                  </a:ext>
                </a:extLst>
              </a:tr>
              <a:tr h="370840">
                <a:tc>
                  <a:txBody>
                    <a:bodyPr/>
                    <a:lstStyle/>
                    <a:p>
                      <a:r>
                        <a:rPr lang="LID4096" sz="1800"/>
                        <a:t>Proportion </a:t>
                      </a:r>
                      <a:r>
                        <a:rPr lang="en-US" sz="1800"/>
                        <a:t>exceeding the threshold</a:t>
                      </a:r>
                      <a:endParaRPr lang="LID4096"/>
                    </a:p>
                  </a:txBody>
                  <a:tcPr/>
                </a:tc>
                <a:tc>
                  <a:txBody>
                    <a:bodyPr/>
                    <a:lstStyle/>
                    <a:p>
                      <a:r>
                        <a:rPr lang="en-US" sz="1800"/>
                        <a:t>5%</a:t>
                      </a:r>
                      <a:endParaRPr lang="LID4096"/>
                    </a:p>
                  </a:txBody>
                  <a:tcPr/>
                </a:tc>
                <a:extLst>
                  <a:ext uri="{0D108BD9-81ED-4DB2-BD59-A6C34878D82A}">
                    <a16:rowId xmlns:a16="http://schemas.microsoft.com/office/drawing/2014/main" val="4253605560"/>
                  </a:ext>
                </a:extLst>
              </a:tr>
            </a:tbl>
          </a:graphicData>
        </a:graphic>
      </p:graphicFrame>
    </p:spTree>
    <p:extLst>
      <p:ext uri="{BB962C8B-B14F-4D97-AF65-F5344CB8AC3E}">
        <p14:creationId xmlns:p14="http://schemas.microsoft.com/office/powerpoint/2010/main" val="3479544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9E6E7-D075-888E-4B53-914556FA169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D848752-58A8-2BA8-6575-4947F581ADB6}"/>
              </a:ext>
            </a:extLst>
          </p:cNvPr>
          <p:cNvSpPr>
            <a:spLocks noGrp="1"/>
          </p:cNvSpPr>
          <p:nvPr>
            <p:ph type="title"/>
          </p:nvPr>
        </p:nvSpPr>
        <p:spPr>
          <a:xfrm>
            <a:off x="838201" y="365125"/>
            <a:ext cx="8029638" cy="729157"/>
          </a:xfrm>
        </p:spPr>
        <p:txBody>
          <a:bodyPr>
            <a:normAutofit fontScale="90000"/>
          </a:bodyPr>
          <a:lstStyle/>
          <a:p>
            <a:r>
              <a:rPr lang="es-ES" sz="4000" b="1"/>
              <a:t>GPD distribution – </a:t>
            </a:r>
            <a:r>
              <a:rPr lang="es-ES" sz="3200"/>
              <a:t>Sigma &amp; Gamma Estimation</a:t>
            </a:r>
            <a:endParaRPr lang="LID4096" sz="3200"/>
          </a:p>
        </p:txBody>
      </p:sp>
      <p:graphicFrame>
        <p:nvGraphicFramePr>
          <p:cNvPr id="11" name="Table 10">
            <a:extLst>
              <a:ext uri="{FF2B5EF4-FFF2-40B4-BE49-F238E27FC236}">
                <a16:creationId xmlns:a16="http://schemas.microsoft.com/office/drawing/2014/main" id="{4E383817-BC9E-D99D-7F2D-72A97F584555}"/>
              </a:ext>
            </a:extLst>
          </p:cNvPr>
          <p:cNvGraphicFramePr>
            <a:graphicFrameLocks noGrp="1"/>
          </p:cNvGraphicFramePr>
          <p:nvPr>
            <p:extLst>
              <p:ext uri="{D42A27DB-BD31-4B8C-83A1-F6EECF244321}">
                <p14:modId xmlns:p14="http://schemas.microsoft.com/office/powerpoint/2010/main" val="2913175508"/>
              </p:ext>
            </p:extLst>
          </p:nvPr>
        </p:nvGraphicFramePr>
        <p:xfrm>
          <a:off x="941308" y="4445953"/>
          <a:ext cx="8545298" cy="1483360"/>
        </p:xfrm>
        <a:graphic>
          <a:graphicData uri="http://schemas.openxmlformats.org/drawingml/2006/table">
            <a:tbl>
              <a:tblPr firstRow="1" bandRow="1">
                <a:tableStyleId>{5940675A-B579-460E-94D1-54222C63F5DA}</a:tableStyleId>
              </a:tblPr>
              <a:tblGrid>
                <a:gridCol w="1917432">
                  <a:extLst>
                    <a:ext uri="{9D8B030D-6E8A-4147-A177-3AD203B41FA5}">
                      <a16:colId xmlns:a16="http://schemas.microsoft.com/office/drawing/2014/main" val="2987130574"/>
                    </a:ext>
                  </a:extLst>
                </a:gridCol>
                <a:gridCol w="1663103">
                  <a:extLst>
                    <a:ext uri="{9D8B030D-6E8A-4147-A177-3AD203B41FA5}">
                      <a16:colId xmlns:a16="http://schemas.microsoft.com/office/drawing/2014/main" val="3897859493"/>
                    </a:ext>
                  </a:extLst>
                </a:gridCol>
                <a:gridCol w="1822134">
                  <a:extLst>
                    <a:ext uri="{9D8B030D-6E8A-4147-A177-3AD203B41FA5}">
                      <a16:colId xmlns:a16="http://schemas.microsoft.com/office/drawing/2014/main" val="1040941871"/>
                    </a:ext>
                  </a:extLst>
                </a:gridCol>
                <a:gridCol w="1515818">
                  <a:extLst>
                    <a:ext uri="{9D8B030D-6E8A-4147-A177-3AD203B41FA5}">
                      <a16:colId xmlns:a16="http://schemas.microsoft.com/office/drawing/2014/main" val="4150269099"/>
                    </a:ext>
                  </a:extLst>
                </a:gridCol>
                <a:gridCol w="1626811">
                  <a:extLst>
                    <a:ext uri="{9D8B030D-6E8A-4147-A177-3AD203B41FA5}">
                      <a16:colId xmlns:a16="http://schemas.microsoft.com/office/drawing/2014/main" val="1262490676"/>
                    </a:ext>
                  </a:extLst>
                </a:gridCol>
              </a:tblGrid>
              <a:tr h="370840">
                <a:tc gridSpan="5">
                  <a:txBody>
                    <a:bodyPr/>
                    <a:lstStyle/>
                    <a:p>
                      <a:pPr algn="ctr"/>
                      <a:r>
                        <a:rPr lang="es-ES" b="1">
                          <a:solidFill>
                            <a:schemeClr val="tx1"/>
                          </a:solidFill>
                        </a:rPr>
                        <a:t>Parameter Estimate and Confidence Interval</a:t>
                      </a:r>
                      <a:endParaRPr lang="LID4096" b="1">
                        <a:solidFill>
                          <a:schemeClr val="tx1"/>
                        </a:solidFill>
                      </a:endParaRPr>
                    </a:p>
                  </a:txBody>
                  <a:tcPr/>
                </a:tc>
                <a:tc hMerge="1">
                  <a:txBody>
                    <a:bodyPr/>
                    <a:lstStyle/>
                    <a:p>
                      <a:endParaRPr lang="LID4096" b="1">
                        <a:solidFill>
                          <a:schemeClr val="tx1"/>
                        </a:solidFill>
                      </a:endParaRPr>
                    </a:p>
                  </a:txBody>
                  <a:tcPr/>
                </a:tc>
                <a:tc hMerge="1">
                  <a:txBody>
                    <a:bodyPr/>
                    <a:lstStyle/>
                    <a:p>
                      <a:endParaRPr lang="LID4096" b="1">
                        <a:solidFill>
                          <a:schemeClr val="tx1"/>
                        </a:solidFill>
                      </a:endParaRPr>
                    </a:p>
                  </a:txBody>
                  <a:tcPr/>
                </a:tc>
                <a:tc hMerge="1">
                  <a:txBody>
                    <a:bodyPr/>
                    <a:lstStyle/>
                    <a:p>
                      <a:endParaRPr lang="LID4096" b="1">
                        <a:solidFill>
                          <a:schemeClr val="tx1"/>
                        </a:solidFill>
                      </a:endParaRPr>
                    </a:p>
                  </a:txBody>
                  <a:tcPr/>
                </a:tc>
                <a:tc hMerge="1">
                  <a:txBody>
                    <a:bodyPr/>
                    <a:lstStyle/>
                    <a:p>
                      <a:endParaRPr lang="LID4096" b="1">
                        <a:solidFill>
                          <a:schemeClr val="tx1"/>
                        </a:solidFill>
                      </a:endParaRPr>
                    </a:p>
                  </a:txBody>
                  <a:tcPr/>
                </a:tc>
                <a:extLst>
                  <a:ext uri="{0D108BD9-81ED-4DB2-BD59-A6C34878D82A}">
                    <a16:rowId xmlns:a16="http://schemas.microsoft.com/office/drawing/2014/main" val="1998109575"/>
                  </a:ext>
                </a:extLst>
              </a:tr>
              <a:tr h="370840">
                <a:tc>
                  <a:txBody>
                    <a:bodyPr/>
                    <a:lstStyle/>
                    <a:p>
                      <a:r>
                        <a:rPr lang="" sz="1800" b="1">
                          <a:solidFill>
                            <a:schemeClr val="tx1"/>
                          </a:solidFill>
                          <a:effectLst/>
                        </a:rPr>
                        <a:t>Parameter</a:t>
                      </a:r>
                      <a:endParaRPr lang="LID4096" b="1">
                        <a:solidFill>
                          <a:schemeClr val="tx1"/>
                        </a:solidFill>
                      </a:endParaRPr>
                    </a:p>
                  </a:txBody>
                  <a:tcPr/>
                </a:tc>
                <a:tc>
                  <a:txBody>
                    <a:bodyPr/>
                    <a:lstStyle/>
                    <a:p>
                      <a:r>
                        <a:rPr lang="" sz="1800" b="1">
                          <a:solidFill>
                            <a:schemeClr val="tx1"/>
                          </a:solidFill>
                          <a:effectLst/>
                        </a:rPr>
                        <a:t>Estimate</a:t>
                      </a:r>
                      <a:endParaRPr lang="LID4096" b="1">
                        <a:solidFill>
                          <a:schemeClr val="tx1"/>
                        </a:solidFill>
                      </a:endParaRPr>
                    </a:p>
                  </a:txBody>
                  <a:tcPr/>
                </a:tc>
                <a:tc>
                  <a:txBody>
                    <a:bodyPr/>
                    <a:lstStyle/>
                    <a:p>
                      <a:r>
                        <a:rPr lang="" sz="1800" b="1">
                          <a:solidFill>
                            <a:schemeClr val="tx1"/>
                          </a:solidFill>
                          <a:effectLst/>
                        </a:rPr>
                        <a:t>Standard_Error</a:t>
                      </a:r>
                      <a:endParaRPr lang="LID4096" b="1">
                        <a:solidFill>
                          <a:schemeClr val="tx1"/>
                        </a:solidFill>
                      </a:endParaRPr>
                    </a:p>
                  </a:txBody>
                  <a:tcPr/>
                </a:tc>
                <a:tc>
                  <a:txBody>
                    <a:bodyPr/>
                    <a:lstStyle/>
                    <a:p>
                      <a:r>
                        <a:rPr lang="" sz="1800" b="1">
                          <a:solidFill>
                            <a:schemeClr val="tx1"/>
                          </a:solidFill>
                          <a:effectLst/>
                        </a:rPr>
                        <a:t>Lower_95_CI </a:t>
                      </a:r>
                      <a:endParaRPr lang="LID4096" b="1">
                        <a:solidFill>
                          <a:schemeClr val="tx1"/>
                        </a:solidFill>
                      </a:endParaRPr>
                    </a:p>
                  </a:txBody>
                  <a:tcPr/>
                </a:tc>
                <a:tc>
                  <a:txBody>
                    <a:bodyPr/>
                    <a:lstStyle/>
                    <a:p>
                      <a:r>
                        <a:rPr lang="" sz="1800" b="1">
                          <a:solidFill>
                            <a:schemeClr val="tx1"/>
                          </a:solidFill>
                          <a:effectLst/>
                        </a:rPr>
                        <a:t>Upper_95_CI</a:t>
                      </a:r>
                      <a:endParaRPr lang="LID4096" b="1">
                        <a:solidFill>
                          <a:schemeClr val="tx1"/>
                        </a:solidFill>
                      </a:endParaRPr>
                    </a:p>
                  </a:txBody>
                  <a:tcPr/>
                </a:tc>
                <a:extLst>
                  <a:ext uri="{0D108BD9-81ED-4DB2-BD59-A6C34878D82A}">
                    <a16:rowId xmlns:a16="http://schemas.microsoft.com/office/drawing/2014/main" val="2952225103"/>
                  </a:ext>
                </a:extLst>
              </a:tr>
              <a:tr h="370840">
                <a:tc>
                  <a:txBody>
                    <a:bodyPr/>
                    <a:lstStyle/>
                    <a:p>
                      <a:r>
                        <a:rPr lang="" sz="1800" b="0">
                          <a:solidFill>
                            <a:schemeClr val="tx1"/>
                          </a:solidFill>
                          <a:effectLst/>
                        </a:rPr>
                        <a:t>Scale (sigma) </a:t>
                      </a:r>
                      <a:endParaRPr lang="LID4096"/>
                    </a:p>
                  </a:txBody>
                  <a:tcPr/>
                </a:tc>
                <a:tc>
                  <a:txBody>
                    <a:bodyPr/>
                    <a:lstStyle/>
                    <a:p>
                      <a:r>
                        <a:rPr lang="" sz="1800" b="0" i="0">
                          <a:solidFill>
                            <a:schemeClr val="tx1"/>
                          </a:solidFill>
                          <a:effectLst/>
                          <a:latin typeface="+mn-lt"/>
                        </a:rPr>
                        <a:t>2.4510336</a:t>
                      </a:r>
                      <a:endParaRPr lang="LID4096"/>
                    </a:p>
                  </a:txBody>
                  <a:tcPr/>
                </a:tc>
                <a:tc>
                  <a:txBody>
                    <a:bodyPr/>
                    <a:lstStyle/>
                    <a:p>
                      <a:r>
                        <a:rPr lang="" sz="1800" b="0" i="0">
                          <a:solidFill>
                            <a:schemeClr val="tx1"/>
                          </a:solidFill>
                          <a:effectLst/>
                          <a:latin typeface="+mn-lt"/>
                        </a:rPr>
                        <a:t>0.14997664</a:t>
                      </a:r>
                      <a:endParaRPr lang="LID4096"/>
                    </a:p>
                  </a:txBody>
                  <a:tcPr/>
                </a:tc>
                <a:tc>
                  <a:txBody>
                    <a:bodyPr/>
                    <a:lstStyle/>
                    <a:p>
                      <a:r>
                        <a:rPr lang="" sz="1800" b="0" i="0">
                          <a:solidFill>
                            <a:schemeClr val="tx1"/>
                          </a:solidFill>
                          <a:effectLst/>
                          <a:latin typeface="+mn-lt"/>
                        </a:rPr>
                        <a:t>2.1570794</a:t>
                      </a:r>
                      <a:endParaRPr lang="LID4096"/>
                    </a:p>
                  </a:txBody>
                  <a:tcPr/>
                </a:tc>
                <a:tc>
                  <a:txBody>
                    <a:bodyPr/>
                    <a:lstStyle/>
                    <a:p>
                      <a:r>
                        <a:rPr lang="" sz="1800" b="0" i="0">
                          <a:solidFill>
                            <a:schemeClr val="tx1"/>
                          </a:solidFill>
                          <a:effectLst/>
                          <a:latin typeface="+mn-lt"/>
                        </a:rPr>
                        <a:t>2.74498785</a:t>
                      </a:r>
                      <a:endParaRPr lang="LID4096"/>
                    </a:p>
                  </a:txBody>
                  <a:tcPr/>
                </a:tc>
                <a:extLst>
                  <a:ext uri="{0D108BD9-81ED-4DB2-BD59-A6C34878D82A}">
                    <a16:rowId xmlns:a16="http://schemas.microsoft.com/office/drawing/2014/main" val="3771467229"/>
                  </a:ext>
                </a:extLst>
              </a:tr>
              <a:tr h="370840">
                <a:tc>
                  <a:txBody>
                    <a:bodyPr/>
                    <a:lstStyle/>
                    <a:p>
                      <a:r>
                        <a:rPr lang="" sz="1800" b="0">
                          <a:solidFill>
                            <a:schemeClr val="tx1"/>
                          </a:solidFill>
                          <a:effectLst/>
                        </a:rPr>
                        <a:t>Shape (gamma) </a:t>
                      </a:r>
                      <a:endParaRPr lang="LID4096"/>
                    </a:p>
                  </a:txBody>
                  <a:tcPr/>
                </a:tc>
                <a:tc>
                  <a:txBody>
                    <a:bodyPr/>
                    <a:lstStyle/>
                    <a:p>
                      <a:r>
                        <a:rPr lang="" sz="1800" b="0" i="0">
                          <a:solidFill>
                            <a:schemeClr val="tx1"/>
                          </a:solidFill>
                          <a:effectLst/>
                          <a:latin typeface="+mn-lt"/>
                        </a:rPr>
                        <a:t>-0.1545222 </a:t>
                      </a:r>
                      <a:endParaRPr lang="LID4096"/>
                    </a:p>
                  </a:txBody>
                  <a:tcPr/>
                </a:tc>
                <a:tc>
                  <a:txBody>
                    <a:bodyPr/>
                    <a:lstStyle/>
                    <a:p>
                      <a:r>
                        <a:rPr lang="" sz="1800" b="0" i="0">
                          <a:solidFill>
                            <a:schemeClr val="tx1"/>
                          </a:solidFill>
                          <a:effectLst/>
                          <a:latin typeface="+mn-lt"/>
                        </a:rPr>
                        <a:t>0.03992059</a:t>
                      </a:r>
                      <a:endParaRPr lang="LID4096"/>
                    </a:p>
                  </a:txBody>
                  <a:tcPr/>
                </a:tc>
                <a:tc>
                  <a:txBody>
                    <a:bodyPr/>
                    <a:lstStyle/>
                    <a:p>
                      <a:r>
                        <a:rPr lang="" sz="1800" b="0" i="0">
                          <a:solidFill>
                            <a:schemeClr val="tx1"/>
                          </a:solidFill>
                          <a:effectLst/>
                          <a:latin typeface="+mn-lt"/>
                        </a:rPr>
                        <a:t>-0.2327665 </a:t>
                      </a:r>
                      <a:endParaRPr lang="LID4096"/>
                    </a:p>
                  </a:txBody>
                  <a:tcPr/>
                </a:tc>
                <a:tc>
                  <a:txBody>
                    <a:bodyPr/>
                    <a:lstStyle/>
                    <a:p>
                      <a:r>
                        <a:rPr lang="" sz="1800" b="0" i="0">
                          <a:solidFill>
                            <a:schemeClr val="tx1"/>
                          </a:solidFill>
                          <a:effectLst/>
                          <a:latin typeface="+mn-lt"/>
                        </a:rPr>
                        <a:t>-0.07627784</a:t>
                      </a:r>
                      <a:endParaRPr lang="LID4096"/>
                    </a:p>
                  </a:txBody>
                  <a:tcPr/>
                </a:tc>
                <a:extLst>
                  <a:ext uri="{0D108BD9-81ED-4DB2-BD59-A6C34878D82A}">
                    <a16:rowId xmlns:a16="http://schemas.microsoft.com/office/drawing/2014/main" val="4198131139"/>
                  </a:ext>
                </a:extLst>
              </a:tr>
            </a:tbl>
          </a:graphicData>
        </a:graphic>
      </p:graphicFrame>
    </p:spTree>
    <p:extLst>
      <p:ext uri="{BB962C8B-B14F-4D97-AF65-F5344CB8AC3E}">
        <p14:creationId xmlns:p14="http://schemas.microsoft.com/office/powerpoint/2010/main" val="38177313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FAA9F-F284-0B5F-C29C-AE81F7832B4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8E477B1-C47E-471D-9B83-24545F36A6B3}"/>
              </a:ext>
            </a:extLst>
          </p:cNvPr>
          <p:cNvSpPr>
            <a:spLocks noGrp="1"/>
          </p:cNvSpPr>
          <p:nvPr>
            <p:ph type="title"/>
          </p:nvPr>
        </p:nvSpPr>
        <p:spPr>
          <a:xfrm>
            <a:off x="838200" y="365125"/>
            <a:ext cx="7256387" cy="729157"/>
          </a:xfrm>
        </p:spPr>
        <p:txBody>
          <a:bodyPr>
            <a:normAutofit fontScale="90000"/>
          </a:bodyPr>
          <a:lstStyle/>
          <a:p>
            <a:r>
              <a:rPr lang="es-ES" sz="4000" b="1"/>
              <a:t>GPD distribution – </a:t>
            </a:r>
            <a:r>
              <a:rPr lang="es-ES" sz="3200"/>
              <a:t>Diagnostic Analysis</a:t>
            </a:r>
            <a:endParaRPr lang="LID4096" sz="3200"/>
          </a:p>
        </p:txBody>
      </p:sp>
      <p:pic>
        <p:nvPicPr>
          <p:cNvPr id="3" name="Picture 2">
            <a:extLst>
              <a:ext uri="{FF2B5EF4-FFF2-40B4-BE49-F238E27FC236}">
                <a16:creationId xmlns:a16="http://schemas.microsoft.com/office/drawing/2014/main" id="{041A5F53-CD82-A8E7-8F5E-72FD6E8C20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1" y="1386611"/>
            <a:ext cx="7329918" cy="5351489"/>
          </a:xfrm>
          <a:prstGeom prst="rect">
            <a:avLst/>
          </a:prstGeom>
        </p:spPr>
      </p:pic>
    </p:spTree>
    <p:extLst>
      <p:ext uri="{BB962C8B-B14F-4D97-AF65-F5344CB8AC3E}">
        <p14:creationId xmlns:p14="http://schemas.microsoft.com/office/powerpoint/2010/main" val="38600472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B2244-FC30-37C3-F207-E2947A7E71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5C2E33-E1B8-F8CC-B877-44396FC2D7B2}"/>
              </a:ext>
            </a:extLst>
          </p:cNvPr>
          <p:cNvSpPr txBox="1">
            <a:spLocks/>
          </p:cNvSpPr>
          <p:nvPr/>
        </p:nvSpPr>
        <p:spPr>
          <a:xfrm>
            <a:off x="850477" y="365125"/>
            <a:ext cx="8643078" cy="729157"/>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4000" b="1"/>
              <a:t>GPD distribution – </a:t>
            </a:r>
            <a:r>
              <a:rPr lang="es-ES" sz="3200"/>
              <a:t>Analysis of Shape Parameter</a:t>
            </a:r>
            <a:endParaRPr lang="LID4096" sz="3200"/>
          </a:p>
        </p:txBody>
      </p:sp>
      <p:graphicFrame>
        <p:nvGraphicFramePr>
          <p:cNvPr id="8" name="Table 7">
            <a:extLst>
              <a:ext uri="{FF2B5EF4-FFF2-40B4-BE49-F238E27FC236}">
                <a16:creationId xmlns:a16="http://schemas.microsoft.com/office/drawing/2014/main" id="{19ABC955-D846-AEE7-74EC-3DD87E050861}"/>
              </a:ext>
            </a:extLst>
          </p:cNvPr>
          <p:cNvGraphicFramePr>
            <a:graphicFrameLocks noGrp="1"/>
          </p:cNvGraphicFramePr>
          <p:nvPr>
            <p:extLst>
              <p:ext uri="{D42A27DB-BD31-4B8C-83A1-F6EECF244321}">
                <p14:modId xmlns:p14="http://schemas.microsoft.com/office/powerpoint/2010/main" val="873108089"/>
              </p:ext>
            </p:extLst>
          </p:nvPr>
        </p:nvGraphicFramePr>
        <p:xfrm>
          <a:off x="1011715" y="1854200"/>
          <a:ext cx="7388592" cy="1112520"/>
        </p:xfrm>
        <a:graphic>
          <a:graphicData uri="http://schemas.openxmlformats.org/drawingml/2006/table">
            <a:tbl>
              <a:tblPr firstRow="1" bandRow="1">
                <a:tableStyleId>{5940675A-B579-460E-94D1-54222C63F5DA}</a:tableStyleId>
              </a:tblPr>
              <a:tblGrid>
                <a:gridCol w="1840823">
                  <a:extLst>
                    <a:ext uri="{9D8B030D-6E8A-4147-A177-3AD203B41FA5}">
                      <a16:colId xmlns:a16="http://schemas.microsoft.com/office/drawing/2014/main" val="3897859493"/>
                    </a:ext>
                  </a:extLst>
                </a:gridCol>
                <a:gridCol w="1951539">
                  <a:extLst>
                    <a:ext uri="{9D8B030D-6E8A-4147-A177-3AD203B41FA5}">
                      <a16:colId xmlns:a16="http://schemas.microsoft.com/office/drawing/2014/main" val="1040941871"/>
                    </a:ext>
                  </a:extLst>
                </a:gridCol>
                <a:gridCol w="1785841">
                  <a:extLst>
                    <a:ext uri="{9D8B030D-6E8A-4147-A177-3AD203B41FA5}">
                      <a16:colId xmlns:a16="http://schemas.microsoft.com/office/drawing/2014/main" val="4150269099"/>
                    </a:ext>
                  </a:extLst>
                </a:gridCol>
                <a:gridCol w="1810389">
                  <a:extLst>
                    <a:ext uri="{9D8B030D-6E8A-4147-A177-3AD203B41FA5}">
                      <a16:colId xmlns:a16="http://schemas.microsoft.com/office/drawing/2014/main" val="1262490676"/>
                    </a:ext>
                  </a:extLst>
                </a:gridCol>
              </a:tblGrid>
              <a:tr h="370840">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b="1">
                          <a:solidFill>
                            <a:schemeClr val="tx1"/>
                          </a:solidFill>
                        </a:rPr>
                        <a:t>Analysis of Shape Parameter</a:t>
                      </a:r>
                      <a:endParaRPr lang="LID4096" b="1">
                        <a:solidFill>
                          <a:schemeClr val="tx1"/>
                        </a:solidFill>
                      </a:endParaRPr>
                    </a:p>
                  </a:txBody>
                  <a:tcPr/>
                </a:tc>
                <a:tc hMerge="1">
                  <a:txBody>
                    <a:bodyPr/>
                    <a:lstStyle/>
                    <a:p>
                      <a:endParaRPr lang="LID4096" b="1">
                        <a:solidFill>
                          <a:schemeClr val="tx1"/>
                        </a:solidFill>
                      </a:endParaRPr>
                    </a:p>
                  </a:txBody>
                  <a:tcPr/>
                </a:tc>
                <a:tc hMerge="1">
                  <a:txBody>
                    <a:bodyPr/>
                    <a:lstStyle/>
                    <a:p>
                      <a:endParaRPr lang="LID4096" b="1">
                        <a:solidFill>
                          <a:schemeClr val="tx1"/>
                        </a:solidFill>
                      </a:endParaRPr>
                    </a:p>
                  </a:txBody>
                  <a:tcPr/>
                </a:tc>
                <a:tc hMerge="1">
                  <a:txBody>
                    <a:bodyPr/>
                    <a:lstStyle/>
                    <a:p>
                      <a:endParaRPr lang="LID4096" b="1">
                        <a:solidFill>
                          <a:schemeClr val="tx1"/>
                        </a:solidFill>
                      </a:endParaRPr>
                    </a:p>
                  </a:txBody>
                  <a:tcPr/>
                </a:tc>
                <a:extLst>
                  <a:ext uri="{0D108BD9-81ED-4DB2-BD59-A6C34878D82A}">
                    <a16:rowId xmlns:a16="http://schemas.microsoft.com/office/drawing/2014/main" val="1998109575"/>
                  </a:ext>
                </a:extLst>
              </a:tr>
              <a:tr h="370840">
                <a:tc>
                  <a:txBody>
                    <a:bodyPr/>
                    <a:lstStyle/>
                    <a:p>
                      <a:r>
                        <a:rPr lang="" sz="1800" b="1">
                          <a:solidFill>
                            <a:schemeClr val="tx1"/>
                          </a:solidFill>
                          <a:effectLst/>
                        </a:rPr>
                        <a:t>Estimate</a:t>
                      </a:r>
                      <a:endParaRPr lang="LID4096" b="1">
                        <a:solidFill>
                          <a:schemeClr val="tx1"/>
                        </a:solidFill>
                      </a:endParaRPr>
                    </a:p>
                  </a:txBody>
                  <a:tcPr/>
                </a:tc>
                <a:tc>
                  <a:txBody>
                    <a:bodyPr/>
                    <a:lstStyle/>
                    <a:p>
                      <a:r>
                        <a:rPr lang="" sz="1800" b="1">
                          <a:solidFill>
                            <a:schemeClr val="tx1"/>
                          </a:solidFill>
                          <a:effectLst/>
                        </a:rPr>
                        <a:t>Standard_Error</a:t>
                      </a:r>
                      <a:endParaRPr lang="LID4096" b="1">
                        <a:solidFill>
                          <a:schemeClr val="tx1"/>
                        </a:solidFill>
                      </a:endParaRPr>
                    </a:p>
                  </a:txBody>
                  <a:tcPr/>
                </a:tc>
                <a:tc>
                  <a:txBody>
                    <a:bodyPr/>
                    <a:lstStyle/>
                    <a:p>
                      <a:r>
                        <a:rPr lang="" sz="1800" b="1" i="0">
                          <a:solidFill>
                            <a:schemeClr val="tx1"/>
                          </a:solidFill>
                          <a:effectLst/>
                          <a:latin typeface="+mn-lt"/>
                        </a:rPr>
                        <a:t>z_statistic </a:t>
                      </a:r>
                      <a:endParaRPr lang="LID4096" b="1">
                        <a:solidFill>
                          <a:schemeClr val="tx1"/>
                        </a:solidFill>
                      </a:endParaRPr>
                    </a:p>
                  </a:txBody>
                  <a:tcPr/>
                </a:tc>
                <a:tc>
                  <a:txBody>
                    <a:bodyPr/>
                    <a:lstStyle/>
                    <a:p>
                      <a:r>
                        <a:rPr lang="" sz="1800" b="1">
                          <a:solidFill>
                            <a:schemeClr val="tx1"/>
                          </a:solidFill>
                          <a:effectLst/>
                        </a:rPr>
                        <a:t>P_Value</a:t>
                      </a:r>
                      <a:endParaRPr lang="LID4096" b="1">
                        <a:solidFill>
                          <a:schemeClr val="tx1"/>
                        </a:solidFill>
                      </a:endParaRPr>
                    </a:p>
                  </a:txBody>
                  <a:tcPr/>
                </a:tc>
                <a:extLst>
                  <a:ext uri="{0D108BD9-81ED-4DB2-BD59-A6C34878D82A}">
                    <a16:rowId xmlns:a16="http://schemas.microsoft.com/office/drawing/2014/main" val="2952225103"/>
                  </a:ext>
                </a:extLst>
              </a:tr>
              <a:tr h="370840">
                <a:tc>
                  <a:txBody>
                    <a:bodyPr/>
                    <a:lstStyle/>
                    <a:p>
                      <a:r>
                        <a:rPr lang="" sz="1800" b="0" i="0">
                          <a:solidFill>
                            <a:schemeClr val="tx1"/>
                          </a:solidFill>
                          <a:effectLst/>
                          <a:latin typeface="+mn-lt"/>
                        </a:rPr>
                        <a:t>-0.1544000000 </a:t>
                      </a:r>
                      <a:endParaRPr lang="LID4096"/>
                    </a:p>
                  </a:txBody>
                  <a:tcPr/>
                </a:tc>
                <a:tc>
                  <a:txBody>
                    <a:bodyPr/>
                    <a:lstStyle/>
                    <a:p>
                      <a:r>
                        <a:rPr lang="" sz="1800" b="0" i="0">
                          <a:solidFill>
                            <a:schemeClr val="tx1"/>
                          </a:solidFill>
                          <a:effectLst/>
                          <a:latin typeface="+mn-lt"/>
                        </a:rPr>
                        <a:t>0.0399400000</a:t>
                      </a:r>
                      <a:endParaRPr lang="LID4096"/>
                    </a:p>
                  </a:txBody>
                  <a:tcPr/>
                </a:tc>
                <a:tc>
                  <a:txBody>
                    <a:bodyPr/>
                    <a:lstStyle/>
                    <a:p>
                      <a:r>
                        <a:rPr lang="" sz="1800" b="0" i="0">
                          <a:solidFill>
                            <a:schemeClr val="tx1"/>
                          </a:solidFill>
                          <a:effectLst/>
                          <a:latin typeface="+mn-lt"/>
                        </a:rPr>
                        <a:t>-3.8657986980 </a:t>
                      </a:r>
                      <a:endParaRPr lang="LID4096"/>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 sz="1800" b="0" i="0">
                          <a:solidFill>
                            <a:schemeClr val="tx1"/>
                          </a:solidFill>
                          <a:effectLst/>
                          <a:latin typeface="+mn-lt"/>
                        </a:rPr>
                        <a:t>0.000110726</a:t>
                      </a:r>
                      <a:endParaRPr lang="" sz="1800" b="0">
                        <a:solidFill>
                          <a:schemeClr val="tx1"/>
                        </a:solidFill>
                        <a:effectLst/>
                      </a:endParaRPr>
                    </a:p>
                  </a:txBody>
                  <a:tcPr/>
                </a:tc>
                <a:extLst>
                  <a:ext uri="{0D108BD9-81ED-4DB2-BD59-A6C34878D82A}">
                    <a16:rowId xmlns:a16="http://schemas.microsoft.com/office/drawing/2014/main" val="1158127129"/>
                  </a:ext>
                </a:extLst>
              </a:tr>
            </a:tbl>
          </a:graphicData>
        </a:graphic>
      </p:graphicFrame>
      <p:sp>
        <p:nvSpPr>
          <p:cNvPr id="4" name="TextBox 3">
            <a:extLst>
              <a:ext uri="{FF2B5EF4-FFF2-40B4-BE49-F238E27FC236}">
                <a16:creationId xmlns:a16="http://schemas.microsoft.com/office/drawing/2014/main" id="{03B81ADA-3A25-7F40-8A9B-B97EDA05F5D4}"/>
              </a:ext>
            </a:extLst>
          </p:cNvPr>
          <p:cNvSpPr txBox="1"/>
          <p:nvPr/>
        </p:nvSpPr>
        <p:spPr>
          <a:xfrm>
            <a:off x="838201" y="3309725"/>
            <a:ext cx="8643078" cy="1477328"/>
          </a:xfrm>
          <a:prstGeom prst="rect">
            <a:avLst/>
          </a:prstGeom>
          <a:noFill/>
        </p:spPr>
        <p:txBody>
          <a:bodyPr wrap="square" rtlCol="0">
            <a:spAutoFit/>
          </a:bodyPr>
          <a:lstStyle/>
          <a:p>
            <a:r>
              <a:rPr lang="en-GB"/>
              <a:t>The estimated gamma value is </a:t>
            </a:r>
            <a:r>
              <a:rPr lang=""/>
              <a:t>-0.1544000000</a:t>
            </a:r>
            <a:endParaRPr lang="en-GB"/>
          </a:p>
          <a:p>
            <a:r>
              <a:rPr lang="en-GB"/>
              <a:t>The p-value </a:t>
            </a:r>
            <a:r>
              <a:rPr lang="en-GB" b="1"/>
              <a:t>is </a:t>
            </a:r>
            <a:r>
              <a:rPr lang=""/>
              <a:t>0.000110726</a:t>
            </a:r>
            <a:r>
              <a:rPr lang="en-GB"/>
              <a:t>, which is smaller than </a:t>
            </a:r>
            <a:r>
              <a:rPr lang="en-GB" b="1"/>
              <a:t>0.05</a:t>
            </a:r>
            <a:r>
              <a:rPr lang="en-GB"/>
              <a:t>.</a:t>
            </a:r>
          </a:p>
          <a:p>
            <a:r>
              <a:rPr lang="en-GB"/>
              <a:t>Therefore, we </a:t>
            </a:r>
            <a:r>
              <a:rPr lang="en-GB" b="1"/>
              <a:t>reject the null hypothesis</a:t>
            </a:r>
            <a:r>
              <a:rPr lang="en-GB"/>
              <a:t>.</a:t>
            </a:r>
          </a:p>
          <a:p>
            <a:r>
              <a:rPr lang="en-GB"/>
              <a:t>This means that </a:t>
            </a:r>
            <a:r>
              <a:rPr lang=""/>
              <a:t>there is strong statistical evidence that the shape parameter differs from zero.</a:t>
            </a:r>
            <a:endParaRPr lang="LID4096"/>
          </a:p>
        </p:txBody>
      </p:sp>
    </p:spTree>
    <p:extLst>
      <p:ext uri="{BB962C8B-B14F-4D97-AF65-F5344CB8AC3E}">
        <p14:creationId xmlns:p14="http://schemas.microsoft.com/office/powerpoint/2010/main" val="11117129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8934A6A1-59CA-2BCF-81B2-F489E150C1C1}"/>
              </a:ext>
            </a:extLst>
          </p:cNvPr>
          <p:cNvGraphicFramePr>
            <a:graphicFrameLocks noGrp="1"/>
          </p:cNvGraphicFramePr>
          <p:nvPr>
            <p:extLst>
              <p:ext uri="{D42A27DB-BD31-4B8C-83A1-F6EECF244321}">
                <p14:modId xmlns:p14="http://schemas.microsoft.com/office/powerpoint/2010/main" val="12011800"/>
              </p:ext>
            </p:extLst>
          </p:nvPr>
        </p:nvGraphicFramePr>
        <p:xfrm>
          <a:off x="1011714" y="1854200"/>
          <a:ext cx="3654032" cy="1010920"/>
        </p:xfrm>
        <a:graphic>
          <a:graphicData uri="http://schemas.openxmlformats.org/drawingml/2006/table">
            <a:tbl>
              <a:tblPr firstRow="1" bandRow="1">
                <a:tableStyleId>{5940675A-B579-460E-94D1-54222C63F5DA}</a:tableStyleId>
              </a:tblPr>
              <a:tblGrid>
                <a:gridCol w="1814545">
                  <a:extLst>
                    <a:ext uri="{9D8B030D-6E8A-4147-A177-3AD203B41FA5}">
                      <a16:colId xmlns:a16="http://schemas.microsoft.com/office/drawing/2014/main" val="1793223014"/>
                    </a:ext>
                  </a:extLst>
                </a:gridCol>
                <a:gridCol w="1839487">
                  <a:extLst>
                    <a:ext uri="{9D8B030D-6E8A-4147-A177-3AD203B41FA5}">
                      <a16:colId xmlns:a16="http://schemas.microsoft.com/office/drawing/2014/main" val="1262490676"/>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 sz="1800" b="1">
                          <a:solidFill>
                            <a:schemeClr val="tx1"/>
                          </a:solidFill>
                          <a:effectLst/>
                        </a:rPr>
                        <a:t>GEV P_Value</a:t>
                      </a:r>
                      <a:endParaRPr lang="LID4096" b="1">
                        <a:solidFill>
                          <a:schemeClr val="tx1"/>
                        </a:solidFill>
                      </a:endParaRPr>
                    </a:p>
                  </a:txBody>
                  <a:tcPr/>
                </a:tc>
                <a:tc>
                  <a:txBody>
                    <a:bodyPr/>
                    <a:lstStyle/>
                    <a:p>
                      <a:r>
                        <a:rPr lang="" sz="1800" b="1">
                          <a:solidFill>
                            <a:schemeClr val="tx1"/>
                          </a:solidFill>
                          <a:effectLst/>
                        </a:rPr>
                        <a:t>GPV P_Value</a:t>
                      </a:r>
                      <a:endParaRPr lang="LID4096" b="1">
                        <a:solidFill>
                          <a:schemeClr val="tx1"/>
                        </a:solidFill>
                      </a:endParaRPr>
                    </a:p>
                  </a:txBody>
                  <a:tcPr/>
                </a:tc>
                <a:extLst>
                  <a:ext uri="{0D108BD9-81ED-4DB2-BD59-A6C34878D82A}">
                    <a16:rowId xmlns:a16="http://schemas.microsoft.com/office/drawing/2014/main" val="295222510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 sz="1800" b="0" i="0">
                          <a:solidFill>
                            <a:schemeClr val="tx1"/>
                          </a:solidFill>
                          <a:effectLst/>
                          <a:latin typeface="+mn-lt"/>
                        </a:rPr>
                        <a:t>0.988907547 </a:t>
                      </a:r>
                      <a:endParaRPr lang="" sz="1800" b="0">
                        <a:solidFill>
                          <a:schemeClr val="tx1"/>
                        </a:solidFill>
                        <a:effectLst/>
                      </a:endParaRPr>
                    </a:p>
                    <a:p>
                      <a:endParaRPr lang="LID4096"/>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 sz="1800" b="0" i="0">
                          <a:solidFill>
                            <a:schemeClr val="tx1"/>
                          </a:solidFill>
                          <a:effectLst/>
                          <a:latin typeface="+mn-lt"/>
                        </a:rPr>
                        <a:t>0.000110726</a:t>
                      </a:r>
                      <a:endParaRPr lang="" sz="1800" b="0">
                        <a:solidFill>
                          <a:schemeClr val="tx1"/>
                        </a:solidFill>
                        <a:effectLst/>
                      </a:endParaRPr>
                    </a:p>
                  </a:txBody>
                  <a:tcPr/>
                </a:tc>
                <a:extLst>
                  <a:ext uri="{0D108BD9-81ED-4DB2-BD59-A6C34878D82A}">
                    <a16:rowId xmlns:a16="http://schemas.microsoft.com/office/drawing/2014/main" val="1158127129"/>
                  </a:ext>
                </a:extLst>
              </a:tr>
            </a:tbl>
          </a:graphicData>
        </a:graphic>
      </p:graphicFrame>
      <p:sp>
        <p:nvSpPr>
          <p:cNvPr id="7" name="Title 1">
            <a:extLst>
              <a:ext uri="{FF2B5EF4-FFF2-40B4-BE49-F238E27FC236}">
                <a16:creationId xmlns:a16="http://schemas.microsoft.com/office/drawing/2014/main" id="{DE44B48F-27BB-246B-EF78-D92D24C6A6EE}"/>
              </a:ext>
            </a:extLst>
          </p:cNvPr>
          <p:cNvSpPr txBox="1">
            <a:spLocks/>
          </p:cNvSpPr>
          <p:nvPr/>
        </p:nvSpPr>
        <p:spPr>
          <a:xfrm>
            <a:off x="850477" y="365125"/>
            <a:ext cx="8643078" cy="72915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4000" b="1"/>
              <a:t>Comparison of shape parameters</a:t>
            </a:r>
            <a:endParaRPr lang="LID4096" sz="3200"/>
          </a:p>
        </p:txBody>
      </p:sp>
      <p:sp>
        <p:nvSpPr>
          <p:cNvPr id="9" name="TextBox 8">
            <a:extLst>
              <a:ext uri="{FF2B5EF4-FFF2-40B4-BE49-F238E27FC236}">
                <a16:creationId xmlns:a16="http://schemas.microsoft.com/office/drawing/2014/main" id="{58F8B6C2-25E0-001C-4CDB-F7835D596A06}"/>
              </a:ext>
            </a:extLst>
          </p:cNvPr>
          <p:cNvSpPr txBox="1"/>
          <p:nvPr/>
        </p:nvSpPr>
        <p:spPr>
          <a:xfrm>
            <a:off x="1011714" y="3115718"/>
            <a:ext cx="6094520" cy="1754326"/>
          </a:xfrm>
          <a:prstGeom prst="rect">
            <a:avLst/>
          </a:prstGeom>
          <a:noFill/>
        </p:spPr>
        <p:txBody>
          <a:bodyPr wrap="square">
            <a:spAutoFit/>
          </a:bodyPr>
          <a:lstStyle/>
          <a:p>
            <a:pPr fontAlgn="t">
              <a:lnSpc>
                <a:spcPct val="100000"/>
              </a:lnSpc>
              <a:buNone/>
            </a:pPr>
            <a:r>
              <a:rPr lang="" sz="1800" b="0" i="0">
                <a:effectLst/>
                <a:latin typeface="+mn-lt"/>
              </a:rPr>
              <a:t>For GEV:</a:t>
            </a:r>
          </a:p>
          <a:p>
            <a:pPr marL="342900" lvl="0" indent="-342900" fontAlgn="t">
              <a:lnSpc>
                <a:spcPct val="100000"/>
              </a:lnSpc>
              <a:buFont typeface="Arial" panose="020B0604020202020204" pitchFamily="34" charset="0"/>
              <a:buChar char="•"/>
            </a:pPr>
            <a:r>
              <a:rPr lang="" sz="1800" b="0" i="0">
                <a:effectLst/>
                <a:latin typeface="+mn-lt"/>
              </a:rPr>
              <a:t>p-value = 0.989 : </a:t>
            </a:r>
            <a:r>
              <a:rPr lang="" sz="1800" b="1" i="0">
                <a:effectLst/>
                <a:latin typeface="+mn-lt"/>
              </a:rPr>
              <a:t>Greater than 0.05</a:t>
            </a:r>
          </a:p>
          <a:p>
            <a:pPr marL="342900" lvl="0" indent="-342900" fontAlgn="t">
              <a:lnSpc>
                <a:spcPct val="100000"/>
              </a:lnSpc>
              <a:buFont typeface="Arial" panose="020B0604020202020204" pitchFamily="34" charset="0"/>
              <a:buChar char="•"/>
            </a:pPr>
            <a:r>
              <a:rPr lang="" sz="1800" b="0" i="0">
                <a:effectLst/>
                <a:latin typeface="+mn-lt"/>
              </a:rPr>
              <a:t>Not significant</a:t>
            </a:r>
          </a:p>
          <a:p>
            <a:pPr fontAlgn="t">
              <a:lnSpc>
                <a:spcPct val="100000"/>
              </a:lnSpc>
              <a:buNone/>
            </a:pPr>
            <a:r>
              <a:rPr lang="" sz="1800" b="0" i="0">
                <a:effectLst/>
                <a:latin typeface="+mn-lt"/>
              </a:rPr>
              <a:t>For GPD:</a:t>
            </a:r>
          </a:p>
          <a:p>
            <a:pPr marL="342900" lvl="0" indent="-342900" fontAlgn="t">
              <a:lnSpc>
                <a:spcPct val="100000"/>
              </a:lnSpc>
              <a:buFont typeface="Arial" panose="020B0604020202020204" pitchFamily="34" charset="0"/>
              <a:buChar char="•"/>
            </a:pPr>
            <a:r>
              <a:rPr lang="" sz="1800" b="0" i="0">
                <a:effectLst/>
                <a:latin typeface="+mn-lt"/>
              </a:rPr>
              <a:t>p-value = 0.00011: </a:t>
            </a:r>
            <a:r>
              <a:rPr lang="" sz="1800" b="1" i="0">
                <a:effectLst/>
                <a:latin typeface="+mn-lt"/>
              </a:rPr>
              <a:t>Less than 0.05</a:t>
            </a:r>
          </a:p>
          <a:p>
            <a:pPr marL="342900" lvl="0" indent="-342900" fontAlgn="t">
              <a:lnSpc>
                <a:spcPct val="100000"/>
              </a:lnSpc>
              <a:buFont typeface="Arial" panose="020B0604020202020204" pitchFamily="34" charset="0"/>
              <a:buChar char="•"/>
            </a:pPr>
            <a:r>
              <a:rPr lang="" sz="1800" b="0" i="0">
                <a:effectLst/>
                <a:latin typeface="+mn-lt"/>
              </a:rPr>
              <a:t>Significant</a:t>
            </a:r>
            <a:endParaRPr lang="" sz="1800" b="0" i="0">
              <a:effectLst/>
              <a:latin typeface="Segoe UI" panose="020B0502040204020203" pitchFamily="34" charset="0"/>
            </a:endParaRPr>
          </a:p>
        </p:txBody>
      </p:sp>
    </p:spTree>
    <p:extLst>
      <p:ext uri="{BB962C8B-B14F-4D97-AF65-F5344CB8AC3E}">
        <p14:creationId xmlns:p14="http://schemas.microsoft.com/office/powerpoint/2010/main" val="35428591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C810728-FDB3-0F9D-5C41-F29EC206A1D9}"/>
              </a:ext>
            </a:extLst>
          </p:cNvPr>
          <p:cNvSpPr>
            <a:spLocks noGrp="1"/>
          </p:cNvSpPr>
          <p:nvPr>
            <p:ph type="title"/>
          </p:nvPr>
        </p:nvSpPr>
        <p:spPr>
          <a:xfrm>
            <a:off x="838201" y="365125"/>
            <a:ext cx="8643078" cy="729157"/>
          </a:xfrm>
        </p:spPr>
        <p:txBody>
          <a:bodyPr>
            <a:normAutofit/>
          </a:bodyPr>
          <a:lstStyle/>
          <a:p>
            <a:r>
              <a:rPr lang="es-ES" sz="4000" b="1"/>
              <a:t>GPD Distribution – </a:t>
            </a:r>
            <a:r>
              <a:rPr lang="es-ES" sz="3200"/>
              <a:t>Return Level</a:t>
            </a:r>
            <a:endParaRPr lang="LID4096" sz="3200"/>
          </a:p>
        </p:txBody>
      </p:sp>
      <p:graphicFrame>
        <p:nvGraphicFramePr>
          <p:cNvPr id="9" name="Table 8">
            <a:extLst>
              <a:ext uri="{FF2B5EF4-FFF2-40B4-BE49-F238E27FC236}">
                <a16:creationId xmlns:a16="http://schemas.microsoft.com/office/drawing/2014/main" id="{5715F901-C9FF-593A-464D-4CBFE5FAEDC8}"/>
              </a:ext>
            </a:extLst>
          </p:cNvPr>
          <p:cNvGraphicFramePr>
            <a:graphicFrameLocks noGrp="1"/>
          </p:cNvGraphicFramePr>
          <p:nvPr>
            <p:extLst>
              <p:ext uri="{D42A27DB-BD31-4B8C-83A1-F6EECF244321}">
                <p14:modId xmlns:p14="http://schemas.microsoft.com/office/powerpoint/2010/main" val="2038812563"/>
              </p:ext>
            </p:extLst>
          </p:nvPr>
        </p:nvGraphicFramePr>
        <p:xfrm>
          <a:off x="893182" y="1394601"/>
          <a:ext cx="4991867" cy="2494280"/>
        </p:xfrm>
        <a:graphic>
          <a:graphicData uri="http://schemas.openxmlformats.org/drawingml/2006/table">
            <a:tbl>
              <a:tblPr firstRow="1" bandRow="1">
                <a:tableStyleId>{5940675A-B579-460E-94D1-54222C63F5DA}</a:tableStyleId>
              </a:tblPr>
              <a:tblGrid>
                <a:gridCol w="1391420">
                  <a:extLst>
                    <a:ext uri="{9D8B030D-6E8A-4147-A177-3AD203B41FA5}">
                      <a16:colId xmlns:a16="http://schemas.microsoft.com/office/drawing/2014/main" val="2987130574"/>
                    </a:ext>
                  </a:extLst>
                </a:gridCol>
                <a:gridCol w="1648908">
                  <a:extLst>
                    <a:ext uri="{9D8B030D-6E8A-4147-A177-3AD203B41FA5}">
                      <a16:colId xmlns:a16="http://schemas.microsoft.com/office/drawing/2014/main" val="3897859493"/>
                    </a:ext>
                  </a:extLst>
                </a:gridCol>
                <a:gridCol w="1951539">
                  <a:extLst>
                    <a:ext uri="{9D8B030D-6E8A-4147-A177-3AD203B41FA5}">
                      <a16:colId xmlns:a16="http://schemas.microsoft.com/office/drawing/2014/main" val="1040941871"/>
                    </a:ext>
                  </a:extLst>
                </a:gridCol>
              </a:tblGrid>
              <a:tr h="370840">
                <a:tc gridSpan="3">
                  <a:txBody>
                    <a:bodyPr/>
                    <a:lstStyle/>
                    <a:p>
                      <a:pPr algn="ctr"/>
                      <a:r>
                        <a:rPr lang="es-ES" b="1">
                          <a:solidFill>
                            <a:schemeClr val="tx1"/>
                          </a:solidFill>
                        </a:rPr>
                        <a:t>GPD Return Table</a:t>
                      </a:r>
                      <a:endParaRPr lang="LID4096" b="1">
                        <a:solidFill>
                          <a:schemeClr val="tx1"/>
                        </a:solidFill>
                      </a:endParaRPr>
                    </a:p>
                  </a:txBody>
                  <a:tcPr/>
                </a:tc>
                <a:tc hMerge="1">
                  <a:txBody>
                    <a:bodyPr/>
                    <a:lstStyle/>
                    <a:p>
                      <a:endParaRPr lang="LID4096" b="1">
                        <a:solidFill>
                          <a:schemeClr val="tx1"/>
                        </a:solidFill>
                      </a:endParaRPr>
                    </a:p>
                  </a:txBody>
                  <a:tcPr/>
                </a:tc>
                <a:tc hMerge="1">
                  <a:txBody>
                    <a:bodyPr/>
                    <a:lstStyle/>
                    <a:p>
                      <a:endParaRPr lang="LID4096" b="1">
                        <a:solidFill>
                          <a:schemeClr val="tx1"/>
                        </a:solidFill>
                      </a:endParaRPr>
                    </a:p>
                  </a:txBody>
                  <a:tcPr/>
                </a:tc>
                <a:extLst>
                  <a:ext uri="{0D108BD9-81ED-4DB2-BD59-A6C34878D82A}">
                    <a16:rowId xmlns:a16="http://schemas.microsoft.com/office/drawing/2014/main" val="1998109575"/>
                  </a:ext>
                </a:extLst>
              </a:tr>
              <a:tr h="370840">
                <a:tc>
                  <a:txBody>
                    <a:bodyPr/>
                    <a:lstStyle/>
                    <a:p>
                      <a:r>
                        <a:rPr lang="" sz="1800" b="1" i="0">
                          <a:solidFill>
                            <a:schemeClr val="tx1"/>
                          </a:solidFill>
                          <a:effectLst/>
                          <a:latin typeface="+mn-lt"/>
                        </a:rPr>
                        <a:t>Return Period</a:t>
                      </a:r>
                      <a:endParaRPr lang="LID4096" b="1">
                        <a:solidFill>
                          <a:schemeClr val="tx1"/>
                        </a:solidFill>
                      </a:endParaRPr>
                    </a:p>
                  </a:txBody>
                  <a:tcPr/>
                </a:tc>
                <a:tc>
                  <a:txBody>
                    <a:bodyPr/>
                    <a:lstStyle/>
                    <a:p>
                      <a:r>
                        <a:rPr lang="" sz="1800" b="1" i="0">
                          <a:solidFill>
                            <a:schemeClr val="tx1"/>
                          </a:solidFill>
                          <a:effectLst/>
                          <a:latin typeface="+mn-lt"/>
                        </a:rPr>
                        <a:t>Years</a:t>
                      </a:r>
                      <a:endParaRPr lang="LID4096" b="1">
                        <a:solidFill>
                          <a:schemeClr val="tx1"/>
                        </a:solidFill>
                      </a:endParaRPr>
                    </a:p>
                  </a:txBody>
                  <a:tcPr/>
                </a:tc>
                <a:tc>
                  <a:txBody>
                    <a:bodyPr/>
                    <a:lstStyle/>
                    <a:p>
                      <a:r>
                        <a:rPr lang="" sz="1800" b="1" i="0">
                          <a:solidFill>
                            <a:schemeClr val="tx1"/>
                          </a:solidFill>
                          <a:effectLst/>
                          <a:latin typeface="+mn-lt"/>
                        </a:rPr>
                        <a:t>Return Level</a:t>
                      </a:r>
                      <a:endParaRPr lang="LID4096" b="1">
                        <a:solidFill>
                          <a:schemeClr val="tx1"/>
                        </a:solidFill>
                      </a:endParaRPr>
                    </a:p>
                  </a:txBody>
                  <a:tcPr/>
                </a:tc>
                <a:extLst>
                  <a:ext uri="{0D108BD9-81ED-4DB2-BD59-A6C34878D82A}">
                    <a16:rowId xmlns:a16="http://schemas.microsoft.com/office/drawing/2014/main" val="2952225103"/>
                  </a:ext>
                </a:extLst>
              </a:tr>
              <a:tr h="370840">
                <a:tc>
                  <a:txBody>
                    <a:bodyPr/>
                    <a:lstStyle/>
                    <a:p>
                      <a:r>
                        <a:rPr lang="" sz="1800" b="0">
                          <a:solidFill>
                            <a:schemeClr val="tx1"/>
                          </a:solidFill>
                          <a:effectLst/>
                        </a:rPr>
                        <a:t>1</a:t>
                      </a:r>
                      <a:endParaRPr lang="LID4096"/>
                    </a:p>
                  </a:txBody>
                  <a:tcPr/>
                </a:tc>
                <a:tc>
                  <a:txBody>
                    <a:bodyPr/>
                    <a:lstStyle/>
                    <a:p>
                      <a:r>
                        <a:rPr lang="" sz="1800" b="0" i="0">
                          <a:solidFill>
                            <a:schemeClr val="tx1"/>
                          </a:solidFill>
                          <a:effectLst/>
                          <a:latin typeface="+mn-lt"/>
                        </a:rPr>
                        <a:t>100</a:t>
                      </a:r>
                      <a:endParaRPr lang="LID4096"/>
                    </a:p>
                  </a:txBody>
                  <a:tcPr/>
                </a:tc>
                <a:tc>
                  <a:txBody>
                    <a:bodyPr/>
                    <a:lstStyle/>
                    <a:p>
                      <a:pPr marL="0" marR="0" indent="0" algn="l" latinLnBrk="1">
                        <a:lnSpc>
                          <a:spcPct val="100000"/>
                        </a:lnSpc>
                        <a:buNone/>
                      </a:pPr>
                      <a:r>
                        <a:rPr lang="" sz="1800" b="0" i="0">
                          <a:solidFill>
                            <a:schemeClr val="tx1"/>
                          </a:solidFill>
                          <a:effectLst/>
                          <a:latin typeface="+mn-lt"/>
                        </a:rPr>
                        <a:t>33.53696</a:t>
                      </a:r>
                    </a:p>
                  </a:txBody>
                  <a:tcPr/>
                </a:tc>
                <a:extLst>
                  <a:ext uri="{0D108BD9-81ED-4DB2-BD59-A6C34878D82A}">
                    <a16:rowId xmlns:a16="http://schemas.microsoft.com/office/drawing/2014/main" val="1158127129"/>
                  </a:ext>
                </a:extLst>
              </a:tr>
              <a:tr h="370840">
                <a:tc>
                  <a:txBody>
                    <a:bodyPr/>
                    <a:lstStyle/>
                    <a:p>
                      <a:r>
                        <a:rPr lang="es-ES"/>
                        <a:t>2</a:t>
                      </a:r>
                      <a:endParaRPr lang="LID4096"/>
                    </a:p>
                  </a:txBody>
                  <a:tcPr/>
                </a:tc>
                <a:tc>
                  <a:txBody>
                    <a:bodyPr/>
                    <a:lstStyle/>
                    <a:p>
                      <a:r>
                        <a:rPr lang="es-ES"/>
                        <a:t>200</a:t>
                      </a:r>
                      <a:endParaRPr lang="LID4096"/>
                    </a:p>
                  </a:txBody>
                  <a:tcPr/>
                </a:tc>
                <a:tc>
                  <a:txBody>
                    <a:bodyPr/>
                    <a:lstStyle/>
                    <a:p>
                      <a:pPr marL="0" marR="0" indent="0" algn="l" latinLnBrk="1">
                        <a:lnSpc>
                          <a:spcPct val="100000"/>
                        </a:lnSpc>
                        <a:buNone/>
                      </a:pPr>
                      <a:r>
                        <a:rPr lang="" sz="1800" b="0" i="0">
                          <a:solidFill>
                            <a:schemeClr val="tx1"/>
                          </a:solidFill>
                          <a:effectLst/>
                          <a:latin typeface="+mn-lt"/>
                        </a:rPr>
                        <a:t>34.04176</a:t>
                      </a:r>
                    </a:p>
                  </a:txBody>
                  <a:tcPr/>
                </a:tc>
                <a:extLst>
                  <a:ext uri="{0D108BD9-81ED-4DB2-BD59-A6C34878D82A}">
                    <a16:rowId xmlns:a16="http://schemas.microsoft.com/office/drawing/2014/main" val="1797318505"/>
                  </a:ext>
                </a:extLst>
              </a:tr>
              <a:tr h="370840">
                <a:tc>
                  <a:txBody>
                    <a:bodyPr/>
                    <a:lstStyle/>
                    <a:p>
                      <a:r>
                        <a:rPr lang="es-ES"/>
                        <a:t>3</a:t>
                      </a:r>
                      <a:endParaRPr lang="LID4096"/>
                    </a:p>
                  </a:txBody>
                  <a:tcPr/>
                </a:tc>
                <a:tc>
                  <a:txBody>
                    <a:bodyPr/>
                    <a:lstStyle/>
                    <a:p>
                      <a:r>
                        <a:rPr lang="es-ES"/>
                        <a:t>500</a:t>
                      </a:r>
                      <a:endParaRPr lang="LID4096"/>
                    </a:p>
                  </a:txBody>
                  <a:tcPr/>
                </a:tc>
                <a:tc>
                  <a:txBody>
                    <a:bodyPr/>
                    <a:lstStyle/>
                    <a:p>
                      <a:pPr marL="0" marR="0" indent="0" algn="l" latinLnBrk="1">
                        <a:lnSpc>
                          <a:spcPct val="100000"/>
                        </a:lnSpc>
                        <a:buNone/>
                      </a:pPr>
                      <a:r>
                        <a:rPr lang="" sz="1800" b="0" i="0">
                          <a:solidFill>
                            <a:schemeClr val="tx1"/>
                          </a:solidFill>
                          <a:effectLst/>
                          <a:latin typeface="+mn-lt"/>
                        </a:rPr>
                        <a:t>34.63127</a:t>
                      </a:r>
                    </a:p>
                  </a:txBody>
                  <a:tcPr/>
                </a:tc>
                <a:extLst>
                  <a:ext uri="{0D108BD9-81ED-4DB2-BD59-A6C34878D82A}">
                    <a16:rowId xmlns:a16="http://schemas.microsoft.com/office/drawing/2014/main" val="806201723"/>
                  </a:ext>
                </a:extLst>
              </a:tr>
              <a:tr h="370840">
                <a:tc>
                  <a:txBody>
                    <a:bodyPr/>
                    <a:lstStyle/>
                    <a:p>
                      <a:r>
                        <a:rPr lang="es-ES"/>
                        <a:t>4</a:t>
                      </a:r>
                      <a:endParaRPr lang="LID4096"/>
                    </a:p>
                  </a:txBody>
                  <a:tcPr/>
                </a:tc>
                <a:tc>
                  <a:txBody>
                    <a:bodyPr/>
                    <a:lstStyle/>
                    <a:p>
                      <a:r>
                        <a:rPr lang="es-ES"/>
                        <a:t>1000</a:t>
                      </a:r>
                      <a:endParaRPr lang="LID4096"/>
                    </a:p>
                  </a:txBody>
                  <a:tcPr/>
                </a:tc>
                <a:tc>
                  <a:txBody>
                    <a:bodyPr/>
                    <a:lstStyle/>
                    <a:p>
                      <a:r>
                        <a:rPr lang="" sz="1800" b="0" i="0">
                          <a:solidFill>
                            <a:schemeClr val="tx1"/>
                          </a:solidFill>
                          <a:effectLst/>
                          <a:latin typeface="+mn-lt"/>
                        </a:rPr>
                        <a:t>35.02493</a:t>
                      </a:r>
                      <a:endParaRPr lang="LID4096"/>
                    </a:p>
                  </a:txBody>
                  <a:tcPr/>
                </a:tc>
                <a:extLst>
                  <a:ext uri="{0D108BD9-81ED-4DB2-BD59-A6C34878D82A}">
                    <a16:rowId xmlns:a16="http://schemas.microsoft.com/office/drawing/2014/main" val="1543497924"/>
                  </a:ext>
                </a:extLst>
              </a:tr>
            </a:tbl>
          </a:graphicData>
        </a:graphic>
      </p:graphicFrame>
      <p:pic>
        <p:nvPicPr>
          <p:cNvPr id="11" name="Picture 10">
            <a:extLst>
              <a:ext uri="{FF2B5EF4-FFF2-40B4-BE49-F238E27FC236}">
                <a16:creationId xmlns:a16="http://schemas.microsoft.com/office/drawing/2014/main" id="{F6EF46B7-A85B-55D6-300E-88B487BC4E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6116" y="873636"/>
            <a:ext cx="5365452" cy="4418030"/>
          </a:xfrm>
          <a:prstGeom prst="rect">
            <a:avLst/>
          </a:prstGeom>
        </p:spPr>
      </p:pic>
    </p:spTree>
    <p:extLst>
      <p:ext uri="{BB962C8B-B14F-4D97-AF65-F5344CB8AC3E}">
        <p14:creationId xmlns:p14="http://schemas.microsoft.com/office/powerpoint/2010/main" val="37606262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3439A-60C0-CDC9-D465-B3C3EDAB7B24}"/>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B1319E34-81A2-AC17-F65E-802ACF04EEE1}"/>
              </a:ext>
            </a:extLst>
          </p:cNvPr>
          <p:cNvSpPr>
            <a:spLocks noGrp="1"/>
          </p:cNvSpPr>
          <p:nvPr>
            <p:ph type="title"/>
          </p:nvPr>
        </p:nvSpPr>
        <p:spPr>
          <a:xfrm>
            <a:off x="838201" y="365125"/>
            <a:ext cx="8643078" cy="729157"/>
          </a:xfrm>
        </p:spPr>
        <p:txBody>
          <a:bodyPr>
            <a:normAutofit/>
          </a:bodyPr>
          <a:lstStyle/>
          <a:p>
            <a:r>
              <a:rPr lang="es-ES" sz="4000" b="1"/>
              <a:t>GPD vs GEV – </a:t>
            </a:r>
            <a:r>
              <a:rPr lang="es-ES" sz="3200"/>
              <a:t>Return Level</a:t>
            </a:r>
            <a:endParaRPr lang="LID4096" sz="3200"/>
          </a:p>
        </p:txBody>
      </p:sp>
      <p:graphicFrame>
        <p:nvGraphicFramePr>
          <p:cNvPr id="9" name="Table 8">
            <a:extLst>
              <a:ext uri="{FF2B5EF4-FFF2-40B4-BE49-F238E27FC236}">
                <a16:creationId xmlns:a16="http://schemas.microsoft.com/office/drawing/2014/main" id="{5B5225AF-ECDC-B849-1B93-83BDF93DC40D}"/>
              </a:ext>
            </a:extLst>
          </p:cNvPr>
          <p:cNvGraphicFramePr>
            <a:graphicFrameLocks noGrp="1"/>
          </p:cNvGraphicFramePr>
          <p:nvPr>
            <p:extLst>
              <p:ext uri="{D42A27DB-BD31-4B8C-83A1-F6EECF244321}">
                <p14:modId xmlns:p14="http://schemas.microsoft.com/office/powerpoint/2010/main" val="1023050538"/>
              </p:ext>
            </p:extLst>
          </p:nvPr>
        </p:nvGraphicFramePr>
        <p:xfrm>
          <a:off x="760540" y="1555468"/>
          <a:ext cx="4991866" cy="2494280"/>
        </p:xfrm>
        <a:graphic>
          <a:graphicData uri="http://schemas.openxmlformats.org/drawingml/2006/table">
            <a:tbl>
              <a:tblPr firstRow="1" bandRow="1">
                <a:tableStyleId>{5940675A-B579-460E-94D1-54222C63F5DA}</a:tableStyleId>
              </a:tblPr>
              <a:tblGrid>
                <a:gridCol w="1000342">
                  <a:extLst>
                    <a:ext uri="{9D8B030D-6E8A-4147-A177-3AD203B41FA5}">
                      <a16:colId xmlns:a16="http://schemas.microsoft.com/office/drawing/2014/main" val="2987130574"/>
                    </a:ext>
                  </a:extLst>
                </a:gridCol>
                <a:gridCol w="1185460">
                  <a:extLst>
                    <a:ext uri="{9D8B030D-6E8A-4147-A177-3AD203B41FA5}">
                      <a16:colId xmlns:a16="http://schemas.microsoft.com/office/drawing/2014/main" val="3897859493"/>
                    </a:ext>
                  </a:extLst>
                </a:gridCol>
                <a:gridCol w="1403032">
                  <a:extLst>
                    <a:ext uri="{9D8B030D-6E8A-4147-A177-3AD203B41FA5}">
                      <a16:colId xmlns:a16="http://schemas.microsoft.com/office/drawing/2014/main" val="1040941871"/>
                    </a:ext>
                  </a:extLst>
                </a:gridCol>
                <a:gridCol w="1403032">
                  <a:extLst>
                    <a:ext uri="{9D8B030D-6E8A-4147-A177-3AD203B41FA5}">
                      <a16:colId xmlns:a16="http://schemas.microsoft.com/office/drawing/2014/main" val="2373897659"/>
                    </a:ext>
                  </a:extLst>
                </a:gridCol>
              </a:tblGrid>
              <a:tr h="370840">
                <a:tc gridSpan="4">
                  <a:txBody>
                    <a:bodyPr/>
                    <a:lstStyle/>
                    <a:p>
                      <a:pPr algn="ctr"/>
                      <a:r>
                        <a:rPr lang="es-ES" b="1">
                          <a:solidFill>
                            <a:schemeClr val="tx1"/>
                          </a:solidFill>
                        </a:rPr>
                        <a:t>GPD vs GEC -  Return Level Table</a:t>
                      </a:r>
                      <a:endParaRPr lang="LID4096" b="1">
                        <a:solidFill>
                          <a:schemeClr val="tx1"/>
                        </a:solidFill>
                      </a:endParaRPr>
                    </a:p>
                  </a:txBody>
                  <a:tcPr/>
                </a:tc>
                <a:tc hMerge="1">
                  <a:txBody>
                    <a:bodyPr/>
                    <a:lstStyle/>
                    <a:p>
                      <a:endParaRPr lang="LID4096" b="1">
                        <a:solidFill>
                          <a:schemeClr val="tx1"/>
                        </a:solidFill>
                      </a:endParaRPr>
                    </a:p>
                  </a:txBody>
                  <a:tcPr/>
                </a:tc>
                <a:tc hMerge="1">
                  <a:txBody>
                    <a:bodyPr/>
                    <a:lstStyle/>
                    <a:p>
                      <a:endParaRPr lang="LID4096" b="1">
                        <a:solidFill>
                          <a:schemeClr val="tx1"/>
                        </a:solidFill>
                      </a:endParaRPr>
                    </a:p>
                  </a:txBody>
                  <a:tcPr/>
                </a:tc>
                <a:tc hMerge="1">
                  <a:txBody>
                    <a:bodyPr/>
                    <a:lstStyle/>
                    <a:p>
                      <a:pPr algn="ctr"/>
                      <a:endParaRPr lang="LID4096" b="1">
                        <a:solidFill>
                          <a:schemeClr val="tx1"/>
                        </a:solidFill>
                      </a:endParaRPr>
                    </a:p>
                  </a:txBody>
                  <a:tcPr/>
                </a:tc>
                <a:extLst>
                  <a:ext uri="{0D108BD9-81ED-4DB2-BD59-A6C34878D82A}">
                    <a16:rowId xmlns:a16="http://schemas.microsoft.com/office/drawing/2014/main" val="1998109575"/>
                  </a:ext>
                </a:extLst>
              </a:tr>
              <a:tr h="370840">
                <a:tc>
                  <a:txBody>
                    <a:bodyPr/>
                    <a:lstStyle/>
                    <a:p>
                      <a:r>
                        <a:rPr lang="" sz="1800" b="1" i="0">
                          <a:solidFill>
                            <a:schemeClr val="tx1"/>
                          </a:solidFill>
                          <a:effectLst/>
                          <a:latin typeface="+mn-lt"/>
                        </a:rPr>
                        <a:t>Return Period</a:t>
                      </a:r>
                      <a:endParaRPr lang="LID4096" b="1">
                        <a:solidFill>
                          <a:schemeClr val="tx1"/>
                        </a:solidFill>
                      </a:endParaRPr>
                    </a:p>
                  </a:txBody>
                  <a:tcPr/>
                </a:tc>
                <a:tc>
                  <a:txBody>
                    <a:bodyPr/>
                    <a:lstStyle/>
                    <a:p>
                      <a:r>
                        <a:rPr lang="" sz="1800" b="1" i="0">
                          <a:solidFill>
                            <a:schemeClr val="tx1"/>
                          </a:solidFill>
                          <a:effectLst/>
                          <a:latin typeface="+mn-lt"/>
                        </a:rPr>
                        <a:t>Years</a:t>
                      </a:r>
                      <a:endParaRPr lang="LID4096" b="1">
                        <a:solidFill>
                          <a:schemeClr val="tx1"/>
                        </a:solidFill>
                      </a:endParaRPr>
                    </a:p>
                  </a:txBody>
                  <a:tcPr/>
                </a:tc>
                <a:tc>
                  <a:txBody>
                    <a:bodyPr/>
                    <a:lstStyle/>
                    <a:p>
                      <a:r>
                        <a:rPr lang="" sz="1800" b="1" i="0">
                          <a:solidFill>
                            <a:srgbClr val="002060"/>
                          </a:solidFill>
                          <a:effectLst/>
                          <a:latin typeface="+mn-lt"/>
                        </a:rPr>
                        <a:t>Return Level GPD</a:t>
                      </a:r>
                      <a:endParaRPr lang="LID4096" b="1">
                        <a:solidFill>
                          <a:srgbClr val="00206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 sz="1800" b="1" i="0">
                          <a:solidFill>
                            <a:srgbClr val="C00000"/>
                          </a:solidFill>
                          <a:effectLst/>
                          <a:latin typeface="+mn-lt"/>
                        </a:rPr>
                        <a:t>Return Level GEV</a:t>
                      </a:r>
                      <a:endParaRPr lang="LID4096" b="1">
                        <a:solidFill>
                          <a:srgbClr val="C00000"/>
                        </a:solidFill>
                      </a:endParaRPr>
                    </a:p>
                  </a:txBody>
                  <a:tcPr/>
                </a:tc>
                <a:extLst>
                  <a:ext uri="{0D108BD9-81ED-4DB2-BD59-A6C34878D82A}">
                    <a16:rowId xmlns:a16="http://schemas.microsoft.com/office/drawing/2014/main" val="2952225103"/>
                  </a:ext>
                </a:extLst>
              </a:tr>
              <a:tr h="370840">
                <a:tc>
                  <a:txBody>
                    <a:bodyPr/>
                    <a:lstStyle/>
                    <a:p>
                      <a:r>
                        <a:rPr lang="" sz="1800" b="0">
                          <a:solidFill>
                            <a:schemeClr val="tx1"/>
                          </a:solidFill>
                          <a:effectLst/>
                        </a:rPr>
                        <a:t>1</a:t>
                      </a:r>
                      <a:endParaRPr lang="LID4096"/>
                    </a:p>
                  </a:txBody>
                  <a:tcPr/>
                </a:tc>
                <a:tc>
                  <a:txBody>
                    <a:bodyPr/>
                    <a:lstStyle/>
                    <a:p>
                      <a:r>
                        <a:rPr lang="" sz="1800" b="0" i="0">
                          <a:solidFill>
                            <a:schemeClr val="tx1"/>
                          </a:solidFill>
                          <a:effectLst/>
                          <a:latin typeface="+mn-lt"/>
                        </a:rPr>
                        <a:t>100</a:t>
                      </a:r>
                      <a:endParaRPr lang="LID4096"/>
                    </a:p>
                  </a:txBody>
                  <a:tcPr/>
                </a:tc>
                <a:tc>
                  <a:txBody>
                    <a:bodyPr/>
                    <a:lstStyle/>
                    <a:p>
                      <a:pPr marL="0" marR="0" indent="0" algn="l" latinLnBrk="1">
                        <a:lnSpc>
                          <a:spcPct val="100000"/>
                        </a:lnSpc>
                        <a:buNone/>
                      </a:pPr>
                      <a:r>
                        <a:rPr lang="" sz="1800" b="0" i="0">
                          <a:solidFill>
                            <a:srgbClr val="002060"/>
                          </a:solidFill>
                          <a:effectLst/>
                          <a:latin typeface="+mn-lt"/>
                        </a:rPr>
                        <a:t>33.53696</a:t>
                      </a:r>
                    </a:p>
                  </a:txBody>
                  <a:tcPr/>
                </a:tc>
                <a:tc>
                  <a:txBody>
                    <a:bodyPr/>
                    <a:lstStyle/>
                    <a:p>
                      <a:pPr marL="0" marR="0" indent="0" algn="l" latinLnBrk="1">
                        <a:lnSpc>
                          <a:spcPct val="100000"/>
                        </a:lnSpc>
                        <a:buNone/>
                      </a:pPr>
                      <a:r>
                        <a:rPr lang="" sz="1800" b="0" i="0">
                          <a:solidFill>
                            <a:srgbClr val="C00000"/>
                          </a:solidFill>
                          <a:effectLst/>
                          <a:latin typeface="+mn-lt"/>
                        </a:rPr>
                        <a:t>34.38969</a:t>
                      </a:r>
                    </a:p>
                  </a:txBody>
                  <a:tcPr/>
                </a:tc>
                <a:extLst>
                  <a:ext uri="{0D108BD9-81ED-4DB2-BD59-A6C34878D82A}">
                    <a16:rowId xmlns:a16="http://schemas.microsoft.com/office/drawing/2014/main" val="1158127129"/>
                  </a:ext>
                </a:extLst>
              </a:tr>
              <a:tr h="370840">
                <a:tc>
                  <a:txBody>
                    <a:bodyPr/>
                    <a:lstStyle/>
                    <a:p>
                      <a:r>
                        <a:rPr lang="es-ES"/>
                        <a:t>2</a:t>
                      </a:r>
                      <a:endParaRPr lang="LID4096"/>
                    </a:p>
                  </a:txBody>
                  <a:tcPr/>
                </a:tc>
                <a:tc>
                  <a:txBody>
                    <a:bodyPr/>
                    <a:lstStyle/>
                    <a:p>
                      <a:r>
                        <a:rPr lang="es-ES"/>
                        <a:t>200</a:t>
                      </a:r>
                      <a:endParaRPr lang="LID4096"/>
                    </a:p>
                  </a:txBody>
                  <a:tcPr/>
                </a:tc>
                <a:tc>
                  <a:txBody>
                    <a:bodyPr/>
                    <a:lstStyle/>
                    <a:p>
                      <a:pPr marL="0" marR="0" indent="0" algn="l" latinLnBrk="1">
                        <a:lnSpc>
                          <a:spcPct val="100000"/>
                        </a:lnSpc>
                        <a:buNone/>
                      </a:pPr>
                      <a:r>
                        <a:rPr lang="" sz="1800" b="0" i="0">
                          <a:solidFill>
                            <a:srgbClr val="002060"/>
                          </a:solidFill>
                          <a:effectLst/>
                          <a:latin typeface="+mn-lt"/>
                        </a:rPr>
                        <a:t>34.04176</a:t>
                      </a:r>
                    </a:p>
                  </a:txBody>
                  <a:tcPr/>
                </a:tc>
                <a:tc>
                  <a:txBody>
                    <a:bodyPr/>
                    <a:lstStyle/>
                    <a:p>
                      <a:pPr marL="0" marR="0" indent="0" algn="l" latinLnBrk="1">
                        <a:lnSpc>
                          <a:spcPct val="100000"/>
                        </a:lnSpc>
                        <a:buNone/>
                      </a:pPr>
                      <a:r>
                        <a:rPr lang="" sz="1800" b="0" i="0">
                          <a:solidFill>
                            <a:srgbClr val="C00000"/>
                          </a:solidFill>
                          <a:effectLst/>
                          <a:latin typeface="+mn-lt"/>
                        </a:rPr>
                        <a:t>35.48510</a:t>
                      </a:r>
                    </a:p>
                  </a:txBody>
                  <a:tcPr/>
                </a:tc>
                <a:extLst>
                  <a:ext uri="{0D108BD9-81ED-4DB2-BD59-A6C34878D82A}">
                    <a16:rowId xmlns:a16="http://schemas.microsoft.com/office/drawing/2014/main" val="1797318505"/>
                  </a:ext>
                </a:extLst>
              </a:tr>
              <a:tr h="370840">
                <a:tc>
                  <a:txBody>
                    <a:bodyPr/>
                    <a:lstStyle/>
                    <a:p>
                      <a:r>
                        <a:rPr lang="es-ES"/>
                        <a:t>3</a:t>
                      </a:r>
                      <a:endParaRPr lang="LID4096"/>
                    </a:p>
                  </a:txBody>
                  <a:tcPr/>
                </a:tc>
                <a:tc>
                  <a:txBody>
                    <a:bodyPr/>
                    <a:lstStyle/>
                    <a:p>
                      <a:r>
                        <a:rPr lang="es-ES"/>
                        <a:t>500</a:t>
                      </a:r>
                      <a:endParaRPr lang="LID4096"/>
                    </a:p>
                  </a:txBody>
                  <a:tcPr/>
                </a:tc>
                <a:tc>
                  <a:txBody>
                    <a:bodyPr/>
                    <a:lstStyle/>
                    <a:p>
                      <a:pPr marL="0" marR="0" indent="0" algn="l" latinLnBrk="1">
                        <a:lnSpc>
                          <a:spcPct val="100000"/>
                        </a:lnSpc>
                        <a:buNone/>
                      </a:pPr>
                      <a:r>
                        <a:rPr lang="" sz="1800" b="0" i="0">
                          <a:solidFill>
                            <a:srgbClr val="002060"/>
                          </a:solidFill>
                          <a:effectLst/>
                          <a:latin typeface="+mn-lt"/>
                        </a:rPr>
                        <a:t>34.63127</a:t>
                      </a:r>
                    </a:p>
                  </a:txBody>
                  <a:tcPr/>
                </a:tc>
                <a:tc>
                  <a:txBody>
                    <a:bodyPr/>
                    <a:lstStyle/>
                    <a:p>
                      <a:pPr marL="0" marR="0" indent="0" algn="l" latinLnBrk="1">
                        <a:lnSpc>
                          <a:spcPct val="100000"/>
                        </a:lnSpc>
                        <a:buNone/>
                      </a:pPr>
                      <a:r>
                        <a:rPr lang="" sz="1800" b="0" i="0">
                          <a:solidFill>
                            <a:srgbClr val="C00000"/>
                          </a:solidFill>
                          <a:effectLst/>
                          <a:latin typeface="+mn-lt"/>
                        </a:rPr>
                        <a:t>36.92747</a:t>
                      </a:r>
                    </a:p>
                  </a:txBody>
                  <a:tcPr/>
                </a:tc>
                <a:extLst>
                  <a:ext uri="{0D108BD9-81ED-4DB2-BD59-A6C34878D82A}">
                    <a16:rowId xmlns:a16="http://schemas.microsoft.com/office/drawing/2014/main" val="806201723"/>
                  </a:ext>
                </a:extLst>
              </a:tr>
              <a:tr h="370840">
                <a:tc>
                  <a:txBody>
                    <a:bodyPr/>
                    <a:lstStyle/>
                    <a:p>
                      <a:r>
                        <a:rPr lang="es-ES"/>
                        <a:t>4</a:t>
                      </a:r>
                      <a:endParaRPr lang="LID4096"/>
                    </a:p>
                  </a:txBody>
                  <a:tcPr/>
                </a:tc>
                <a:tc>
                  <a:txBody>
                    <a:bodyPr/>
                    <a:lstStyle/>
                    <a:p>
                      <a:r>
                        <a:rPr lang="es-ES"/>
                        <a:t>1000</a:t>
                      </a:r>
                      <a:endParaRPr lang="LID4096"/>
                    </a:p>
                  </a:txBody>
                  <a:tcPr/>
                </a:tc>
                <a:tc>
                  <a:txBody>
                    <a:bodyPr/>
                    <a:lstStyle/>
                    <a:p>
                      <a:r>
                        <a:rPr lang="" sz="1800" b="0" i="0">
                          <a:solidFill>
                            <a:srgbClr val="002060"/>
                          </a:solidFill>
                          <a:effectLst/>
                          <a:latin typeface="+mn-lt"/>
                        </a:rPr>
                        <a:t>35.02493</a:t>
                      </a:r>
                      <a:endParaRPr lang="LID4096">
                        <a:solidFill>
                          <a:srgbClr val="002060"/>
                        </a:solidFill>
                      </a:endParaRPr>
                    </a:p>
                  </a:txBody>
                  <a:tcPr/>
                </a:tc>
                <a:tc>
                  <a:txBody>
                    <a:bodyPr/>
                    <a:lstStyle/>
                    <a:p>
                      <a:r>
                        <a:rPr lang="" sz="1800" b="0" i="0">
                          <a:solidFill>
                            <a:srgbClr val="C00000"/>
                          </a:solidFill>
                          <a:effectLst/>
                          <a:latin typeface="+mn-lt"/>
                        </a:rPr>
                        <a:t>38.01546</a:t>
                      </a:r>
                      <a:endParaRPr lang="LID4096">
                        <a:solidFill>
                          <a:srgbClr val="C00000"/>
                        </a:solidFill>
                      </a:endParaRPr>
                    </a:p>
                  </a:txBody>
                  <a:tcPr/>
                </a:tc>
                <a:extLst>
                  <a:ext uri="{0D108BD9-81ED-4DB2-BD59-A6C34878D82A}">
                    <a16:rowId xmlns:a16="http://schemas.microsoft.com/office/drawing/2014/main" val="1543497924"/>
                  </a:ext>
                </a:extLst>
              </a:tr>
            </a:tbl>
          </a:graphicData>
        </a:graphic>
      </p:graphicFrame>
      <p:pic>
        <p:nvPicPr>
          <p:cNvPr id="3" name="Picture 2">
            <a:extLst>
              <a:ext uri="{FF2B5EF4-FFF2-40B4-BE49-F238E27FC236}">
                <a16:creationId xmlns:a16="http://schemas.microsoft.com/office/drawing/2014/main" id="{674937EB-FAB6-F5A8-1D4C-D5F028F78F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64264" y="1094282"/>
            <a:ext cx="5094877" cy="4195233"/>
          </a:xfrm>
          <a:prstGeom prst="rect">
            <a:avLst/>
          </a:prstGeom>
        </p:spPr>
      </p:pic>
    </p:spTree>
    <p:extLst>
      <p:ext uri="{BB962C8B-B14F-4D97-AF65-F5344CB8AC3E}">
        <p14:creationId xmlns:p14="http://schemas.microsoft.com/office/powerpoint/2010/main" val="4445878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3C957CC-1487-626A-E376-A45E3AD6392E}"/>
              </a:ext>
            </a:extLst>
          </p:cNvPr>
          <p:cNvSpPr>
            <a:spLocks noGrp="1"/>
          </p:cNvSpPr>
          <p:nvPr>
            <p:ph type="title"/>
          </p:nvPr>
        </p:nvSpPr>
        <p:spPr>
          <a:xfrm>
            <a:off x="838201" y="365125"/>
            <a:ext cx="8643078" cy="729157"/>
          </a:xfrm>
        </p:spPr>
        <p:txBody>
          <a:bodyPr>
            <a:normAutofit fontScale="90000"/>
          </a:bodyPr>
          <a:lstStyle/>
          <a:p>
            <a:r>
              <a:rPr lang="es-ES" sz="4000" b="1"/>
              <a:t>GPD vs GEV – </a:t>
            </a:r>
            <a:r>
              <a:rPr lang="es-ES" sz="3200"/>
              <a:t>Return Level confidence Intervals</a:t>
            </a:r>
            <a:endParaRPr lang="LID4096" sz="3200"/>
          </a:p>
        </p:txBody>
      </p:sp>
      <p:graphicFrame>
        <p:nvGraphicFramePr>
          <p:cNvPr id="8" name="Table 7">
            <a:extLst>
              <a:ext uri="{FF2B5EF4-FFF2-40B4-BE49-F238E27FC236}">
                <a16:creationId xmlns:a16="http://schemas.microsoft.com/office/drawing/2014/main" id="{93AD3126-0F50-5B57-631F-94E9770C5652}"/>
              </a:ext>
            </a:extLst>
          </p:cNvPr>
          <p:cNvGraphicFramePr>
            <a:graphicFrameLocks noGrp="1"/>
          </p:cNvGraphicFramePr>
          <p:nvPr>
            <p:extLst>
              <p:ext uri="{D42A27DB-BD31-4B8C-83A1-F6EECF244321}">
                <p14:modId xmlns:p14="http://schemas.microsoft.com/office/powerpoint/2010/main" val="71623515"/>
              </p:ext>
            </p:extLst>
          </p:nvPr>
        </p:nvGraphicFramePr>
        <p:xfrm>
          <a:off x="760539" y="1555468"/>
          <a:ext cx="10864195" cy="2489905"/>
        </p:xfrm>
        <a:graphic>
          <a:graphicData uri="http://schemas.openxmlformats.org/drawingml/2006/table">
            <a:tbl>
              <a:tblPr firstRow="1" bandRow="1">
                <a:tableStyleId>{5940675A-B579-460E-94D1-54222C63F5DA}</a:tableStyleId>
              </a:tblPr>
              <a:tblGrid>
                <a:gridCol w="1024886">
                  <a:extLst>
                    <a:ext uri="{9D8B030D-6E8A-4147-A177-3AD203B41FA5}">
                      <a16:colId xmlns:a16="http://schemas.microsoft.com/office/drawing/2014/main" val="2987130574"/>
                    </a:ext>
                  </a:extLst>
                </a:gridCol>
                <a:gridCol w="1214549">
                  <a:extLst>
                    <a:ext uri="{9D8B030D-6E8A-4147-A177-3AD203B41FA5}">
                      <a16:colId xmlns:a16="http://schemas.microsoft.com/office/drawing/2014/main" val="3897859493"/>
                    </a:ext>
                  </a:extLst>
                </a:gridCol>
                <a:gridCol w="1437460">
                  <a:extLst>
                    <a:ext uri="{9D8B030D-6E8A-4147-A177-3AD203B41FA5}">
                      <a16:colId xmlns:a16="http://schemas.microsoft.com/office/drawing/2014/main" val="1040941871"/>
                    </a:ext>
                  </a:extLst>
                </a:gridCol>
                <a:gridCol w="1437460">
                  <a:extLst>
                    <a:ext uri="{9D8B030D-6E8A-4147-A177-3AD203B41FA5}">
                      <a16:colId xmlns:a16="http://schemas.microsoft.com/office/drawing/2014/main" val="2373897659"/>
                    </a:ext>
                  </a:extLst>
                </a:gridCol>
                <a:gridCol w="1437460">
                  <a:extLst>
                    <a:ext uri="{9D8B030D-6E8A-4147-A177-3AD203B41FA5}">
                      <a16:colId xmlns:a16="http://schemas.microsoft.com/office/drawing/2014/main" val="1774731559"/>
                    </a:ext>
                  </a:extLst>
                </a:gridCol>
                <a:gridCol w="1437460">
                  <a:extLst>
                    <a:ext uri="{9D8B030D-6E8A-4147-A177-3AD203B41FA5}">
                      <a16:colId xmlns:a16="http://schemas.microsoft.com/office/drawing/2014/main" val="792702295"/>
                    </a:ext>
                  </a:extLst>
                </a:gridCol>
                <a:gridCol w="1437460">
                  <a:extLst>
                    <a:ext uri="{9D8B030D-6E8A-4147-A177-3AD203B41FA5}">
                      <a16:colId xmlns:a16="http://schemas.microsoft.com/office/drawing/2014/main" val="1576709081"/>
                    </a:ext>
                  </a:extLst>
                </a:gridCol>
                <a:gridCol w="1437460">
                  <a:extLst>
                    <a:ext uri="{9D8B030D-6E8A-4147-A177-3AD203B41FA5}">
                      <a16:colId xmlns:a16="http://schemas.microsoft.com/office/drawing/2014/main" val="284271289"/>
                    </a:ext>
                  </a:extLst>
                </a:gridCol>
              </a:tblGrid>
              <a:tr h="366465">
                <a:tc gridSpan="8">
                  <a:txBody>
                    <a:bodyPr/>
                    <a:lstStyle/>
                    <a:p>
                      <a:pPr algn="ctr"/>
                      <a:r>
                        <a:rPr lang="es-ES" b="1">
                          <a:solidFill>
                            <a:schemeClr val="tx1"/>
                          </a:solidFill>
                        </a:rPr>
                        <a:t>GPD vs GEC -  Return Level Table</a:t>
                      </a:r>
                      <a:endParaRPr lang="LID4096" b="1">
                        <a:solidFill>
                          <a:schemeClr val="tx1"/>
                        </a:solidFill>
                      </a:endParaRPr>
                    </a:p>
                  </a:txBody>
                  <a:tcPr/>
                </a:tc>
                <a:tc hMerge="1">
                  <a:txBody>
                    <a:bodyPr/>
                    <a:lstStyle/>
                    <a:p>
                      <a:endParaRPr lang="LID4096" b="1">
                        <a:solidFill>
                          <a:schemeClr val="tx1"/>
                        </a:solidFill>
                      </a:endParaRPr>
                    </a:p>
                  </a:txBody>
                  <a:tcPr/>
                </a:tc>
                <a:tc hMerge="1">
                  <a:txBody>
                    <a:bodyPr/>
                    <a:lstStyle/>
                    <a:p>
                      <a:endParaRPr lang="LID4096" b="1">
                        <a:solidFill>
                          <a:schemeClr val="tx1"/>
                        </a:solidFill>
                      </a:endParaRPr>
                    </a:p>
                  </a:txBody>
                  <a:tcPr/>
                </a:tc>
                <a:tc hMerge="1">
                  <a:txBody>
                    <a:bodyPr/>
                    <a:lstStyle/>
                    <a:p>
                      <a:pPr algn="ctr"/>
                      <a:endParaRPr lang="LID4096" b="1">
                        <a:solidFill>
                          <a:schemeClr val="tx1"/>
                        </a:solidFill>
                      </a:endParaRPr>
                    </a:p>
                  </a:txBody>
                  <a:tcPr/>
                </a:tc>
                <a:tc hMerge="1">
                  <a:txBody>
                    <a:bodyPr/>
                    <a:lstStyle/>
                    <a:p>
                      <a:pPr algn="ctr"/>
                      <a:endParaRPr lang="LID4096" b="1">
                        <a:solidFill>
                          <a:schemeClr val="tx1"/>
                        </a:solidFill>
                      </a:endParaRPr>
                    </a:p>
                  </a:txBody>
                  <a:tcPr/>
                </a:tc>
                <a:tc hMerge="1">
                  <a:txBody>
                    <a:bodyPr/>
                    <a:lstStyle/>
                    <a:p>
                      <a:pPr algn="ctr"/>
                      <a:endParaRPr lang="LID4096" b="1">
                        <a:solidFill>
                          <a:schemeClr val="tx1"/>
                        </a:solidFill>
                      </a:endParaRPr>
                    </a:p>
                  </a:txBody>
                  <a:tcPr/>
                </a:tc>
                <a:tc hMerge="1">
                  <a:txBody>
                    <a:bodyPr/>
                    <a:lstStyle/>
                    <a:p>
                      <a:pPr algn="ctr"/>
                      <a:endParaRPr lang="LID4096" b="1">
                        <a:solidFill>
                          <a:schemeClr val="tx1"/>
                        </a:solidFill>
                      </a:endParaRPr>
                    </a:p>
                  </a:txBody>
                  <a:tcPr/>
                </a:tc>
                <a:tc hMerge="1">
                  <a:txBody>
                    <a:bodyPr/>
                    <a:lstStyle/>
                    <a:p>
                      <a:pPr algn="ctr"/>
                      <a:endParaRPr lang="LID4096" b="1">
                        <a:solidFill>
                          <a:schemeClr val="tx1"/>
                        </a:solidFill>
                      </a:endParaRPr>
                    </a:p>
                  </a:txBody>
                  <a:tcPr/>
                </a:tc>
                <a:extLst>
                  <a:ext uri="{0D108BD9-81ED-4DB2-BD59-A6C34878D82A}">
                    <a16:rowId xmlns:a16="http://schemas.microsoft.com/office/drawing/2014/main" val="1998109575"/>
                  </a:ext>
                </a:extLst>
              </a:tr>
              <a:tr h="370840">
                <a:tc>
                  <a:txBody>
                    <a:bodyPr/>
                    <a:lstStyle/>
                    <a:p>
                      <a:r>
                        <a:rPr lang="" sz="1800" b="1" i="0">
                          <a:solidFill>
                            <a:schemeClr val="tx1"/>
                          </a:solidFill>
                          <a:effectLst/>
                          <a:latin typeface="+mn-lt"/>
                        </a:rPr>
                        <a:t>Return Period</a:t>
                      </a:r>
                      <a:endParaRPr lang="LID4096" b="1">
                        <a:solidFill>
                          <a:schemeClr val="tx1"/>
                        </a:solidFill>
                      </a:endParaRPr>
                    </a:p>
                  </a:txBody>
                  <a:tcPr/>
                </a:tc>
                <a:tc>
                  <a:txBody>
                    <a:bodyPr/>
                    <a:lstStyle/>
                    <a:p>
                      <a:r>
                        <a:rPr lang="" sz="1800" b="1" i="0">
                          <a:solidFill>
                            <a:schemeClr val="tx1"/>
                          </a:solidFill>
                          <a:effectLst/>
                          <a:latin typeface="+mn-lt"/>
                        </a:rPr>
                        <a:t>Years</a:t>
                      </a:r>
                      <a:endParaRPr lang="LID4096" b="1">
                        <a:solidFill>
                          <a:schemeClr val="tx1"/>
                        </a:solidFill>
                      </a:endParaRPr>
                    </a:p>
                  </a:txBody>
                  <a:tcPr/>
                </a:tc>
                <a:tc>
                  <a:txBody>
                    <a:bodyPr/>
                    <a:lstStyle/>
                    <a:p>
                      <a:r>
                        <a:rPr lang="" sz="1800" b="1" i="0">
                          <a:solidFill>
                            <a:srgbClr val="002060"/>
                          </a:solidFill>
                          <a:effectLst/>
                          <a:latin typeface="+mn-lt"/>
                        </a:rPr>
                        <a:t>Return Level GPD</a:t>
                      </a:r>
                      <a:endParaRPr lang="LID4096" b="1">
                        <a:solidFill>
                          <a:srgbClr val="00206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 sz="1800" b="0" i="0">
                          <a:solidFill>
                            <a:srgbClr val="002060"/>
                          </a:solidFill>
                          <a:effectLst/>
                          <a:latin typeface="+mn-lt"/>
                        </a:rPr>
                        <a:t>GPD_Lower_95 </a:t>
                      </a:r>
                      <a:endParaRPr lang="LID4096" b="1">
                        <a:solidFill>
                          <a:srgbClr val="00206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 sz="1800" b="0" i="0">
                          <a:solidFill>
                            <a:srgbClr val="002060"/>
                          </a:solidFill>
                          <a:effectLst/>
                          <a:latin typeface="+mn-lt"/>
                        </a:rPr>
                        <a:t>GPD_Upper_95</a:t>
                      </a:r>
                      <a:endParaRPr lang="LID4096" b="1">
                        <a:solidFill>
                          <a:srgbClr val="00206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 sz="1800" b="1" i="0">
                          <a:solidFill>
                            <a:srgbClr val="C00000"/>
                          </a:solidFill>
                          <a:effectLst/>
                          <a:latin typeface="+mn-lt"/>
                        </a:rPr>
                        <a:t>Return Level GEV</a:t>
                      </a:r>
                      <a:endParaRPr lang="LID4096" b="1">
                        <a:solidFill>
                          <a:srgbClr val="C0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 sz="1800" b="0" i="0">
                          <a:solidFill>
                            <a:srgbClr val="C00000"/>
                          </a:solidFill>
                          <a:effectLst/>
                          <a:latin typeface="+mn-lt"/>
                        </a:rPr>
                        <a:t>GEV_Lower_95 </a:t>
                      </a:r>
                      <a:endParaRPr lang="LID4096" b="1">
                        <a:solidFill>
                          <a:srgbClr val="C0000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 sz="1800" b="0" i="0">
                          <a:solidFill>
                            <a:srgbClr val="C00000"/>
                          </a:solidFill>
                          <a:effectLst/>
                          <a:latin typeface="+mn-lt"/>
                        </a:rPr>
                        <a:t>GEV_Upper_95 </a:t>
                      </a:r>
                      <a:endParaRPr lang="LID4096" b="1">
                        <a:solidFill>
                          <a:srgbClr val="C00000"/>
                        </a:solidFill>
                      </a:endParaRPr>
                    </a:p>
                  </a:txBody>
                  <a:tcPr/>
                </a:tc>
                <a:extLst>
                  <a:ext uri="{0D108BD9-81ED-4DB2-BD59-A6C34878D82A}">
                    <a16:rowId xmlns:a16="http://schemas.microsoft.com/office/drawing/2014/main" val="2952225103"/>
                  </a:ext>
                </a:extLst>
              </a:tr>
              <a:tr h="370840">
                <a:tc>
                  <a:txBody>
                    <a:bodyPr/>
                    <a:lstStyle/>
                    <a:p>
                      <a:r>
                        <a:rPr lang="" sz="1800" b="0">
                          <a:solidFill>
                            <a:schemeClr val="tx1"/>
                          </a:solidFill>
                          <a:effectLst/>
                        </a:rPr>
                        <a:t>1</a:t>
                      </a:r>
                      <a:endParaRPr lang="LID4096"/>
                    </a:p>
                  </a:txBody>
                  <a:tcPr/>
                </a:tc>
                <a:tc>
                  <a:txBody>
                    <a:bodyPr/>
                    <a:lstStyle/>
                    <a:p>
                      <a:r>
                        <a:rPr lang="" sz="1800" b="0" i="0">
                          <a:solidFill>
                            <a:schemeClr val="tx1"/>
                          </a:solidFill>
                          <a:effectLst/>
                          <a:latin typeface="+mn-lt"/>
                        </a:rPr>
                        <a:t>100</a:t>
                      </a:r>
                      <a:endParaRPr lang="LID4096"/>
                    </a:p>
                  </a:txBody>
                  <a:tcPr/>
                </a:tc>
                <a:tc>
                  <a:txBody>
                    <a:bodyPr/>
                    <a:lstStyle/>
                    <a:p>
                      <a:pPr marL="0" marR="0" indent="0" algn="l" latinLnBrk="1">
                        <a:lnSpc>
                          <a:spcPct val="100000"/>
                        </a:lnSpc>
                        <a:buNone/>
                      </a:pPr>
                      <a:r>
                        <a:rPr lang="" sz="1800" b="1" i="0">
                          <a:solidFill>
                            <a:srgbClr val="002060"/>
                          </a:solidFill>
                          <a:effectLst/>
                          <a:latin typeface="+mn-lt"/>
                        </a:rPr>
                        <a:t>33.53696</a:t>
                      </a:r>
                    </a:p>
                  </a:txBody>
                  <a:tcPr/>
                </a:tc>
                <a:tc>
                  <a:txBody>
                    <a:bodyPr/>
                    <a:lstStyle/>
                    <a:p>
                      <a:pPr marL="0" marR="0" indent="0" algn="l" latinLnBrk="1">
                        <a:lnSpc>
                          <a:spcPct val="100000"/>
                        </a:lnSpc>
                        <a:buNone/>
                      </a:pPr>
                      <a:r>
                        <a:rPr lang="" sz="1800" b="0" i="0">
                          <a:solidFill>
                            <a:srgbClr val="002060"/>
                          </a:solidFill>
                          <a:effectLst/>
                          <a:latin typeface="+mn-lt"/>
                        </a:rPr>
                        <a:t>31.95660</a:t>
                      </a:r>
                    </a:p>
                  </a:txBody>
                  <a:tcPr/>
                </a:tc>
                <a:tc>
                  <a:txBody>
                    <a:bodyPr/>
                    <a:lstStyle/>
                    <a:p>
                      <a:pPr marL="0" marR="0" indent="0" algn="l" latinLnBrk="1">
                        <a:lnSpc>
                          <a:spcPct val="100000"/>
                        </a:lnSpc>
                        <a:buNone/>
                      </a:pPr>
                      <a:r>
                        <a:rPr lang="" sz="1800" b="0" i="0">
                          <a:solidFill>
                            <a:srgbClr val="002060"/>
                          </a:solidFill>
                          <a:effectLst/>
                          <a:latin typeface="+mn-lt"/>
                        </a:rPr>
                        <a:t>35.51283</a:t>
                      </a:r>
                    </a:p>
                  </a:txBody>
                  <a:tcPr/>
                </a:tc>
                <a:tc>
                  <a:txBody>
                    <a:bodyPr/>
                    <a:lstStyle/>
                    <a:p>
                      <a:pPr marL="0" marR="0" indent="0" algn="l" latinLnBrk="1">
                        <a:lnSpc>
                          <a:spcPct val="100000"/>
                        </a:lnSpc>
                        <a:buNone/>
                      </a:pPr>
                      <a:r>
                        <a:rPr lang="" sz="1800" b="1" i="0">
                          <a:solidFill>
                            <a:srgbClr val="C00000"/>
                          </a:solidFill>
                          <a:effectLst/>
                          <a:latin typeface="+mn-lt"/>
                        </a:rPr>
                        <a:t>34.38969</a:t>
                      </a:r>
                    </a:p>
                  </a:txBody>
                  <a:tcPr/>
                </a:tc>
                <a:tc>
                  <a:txBody>
                    <a:bodyPr/>
                    <a:lstStyle/>
                    <a:p>
                      <a:pPr marL="0" marR="0" indent="0" algn="l" latinLnBrk="1">
                        <a:lnSpc>
                          <a:spcPct val="100000"/>
                        </a:lnSpc>
                        <a:buNone/>
                      </a:pPr>
                      <a:r>
                        <a:rPr lang="" sz="1800" b="0" i="0">
                          <a:solidFill>
                            <a:srgbClr val="C00000"/>
                          </a:solidFill>
                          <a:effectLst/>
                          <a:latin typeface="+mn-lt"/>
                        </a:rPr>
                        <a:t>30.89597</a:t>
                      </a:r>
                    </a:p>
                  </a:txBody>
                  <a:tcPr/>
                </a:tc>
                <a:tc>
                  <a:txBody>
                    <a:bodyPr/>
                    <a:lstStyle/>
                    <a:p>
                      <a:pPr marL="0" marR="0" indent="0" algn="l" latinLnBrk="1">
                        <a:lnSpc>
                          <a:spcPct val="100000"/>
                        </a:lnSpc>
                        <a:buNone/>
                      </a:pPr>
                      <a:r>
                        <a:rPr lang="" sz="1800" b="0" i="0">
                          <a:solidFill>
                            <a:srgbClr val="C00000"/>
                          </a:solidFill>
                          <a:effectLst/>
                          <a:latin typeface="+mn-lt"/>
                        </a:rPr>
                        <a:t>42.78209</a:t>
                      </a:r>
                    </a:p>
                  </a:txBody>
                  <a:tcPr/>
                </a:tc>
                <a:extLst>
                  <a:ext uri="{0D108BD9-81ED-4DB2-BD59-A6C34878D82A}">
                    <a16:rowId xmlns:a16="http://schemas.microsoft.com/office/drawing/2014/main" val="1158127129"/>
                  </a:ext>
                </a:extLst>
              </a:tr>
              <a:tr h="370840">
                <a:tc>
                  <a:txBody>
                    <a:bodyPr/>
                    <a:lstStyle/>
                    <a:p>
                      <a:r>
                        <a:rPr lang="es-ES"/>
                        <a:t>2</a:t>
                      </a:r>
                      <a:endParaRPr lang="LID4096"/>
                    </a:p>
                  </a:txBody>
                  <a:tcPr/>
                </a:tc>
                <a:tc>
                  <a:txBody>
                    <a:bodyPr/>
                    <a:lstStyle/>
                    <a:p>
                      <a:r>
                        <a:rPr lang="es-ES"/>
                        <a:t>200</a:t>
                      </a:r>
                      <a:endParaRPr lang="LID4096"/>
                    </a:p>
                  </a:txBody>
                  <a:tcPr/>
                </a:tc>
                <a:tc>
                  <a:txBody>
                    <a:bodyPr/>
                    <a:lstStyle/>
                    <a:p>
                      <a:pPr marL="0" marR="0" indent="0" algn="l" latinLnBrk="1">
                        <a:lnSpc>
                          <a:spcPct val="100000"/>
                        </a:lnSpc>
                        <a:buNone/>
                      </a:pPr>
                      <a:r>
                        <a:rPr lang="" sz="1800" b="1" i="0">
                          <a:solidFill>
                            <a:srgbClr val="002060"/>
                          </a:solidFill>
                          <a:effectLst/>
                          <a:latin typeface="+mn-lt"/>
                        </a:rPr>
                        <a:t>34.04176</a:t>
                      </a:r>
                    </a:p>
                  </a:txBody>
                  <a:tcPr/>
                </a:tc>
                <a:tc>
                  <a:txBody>
                    <a:bodyPr/>
                    <a:lstStyle/>
                    <a:p>
                      <a:pPr marL="0" marR="0" indent="0" algn="l" latinLnBrk="1">
                        <a:lnSpc>
                          <a:spcPct val="100000"/>
                        </a:lnSpc>
                        <a:buNone/>
                      </a:pPr>
                      <a:r>
                        <a:rPr lang="" sz="1800" b="0" i="0">
                          <a:solidFill>
                            <a:srgbClr val="002060"/>
                          </a:solidFill>
                          <a:effectLst/>
                          <a:latin typeface="+mn-lt"/>
                        </a:rPr>
                        <a:t>32.26095</a:t>
                      </a:r>
                    </a:p>
                  </a:txBody>
                  <a:tcPr/>
                </a:tc>
                <a:tc>
                  <a:txBody>
                    <a:bodyPr/>
                    <a:lstStyle/>
                    <a:p>
                      <a:pPr marL="0" marR="0" indent="0" algn="l" latinLnBrk="1">
                        <a:lnSpc>
                          <a:spcPct val="100000"/>
                        </a:lnSpc>
                        <a:buNone/>
                      </a:pPr>
                      <a:r>
                        <a:rPr lang="" sz="1800" b="0" i="0">
                          <a:solidFill>
                            <a:srgbClr val="002060"/>
                          </a:solidFill>
                          <a:effectLst/>
                          <a:latin typeface="+mn-lt"/>
                        </a:rPr>
                        <a:t>36.34102</a:t>
                      </a:r>
                    </a:p>
                  </a:txBody>
                  <a:tcPr/>
                </a:tc>
                <a:tc>
                  <a:txBody>
                    <a:bodyPr/>
                    <a:lstStyle/>
                    <a:p>
                      <a:pPr marL="0" marR="0" indent="0" algn="l" latinLnBrk="1">
                        <a:lnSpc>
                          <a:spcPct val="100000"/>
                        </a:lnSpc>
                        <a:buNone/>
                      </a:pPr>
                      <a:r>
                        <a:rPr lang="" sz="1800" b="1" i="0">
                          <a:solidFill>
                            <a:srgbClr val="C00000"/>
                          </a:solidFill>
                          <a:effectLst/>
                          <a:latin typeface="+mn-lt"/>
                        </a:rPr>
                        <a:t>35.48510</a:t>
                      </a:r>
                    </a:p>
                  </a:txBody>
                  <a:tcPr/>
                </a:tc>
                <a:tc>
                  <a:txBody>
                    <a:bodyPr/>
                    <a:lstStyle/>
                    <a:p>
                      <a:pPr marL="0" marR="0" indent="0" algn="l" latinLnBrk="1">
                        <a:lnSpc>
                          <a:spcPct val="100000"/>
                        </a:lnSpc>
                        <a:buNone/>
                      </a:pPr>
                      <a:r>
                        <a:rPr lang="" sz="1800" b="0" i="0">
                          <a:solidFill>
                            <a:srgbClr val="C00000"/>
                          </a:solidFill>
                          <a:effectLst/>
                          <a:latin typeface="+mn-lt"/>
                        </a:rPr>
                        <a:t>31.19154</a:t>
                      </a:r>
                    </a:p>
                  </a:txBody>
                  <a:tcPr/>
                </a:tc>
                <a:tc>
                  <a:txBody>
                    <a:bodyPr/>
                    <a:lstStyle/>
                    <a:p>
                      <a:pPr marL="0" marR="0" indent="0" algn="l" latinLnBrk="1">
                        <a:lnSpc>
                          <a:spcPct val="100000"/>
                        </a:lnSpc>
                        <a:buNone/>
                      </a:pPr>
                      <a:r>
                        <a:rPr lang="" sz="1800" b="0" i="0">
                          <a:solidFill>
                            <a:srgbClr val="C00000"/>
                          </a:solidFill>
                          <a:effectLst/>
                          <a:latin typeface="+mn-lt"/>
                        </a:rPr>
                        <a:t>47.68846</a:t>
                      </a:r>
                    </a:p>
                  </a:txBody>
                  <a:tcPr/>
                </a:tc>
                <a:extLst>
                  <a:ext uri="{0D108BD9-81ED-4DB2-BD59-A6C34878D82A}">
                    <a16:rowId xmlns:a16="http://schemas.microsoft.com/office/drawing/2014/main" val="1797318505"/>
                  </a:ext>
                </a:extLst>
              </a:tr>
              <a:tr h="370840">
                <a:tc>
                  <a:txBody>
                    <a:bodyPr/>
                    <a:lstStyle/>
                    <a:p>
                      <a:r>
                        <a:rPr lang="es-ES"/>
                        <a:t>3</a:t>
                      </a:r>
                      <a:endParaRPr lang="LID4096"/>
                    </a:p>
                  </a:txBody>
                  <a:tcPr/>
                </a:tc>
                <a:tc>
                  <a:txBody>
                    <a:bodyPr/>
                    <a:lstStyle/>
                    <a:p>
                      <a:r>
                        <a:rPr lang="es-ES"/>
                        <a:t>500</a:t>
                      </a:r>
                      <a:endParaRPr lang="LID4096"/>
                    </a:p>
                  </a:txBody>
                  <a:tcPr/>
                </a:tc>
                <a:tc>
                  <a:txBody>
                    <a:bodyPr/>
                    <a:lstStyle/>
                    <a:p>
                      <a:pPr marL="0" marR="0" indent="0" algn="l" latinLnBrk="1">
                        <a:lnSpc>
                          <a:spcPct val="100000"/>
                        </a:lnSpc>
                        <a:buNone/>
                      </a:pPr>
                      <a:r>
                        <a:rPr lang="" sz="1800" b="1" i="0">
                          <a:solidFill>
                            <a:srgbClr val="002060"/>
                          </a:solidFill>
                          <a:effectLst/>
                          <a:latin typeface="+mn-lt"/>
                        </a:rPr>
                        <a:t>34.63127</a:t>
                      </a:r>
                    </a:p>
                  </a:txBody>
                  <a:tcPr/>
                </a:tc>
                <a:tc>
                  <a:txBody>
                    <a:bodyPr/>
                    <a:lstStyle/>
                    <a:p>
                      <a:pPr marL="0" marR="0" indent="0" algn="l" latinLnBrk="1">
                        <a:lnSpc>
                          <a:spcPct val="100000"/>
                        </a:lnSpc>
                        <a:buNone/>
                      </a:pPr>
                      <a:r>
                        <a:rPr lang="" sz="1800" b="0" i="0">
                          <a:solidFill>
                            <a:srgbClr val="002060"/>
                          </a:solidFill>
                          <a:effectLst/>
                          <a:latin typeface="+mn-lt"/>
                        </a:rPr>
                        <a:t>32.60006</a:t>
                      </a:r>
                    </a:p>
                  </a:txBody>
                  <a:tcPr/>
                </a:tc>
                <a:tc>
                  <a:txBody>
                    <a:bodyPr/>
                    <a:lstStyle/>
                    <a:p>
                      <a:pPr marL="0" marR="0" indent="0" algn="l" latinLnBrk="1">
                        <a:lnSpc>
                          <a:spcPct val="100000"/>
                        </a:lnSpc>
                        <a:buNone/>
                      </a:pPr>
                      <a:r>
                        <a:rPr lang="" sz="1800" b="0" i="0">
                          <a:solidFill>
                            <a:srgbClr val="002060"/>
                          </a:solidFill>
                          <a:effectLst/>
                          <a:latin typeface="+mn-lt"/>
                        </a:rPr>
                        <a:t>37.36665</a:t>
                      </a:r>
                    </a:p>
                  </a:txBody>
                  <a:tcPr/>
                </a:tc>
                <a:tc>
                  <a:txBody>
                    <a:bodyPr/>
                    <a:lstStyle/>
                    <a:p>
                      <a:pPr marL="0" marR="0" indent="0" algn="l" latinLnBrk="1">
                        <a:lnSpc>
                          <a:spcPct val="100000"/>
                        </a:lnSpc>
                        <a:buNone/>
                      </a:pPr>
                      <a:r>
                        <a:rPr lang="" sz="1800" b="1" i="0">
                          <a:solidFill>
                            <a:srgbClr val="C00000"/>
                          </a:solidFill>
                          <a:effectLst/>
                          <a:latin typeface="+mn-lt"/>
                        </a:rPr>
                        <a:t>36.92747</a:t>
                      </a:r>
                    </a:p>
                  </a:txBody>
                  <a:tcPr/>
                </a:tc>
                <a:tc>
                  <a:txBody>
                    <a:bodyPr/>
                    <a:lstStyle/>
                    <a:p>
                      <a:pPr marL="0" marR="0" indent="0" algn="l" latinLnBrk="1">
                        <a:lnSpc>
                          <a:spcPct val="100000"/>
                        </a:lnSpc>
                        <a:buNone/>
                      </a:pPr>
                      <a:r>
                        <a:rPr lang="" sz="1800" b="0" i="0">
                          <a:solidFill>
                            <a:srgbClr val="C00000"/>
                          </a:solidFill>
                          <a:effectLst/>
                          <a:latin typeface="+mn-lt"/>
                        </a:rPr>
                        <a:t>31.48480</a:t>
                      </a:r>
                    </a:p>
                  </a:txBody>
                  <a:tcPr/>
                </a:tc>
                <a:tc>
                  <a:txBody>
                    <a:bodyPr/>
                    <a:lstStyle/>
                    <a:p>
                      <a:pPr marL="0" marR="0" indent="0" algn="l" latinLnBrk="1">
                        <a:lnSpc>
                          <a:spcPct val="100000"/>
                        </a:lnSpc>
                        <a:buNone/>
                      </a:pPr>
                      <a:r>
                        <a:rPr lang="" sz="1800" b="0" i="0">
                          <a:solidFill>
                            <a:srgbClr val="C00000"/>
                          </a:solidFill>
                          <a:effectLst/>
                          <a:latin typeface="+mn-lt"/>
                        </a:rPr>
                        <a:t>56.48000</a:t>
                      </a:r>
                    </a:p>
                  </a:txBody>
                  <a:tcPr/>
                </a:tc>
                <a:extLst>
                  <a:ext uri="{0D108BD9-81ED-4DB2-BD59-A6C34878D82A}">
                    <a16:rowId xmlns:a16="http://schemas.microsoft.com/office/drawing/2014/main" val="806201723"/>
                  </a:ext>
                </a:extLst>
              </a:tr>
              <a:tr h="370840">
                <a:tc>
                  <a:txBody>
                    <a:bodyPr/>
                    <a:lstStyle/>
                    <a:p>
                      <a:r>
                        <a:rPr lang="es-ES"/>
                        <a:t>4</a:t>
                      </a:r>
                      <a:endParaRPr lang="LID4096"/>
                    </a:p>
                  </a:txBody>
                  <a:tcPr/>
                </a:tc>
                <a:tc>
                  <a:txBody>
                    <a:bodyPr/>
                    <a:lstStyle/>
                    <a:p>
                      <a:r>
                        <a:rPr lang="es-ES"/>
                        <a:t>1000</a:t>
                      </a:r>
                      <a:endParaRPr lang="LID4096"/>
                    </a:p>
                  </a:txBody>
                  <a:tcPr/>
                </a:tc>
                <a:tc>
                  <a:txBody>
                    <a:bodyPr/>
                    <a:lstStyle/>
                    <a:p>
                      <a:r>
                        <a:rPr lang="" sz="1800" b="1" i="0">
                          <a:solidFill>
                            <a:srgbClr val="002060"/>
                          </a:solidFill>
                          <a:effectLst/>
                          <a:latin typeface="+mn-lt"/>
                        </a:rPr>
                        <a:t>35.02493</a:t>
                      </a:r>
                      <a:endParaRPr lang="LID4096" b="1">
                        <a:solidFill>
                          <a:srgbClr val="002060"/>
                        </a:solidFill>
                      </a:endParaRPr>
                    </a:p>
                  </a:txBody>
                  <a:tcPr/>
                </a:tc>
                <a:tc>
                  <a:txBody>
                    <a:bodyPr/>
                    <a:lstStyle/>
                    <a:p>
                      <a:r>
                        <a:rPr lang="" sz="1800" b="0" i="0">
                          <a:solidFill>
                            <a:srgbClr val="002060"/>
                          </a:solidFill>
                          <a:effectLst/>
                          <a:latin typeface="+mn-lt"/>
                        </a:rPr>
                        <a:t>32.80629</a:t>
                      </a:r>
                      <a:endParaRPr lang="LID4096">
                        <a:solidFill>
                          <a:srgbClr val="002060"/>
                        </a:solidFill>
                      </a:endParaRPr>
                    </a:p>
                  </a:txBody>
                  <a:tcPr/>
                </a:tc>
                <a:tc>
                  <a:txBody>
                    <a:bodyPr/>
                    <a:lstStyle/>
                    <a:p>
                      <a:r>
                        <a:rPr lang="" sz="1800" b="0" i="0">
                          <a:solidFill>
                            <a:srgbClr val="002060"/>
                          </a:solidFill>
                          <a:effectLst/>
                          <a:latin typeface="+mn-lt"/>
                        </a:rPr>
                        <a:t>38.10197</a:t>
                      </a:r>
                      <a:endParaRPr lang="LID4096">
                        <a:solidFill>
                          <a:srgbClr val="002060"/>
                        </a:solidFill>
                      </a:endParaRPr>
                    </a:p>
                  </a:txBody>
                  <a:tcPr/>
                </a:tc>
                <a:tc>
                  <a:txBody>
                    <a:bodyPr/>
                    <a:lstStyle/>
                    <a:p>
                      <a:r>
                        <a:rPr lang="" sz="1800" b="1" i="0">
                          <a:solidFill>
                            <a:srgbClr val="C00000"/>
                          </a:solidFill>
                          <a:effectLst/>
                          <a:latin typeface="+mn-lt"/>
                        </a:rPr>
                        <a:t>38.01546</a:t>
                      </a:r>
                      <a:endParaRPr lang="LID4096" b="1">
                        <a:solidFill>
                          <a:srgbClr val="C00000"/>
                        </a:solidFill>
                      </a:endParaRPr>
                    </a:p>
                  </a:txBody>
                  <a:tcPr/>
                </a:tc>
                <a:tc>
                  <a:txBody>
                    <a:bodyPr/>
                    <a:lstStyle/>
                    <a:p>
                      <a:r>
                        <a:rPr lang="" sz="1800" b="0" i="0">
                          <a:solidFill>
                            <a:srgbClr val="C00000"/>
                          </a:solidFill>
                          <a:effectLst/>
                          <a:latin typeface="+mn-lt"/>
                        </a:rPr>
                        <a:t>31.66666</a:t>
                      </a:r>
                      <a:endParaRPr lang="LID4096">
                        <a:solidFill>
                          <a:srgbClr val="C00000"/>
                        </a:solidFill>
                      </a:endParaRPr>
                    </a:p>
                  </a:txBody>
                  <a:tcPr/>
                </a:tc>
                <a:tc>
                  <a:txBody>
                    <a:bodyPr/>
                    <a:lstStyle/>
                    <a:p>
                      <a:r>
                        <a:rPr lang="" sz="1800" b="0" i="0">
                          <a:solidFill>
                            <a:srgbClr val="C00000"/>
                          </a:solidFill>
                          <a:effectLst/>
                          <a:latin typeface="+mn-lt"/>
                        </a:rPr>
                        <a:t>64.96347</a:t>
                      </a:r>
                      <a:endParaRPr lang="LID4096">
                        <a:solidFill>
                          <a:srgbClr val="C00000"/>
                        </a:solidFill>
                      </a:endParaRPr>
                    </a:p>
                  </a:txBody>
                  <a:tcPr/>
                </a:tc>
                <a:extLst>
                  <a:ext uri="{0D108BD9-81ED-4DB2-BD59-A6C34878D82A}">
                    <a16:rowId xmlns:a16="http://schemas.microsoft.com/office/drawing/2014/main" val="1543497924"/>
                  </a:ext>
                </a:extLst>
              </a:tr>
            </a:tbl>
          </a:graphicData>
        </a:graphic>
      </p:graphicFrame>
    </p:spTree>
    <p:extLst>
      <p:ext uri="{BB962C8B-B14F-4D97-AF65-F5344CB8AC3E}">
        <p14:creationId xmlns:p14="http://schemas.microsoft.com/office/powerpoint/2010/main" val="14875042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F6A08-EF41-EB38-D437-1B56295C85E0}"/>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8D92C994-CC26-D794-A298-0E31D369389B}"/>
              </a:ext>
            </a:extLst>
          </p:cNvPr>
          <p:cNvSpPr>
            <a:spLocks noGrp="1"/>
          </p:cNvSpPr>
          <p:nvPr>
            <p:ph type="title"/>
          </p:nvPr>
        </p:nvSpPr>
        <p:spPr>
          <a:xfrm>
            <a:off x="838201" y="365125"/>
            <a:ext cx="8643078" cy="729157"/>
          </a:xfrm>
        </p:spPr>
        <p:txBody>
          <a:bodyPr>
            <a:normAutofit fontScale="90000"/>
          </a:bodyPr>
          <a:lstStyle/>
          <a:p>
            <a:r>
              <a:rPr lang="es-ES" sz="4000" b="1"/>
              <a:t>GPD vs GEV – </a:t>
            </a:r>
            <a:r>
              <a:rPr lang="es-ES" sz="3200"/>
              <a:t>Return Level confidence Intervals</a:t>
            </a:r>
            <a:endParaRPr lang="LID4096" sz="3200"/>
          </a:p>
        </p:txBody>
      </p:sp>
      <p:pic>
        <p:nvPicPr>
          <p:cNvPr id="3" name="Picture 2">
            <a:extLst>
              <a:ext uri="{FF2B5EF4-FFF2-40B4-BE49-F238E27FC236}">
                <a16:creationId xmlns:a16="http://schemas.microsoft.com/office/drawing/2014/main" id="{5690FBA6-6955-2631-071B-71E3F16EBB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1" y="1193799"/>
            <a:ext cx="6841066" cy="5633083"/>
          </a:xfrm>
          <a:prstGeom prst="rect">
            <a:avLst/>
          </a:prstGeom>
        </p:spPr>
      </p:pic>
      <p:sp>
        <p:nvSpPr>
          <p:cNvPr id="4" name="TextBox 3">
            <a:extLst>
              <a:ext uri="{FF2B5EF4-FFF2-40B4-BE49-F238E27FC236}">
                <a16:creationId xmlns:a16="http://schemas.microsoft.com/office/drawing/2014/main" id="{F6181A3F-3D6A-D2AC-8408-9F5F54827117}"/>
              </a:ext>
            </a:extLst>
          </p:cNvPr>
          <p:cNvSpPr txBox="1"/>
          <p:nvPr/>
        </p:nvSpPr>
        <p:spPr>
          <a:xfrm>
            <a:off x="7835900" y="1962150"/>
            <a:ext cx="3517899" cy="369332"/>
          </a:xfrm>
          <a:prstGeom prst="rect">
            <a:avLst/>
          </a:prstGeom>
          <a:noFill/>
        </p:spPr>
        <p:txBody>
          <a:bodyPr wrap="square" rtlCol="0">
            <a:spAutoFit/>
          </a:bodyPr>
          <a:lstStyle/>
          <a:p>
            <a:r>
              <a:rPr lang="es-ES"/>
              <a:t>Overlapping Confidence Intervals</a:t>
            </a:r>
            <a:endParaRPr lang="LID4096"/>
          </a:p>
        </p:txBody>
      </p:sp>
      <p:sp>
        <p:nvSpPr>
          <p:cNvPr id="7" name="TextBox 6">
            <a:extLst>
              <a:ext uri="{FF2B5EF4-FFF2-40B4-BE49-F238E27FC236}">
                <a16:creationId xmlns:a16="http://schemas.microsoft.com/office/drawing/2014/main" id="{B27D1DE6-B0F0-0A16-5E6C-9A16A0023495}"/>
              </a:ext>
            </a:extLst>
          </p:cNvPr>
          <p:cNvSpPr txBox="1"/>
          <p:nvPr/>
        </p:nvSpPr>
        <p:spPr>
          <a:xfrm>
            <a:off x="7886700" y="2856178"/>
            <a:ext cx="3994150" cy="2308324"/>
          </a:xfrm>
          <a:prstGeom prst="rect">
            <a:avLst/>
          </a:prstGeom>
          <a:noFill/>
        </p:spPr>
        <p:txBody>
          <a:bodyPr wrap="square">
            <a:spAutoFit/>
          </a:bodyPr>
          <a:lstStyle/>
          <a:p>
            <a:pPr fontAlgn="t">
              <a:lnSpc>
                <a:spcPct val="100000"/>
              </a:lnSpc>
              <a:buNone/>
            </a:pPr>
            <a:r>
              <a:rPr lang="" sz="1800" b="0" i="0">
                <a:effectLst/>
                <a:latin typeface="+mn-lt"/>
              </a:rPr>
              <a:t>Uncertainty becomes very large for long return periods.</a:t>
            </a:r>
          </a:p>
          <a:p>
            <a:pPr fontAlgn="t">
              <a:lnSpc>
                <a:spcPct val="100000"/>
              </a:lnSpc>
              <a:buNone/>
            </a:pPr>
            <a:endParaRPr lang=""/>
          </a:p>
          <a:p>
            <a:pPr fontAlgn="t">
              <a:lnSpc>
                <a:spcPct val="100000"/>
              </a:lnSpc>
              <a:buNone/>
            </a:pPr>
            <a:endParaRPr lang="" sz="1800" b="0" i="0">
              <a:effectLst/>
              <a:latin typeface="+mn-lt"/>
            </a:endParaRPr>
          </a:p>
          <a:p>
            <a:pPr fontAlgn="t">
              <a:lnSpc>
                <a:spcPct val="100000"/>
              </a:lnSpc>
              <a:buNone/>
            </a:pPr>
            <a:r>
              <a:rPr lang="" sz="1800" b="0" i="0">
                <a:effectLst/>
                <a:latin typeface="+mn-lt"/>
              </a:rPr>
              <a:t>We only have 25 years of annual maxima but are trying to predict events expected once every 1000 years.</a:t>
            </a:r>
            <a:endParaRPr lang="" sz="1800" b="0" i="0">
              <a:effectLst/>
              <a:latin typeface="Segoe UI" panose="020B0502040204020203" pitchFamily="34" charset="0"/>
            </a:endParaRPr>
          </a:p>
        </p:txBody>
      </p:sp>
    </p:spTree>
    <p:extLst>
      <p:ext uri="{BB962C8B-B14F-4D97-AF65-F5344CB8AC3E}">
        <p14:creationId xmlns:p14="http://schemas.microsoft.com/office/powerpoint/2010/main" val="27350121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D9A65A0-8C15-F88A-AD11-1D1D01617507}"/>
              </a:ext>
            </a:extLst>
          </p:cNvPr>
          <p:cNvSpPr>
            <a:spLocks noGrp="1"/>
          </p:cNvSpPr>
          <p:nvPr>
            <p:ph type="title"/>
          </p:nvPr>
        </p:nvSpPr>
        <p:spPr>
          <a:xfrm>
            <a:off x="838201" y="365125"/>
            <a:ext cx="8643078" cy="729157"/>
          </a:xfrm>
        </p:spPr>
        <p:txBody>
          <a:bodyPr>
            <a:normAutofit/>
          </a:bodyPr>
          <a:lstStyle/>
          <a:p>
            <a:r>
              <a:rPr lang="es-ES" sz="4000" b="1"/>
              <a:t>Conclusion </a:t>
            </a:r>
            <a:endParaRPr lang="LID4096" sz="3200"/>
          </a:p>
        </p:txBody>
      </p:sp>
      <p:sp>
        <p:nvSpPr>
          <p:cNvPr id="6" name="TextBox 5">
            <a:extLst>
              <a:ext uri="{FF2B5EF4-FFF2-40B4-BE49-F238E27FC236}">
                <a16:creationId xmlns:a16="http://schemas.microsoft.com/office/drawing/2014/main" id="{0E283BF2-B235-64E0-D02A-AF57AB599499}"/>
              </a:ext>
            </a:extLst>
          </p:cNvPr>
          <p:cNvSpPr txBox="1"/>
          <p:nvPr/>
        </p:nvSpPr>
        <p:spPr>
          <a:xfrm>
            <a:off x="838200" y="1329887"/>
            <a:ext cx="6800849" cy="369332"/>
          </a:xfrm>
          <a:prstGeom prst="rect">
            <a:avLst/>
          </a:prstGeom>
          <a:noFill/>
        </p:spPr>
        <p:txBody>
          <a:bodyPr wrap="square">
            <a:spAutoFit/>
          </a:bodyPr>
          <a:lstStyle/>
          <a:p>
            <a:pPr fontAlgn="t">
              <a:lnSpc>
                <a:spcPct val="100000"/>
              </a:lnSpc>
              <a:buNone/>
            </a:pPr>
            <a:r>
              <a:rPr lang="" sz="1800" b="1" i="0">
                <a:effectLst/>
                <a:latin typeface="+mn-lt"/>
              </a:rPr>
              <a:t>Very long-term predictions are sensitive to modelling choices.</a:t>
            </a:r>
            <a:endParaRPr lang="" sz="1800" b="1" i="0">
              <a:effectLst/>
              <a:latin typeface="Segoe UI" panose="020B0502040204020203" pitchFamily="34" charset="0"/>
            </a:endParaRPr>
          </a:p>
        </p:txBody>
      </p:sp>
      <p:sp>
        <p:nvSpPr>
          <p:cNvPr id="8" name="TextBox 7">
            <a:extLst>
              <a:ext uri="{FF2B5EF4-FFF2-40B4-BE49-F238E27FC236}">
                <a16:creationId xmlns:a16="http://schemas.microsoft.com/office/drawing/2014/main" id="{E73E4432-F37A-718E-8F7D-DA2E0C6EF383}"/>
              </a:ext>
            </a:extLst>
          </p:cNvPr>
          <p:cNvSpPr txBox="1"/>
          <p:nvPr/>
        </p:nvSpPr>
        <p:spPr>
          <a:xfrm>
            <a:off x="838200" y="1934824"/>
            <a:ext cx="8921749" cy="1200329"/>
          </a:xfrm>
          <a:prstGeom prst="rect">
            <a:avLst/>
          </a:prstGeom>
          <a:noFill/>
        </p:spPr>
        <p:txBody>
          <a:bodyPr wrap="square">
            <a:spAutoFit/>
          </a:bodyPr>
          <a:lstStyle/>
          <a:p>
            <a:pPr fontAlgn="t">
              <a:lnSpc>
                <a:spcPct val="100000"/>
              </a:lnSpc>
              <a:buNone/>
            </a:pPr>
            <a:r>
              <a:rPr lang="" b="1"/>
              <a:t>The</a:t>
            </a:r>
            <a:r>
              <a:rPr lang="" sz="1800" b="1" i="0">
                <a:effectLst/>
                <a:latin typeface="+mn-lt"/>
              </a:rPr>
              <a:t> shape parameter is telling us that :</a:t>
            </a:r>
          </a:p>
          <a:p>
            <a:pPr fontAlgn="t">
              <a:lnSpc>
                <a:spcPct val="100000"/>
              </a:lnSpc>
              <a:buNone/>
            </a:pPr>
            <a:r>
              <a:rPr lang="" sz="1800" b="0" i="0">
                <a:effectLst/>
                <a:latin typeface="+mn-lt"/>
              </a:rPr>
              <a:t>Paris temperatures do not exhibit extremely heavy-tailed behaviour.  In particular, the negative GPD shape parameter suggests that there may be a practical upper limit to the temperature extremes observed in this dataset.</a:t>
            </a:r>
            <a:endParaRPr lang="" sz="1800" b="0" i="0">
              <a:effectLst/>
              <a:latin typeface="Segoe UI" panose="020B0502040204020203" pitchFamily="34" charset="0"/>
            </a:endParaRPr>
          </a:p>
        </p:txBody>
      </p:sp>
      <p:sp>
        <p:nvSpPr>
          <p:cNvPr id="10" name="TextBox 9">
            <a:extLst>
              <a:ext uri="{FF2B5EF4-FFF2-40B4-BE49-F238E27FC236}">
                <a16:creationId xmlns:a16="http://schemas.microsoft.com/office/drawing/2014/main" id="{55FA8E5E-3520-0903-9AD6-11C28C53856A}"/>
              </a:ext>
            </a:extLst>
          </p:cNvPr>
          <p:cNvSpPr txBox="1"/>
          <p:nvPr/>
        </p:nvSpPr>
        <p:spPr>
          <a:xfrm>
            <a:off x="838200" y="3354506"/>
            <a:ext cx="10109200" cy="1477328"/>
          </a:xfrm>
          <a:prstGeom prst="rect">
            <a:avLst/>
          </a:prstGeom>
          <a:noFill/>
        </p:spPr>
        <p:txBody>
          <a:bodyPr wrap="square">
            <a:spAutoFit/>
          </a:bodyPr>
          <a:lstStyle/>
          <a:p>
            <a:pPr fontAlgn="t">
              <a:lnSpc>
                <a:spcPct val="100000"/>
              </a:lnSpc>
              <a:buNone/>
            </a:pPr>
            <a:r>
              <a:rPr lang="" sz="1800" b="1" i="0">
                <a:effectLst/>
                <a:latin typeface="+mn-lt"/>
              </a:rPr>
              <a:t>There is a reliability problem as:</a:t>
            </a:r>
            <a:endParaRPr lang="" sz="1800" b="0" i="0">
              <a:effectLst/>
              <a:latin typeface="+mn-lt"/>
            </a:endParaRPr>
          </a:p>
          <a:p>
            <a:pPr fontAlgn="t">
              <a:lnSpc>
                <a:spcPct val="100000"/>
              </a:lnSpc>
              <a:buNone/>
            </a:pPr>
            <a:r>
              <a:rPr lang="" sz="1800" b="0" i="0">
                <a:effectLst/>
                <a:latin typeface="+mn-lt"/>
              </a:rPr>
              <a:t>Estimating a 1000-year event from only 25 years of annual maxima involves substantial extrapolation beyond the observed data. Therefore, confidence intervals become more informative than the point estimates themselves. The analysis reminds us that uncertainty grows much faster than return levels as we move further into the future.</a:t>
            </a:r>
            <a:endParaRPr lang="" sz="1800" b="0" i="0">
              <a:effectLst/>
              <a:latin typeface="Segoe UI" panose="020B0502040204020203" pitchFamily="34" charset="0"/>
            </a:endParaRPr>
          </a:p>
        </p:txBody>
      </p:sp>
      <p:sp>
        <p:nvSpPr>
          <p:cNvPr id="12" name="TextBox 11">
            <a:extLst>
              <a:ext uri="{FF2B5EF4-FFF2-40B4-BE49-F238E27FC236}">
                <a16:creationId xmlns:a16="http://schemas.microsoft.com/office/drawing/2014/main" id="{FD64FB15-1F63-0190-FA39-9A8CC09585BF}"/>
              </a:ext>
            </a:extLst>
          </p:cNvPr>
          <p:cNvSpPr txBox="1"/>
          <p:nvPr/>
        </p:nvSpPr>
        <p:spPr>
          <a:xfrm>
            <a:off x="838200" y="5051187"/>
            <a:ext cx="10261600" cy="1200329"/>
          </a:xfrm>
          <a:prstGeom prst="rect">
            <a:avLst/>
          </a:prstGeom>
          <a:noFill/>
        </p:spPr>
        <p:txBody>
          <a:bodyPr wrap="square">
            <a:spAutoFit/>
          </a:bodyPr>
          <a:lstStyle/>
          <a:p>
            <a:pPr fontAlgn="t">
              <a:lnSpc>
                <a:spcPct val="100000"/>
              </a:lnSpc>
              <a:buNone/>
            </a:pPr>
            <a:r>
              <a:rPr lang="" sz="1800" b="1" i="0">
                <a:effectLst/>
                <a:latin typeface="+mn-lt"/>
              </a:rPr>
              <a:t>From a risk-management perspective</a:t>
            </a:r>
            <a:r>
              <a:rPr lang="" sz="1800" b="0" i="0">
                <a:effectLst/>
                <a:latin typeface="+mn-lt"/>
              </a:rPr>
              <a:t>,</a:t>
            </a:r>
          </a:p>
          <a:p>
            <a:pPr fontAlgn="t">
              <a:lnSpc>
                <a:spcPct val="100000"/>
              </a:lnSpc>
              <a:buNone/>
            </a:pPr>
            <a:r>
              <a:rPr lang="" sz="1800" b="0" i="0">
                <a:effectLst/>
                <a:latin typeface="+mn-lt"/>
              </a:rPr>
              <a:t>the study suggests that Paris can experience temperature extremes higher than any observed during 1995–2019. However, estimates of very rare events should be interpreted as ranges of plausible outcomes rather than exact forecasts.</a:t>
            </a:r>
            <a:endParaRPr lang="" sz="1800" b="0" i="0">
              <a:effectLst/>
              <a:latin typeface="Segoe UI" panose="020B0502040204020203" pitchFamily="34" charset="0"/>
            </a:endParaRPr>
          </a:p>
        </p:txBody>
      </p:sp>
    </p:spTree>
    <p:extLst>
      <p:ext uri="{BB962C8B-B14F-4D97-AF65-F5344CB8AC3E}">
        <p14:creationId xmlns:p14="http://schemas.microsoft.com/office/powerpoint/2010/main" val="22369531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3ea8b129-5f68-48b1-a17b-206ec2e2f9aa"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AFE061677BA6345A1AE0DF1416AA8E8" ma:contentTypeVersion="9" ma:contentTypeDescription="Crée un document." ma:contentTypeScope="" ma:versionID="a451757de40fbe1fd6be772b28521391">
  <xsd:schema xmlns:xsd="http://www.w3.org/2001/XMLSchema" xmlns:xs="http://www.w3.org/2001/XMLSchema" xmlns:p="http://schemas.microsoft.com/office/2006/metadata/properties" xmlns:ns3="3ea8b129-5f68-48b1-a17b-206ec2e2f9aa" targetNamespace="http://schemas.microsoft.com/office/2006/metadata/properties" ma:root="true" ma:fieldsID="b9680806ade5ae164af30d75cc593129" ns3:_="">
    <xsd:import namespace="3ea8b129-5f68-48b1-a17b-206ec2e2f9aa"/>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ea8b129-5f68-48b1-a17b-206ec2e2f9aa"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15D718E-C4FA-49B8-92DE-64F5DD93B410}">
  <ds:schemaRefs>
    <ds:schemaRef ds:uri="http://schemas.microsoft.com/office/2006/documentManagement/types"/>
    <ds:schemaRef ds:uri="http://www.w3.org/XML/1998/namespace"/>
    <ds:schemaRef ds:uri="http://purl.org/dc/dcmitype/"/>
    <ds:schemaRef ds:uri="http://purl.org/dc/elements/1.1/"/>
    <ds:schemaRef ds:uri="http://schemas.microsoft.com/office/2006/metadata/properties"/>
    <ds:schemaRef ds:uri="http://schemas.openxmlformats.org/package/2006/metadata/core-properties"/>
    <ds:schemaRef ds:uri="http://schemas.microsoft.com/office/infopath/2007/PartnerControls"/>
    <ds:schemaRef ds:uri="3ea8b129-5f68-48b1-a17b-206ec2e2f9aa"/>
    <ds:schemaRef ds:uri="http://purl.org/dc/terms/"/>
  </ds:schemaRefs>
</ds:datastoreItem>
</file>

<file path=customXml/itemProps2.xml><?xml version="1.0" encoding="utf-8"?>
<ds:datastoreItem xmlns:ds="http://schemas.openxmlformats.org/officeDocument/2006/customXml" ds:itemID="{B0B043C7-573C-4BD5-8AA3-7B78AD3DA440}">
  <ds:schemaRefs>
    <ds:schemaRef ds:uri="3ea8b129-5f68-48b1-a17b-206ec2e2f9a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202F0AC-204F-4F51-AE55-BE791415888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3011</Words>
  <Application>Microsoft Office PowerPoint</Application>
  <PresentationFormat>Widescreen</PresentationFormat>
  <Paragraphs>536</Paragraphs>
  <Slides>19</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Aptos Display</vt:lpstr>
      <vt:lpstr>Arial</vt:lpstr>
      <vt:lpstr>Segoe UI</vt:lpstr>
      <vt:lpstr>Office Theme</vt:lpstr>
      <vt:lpstr>PowerPoint Presentation</vt:lpstr>
      <vt:lpstr>Introduction</vt:lpstr>
      <vt:lpstr>Exploratory Analysis</vt:lpstr>
      <vt:lpstr>Reduction of Temporal Dependency</vt:lpstr>
      <vt:lpstr>Block Maxima</vt:lpstr>
      <vt:lpstr>Block Maxima – Diagnostic Analysis</vt:lpstr>
      <vt:lpstr>Block Maxima – Non – Stationary models</vt:lpstr>
      <vt:lpstr>Block Maxima – Analysis of Shape Parameter</vt:lpstr>
      <vt:lpstr>Block Maxima – Return Level</vt:lpstr>
      <vt:lpstr>POT Method – Threshold Selection</vt:lpstr>
      <vt:lpstr>GPD distribution – Sigma &amp; Gamma Estimation</vt:lpstr>
      <vt:lpstr>GPD distribution – Diagnostic Analysis</vt:lpstr>
      <vt:lpstr>PowerPoint Presentation</vt:lpstr>
      <vt:lpstr>PowerPoint Presentation</vt:lpstr>
      <vt:lpstr>GPD Distribution – Return Level</vt:lpstr>
      <vt:lpstr>GPD vs GEV – Return Level</vt:lpstr>
      <vt:lpstr>GPD vs GEV – Return Level confidence Intervals</vt:lpstr>
      <vt:lpstr>GPD vs GEV – Return Level confidence Intervals</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Chidiebere Nnadiegbulam</dc:creator>
  <cp:lastModifiedBy>Chidiebere Nnadiegbulam</cp:lastModifiedBy>
  <cp:revision>1</cp:revision>
  <dcterms:created xsi:type="dcterms:W3CDTF">2026-10-18T20:10:20Z</dcterms:created>
  <dcterms:modified xsi:type="dcterms:W3CDTF">2026-10-20T18:55:59Z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0x0101003AFE061677BA6345A1AE0DF1416AA8E8</vt:lpwstr>
  </property>
</Properties>
</file>